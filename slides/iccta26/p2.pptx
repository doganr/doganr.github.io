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notesSlide+xml" PartName="/ppt/notesSlides/notesSlide4.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999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everyone, and thank you for being here. I'm presenting our work on Neuro-Focus Fusion — a new way to turn a stack of microscope photos taken at different focus depths into one photo where everything is sharp. This is joint work between Karadeniz Technical University and Trabzon University. The problem is simple to state: at high zoom, a microscope can only keep a thin slice of the sample in focus at once. Our method learns the fully sharp image with a small neural network, and it beats the existing methods on every quality score we measured.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the scene. Every microscope has a limited focus range, and at high zoom that range is very small — only a thin slice of the sample is sharp at any one time. Everything above or below that slice is blurry. So important structures that sit at different depths can't all be sharp in a single photo, and that missing detail makes the images hard to read and hard to measure. The common fix is to take a stack of photos, each focused at a different depth, and the question we answer is how to combine that stack into one photo where everything is in focus.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need something new? There are four common ways to solve this, and each has a real drawback. The first is special optics — extra lenses or masks on the microscope. They work, but they are costly and don't carry over to other microscopes. The second is simple pixel rules that pick the sharpest pixel using basic math; these are easily fooled by noise and leave errors at edges. The third is transform methods like wavelets or the DCT; they handle structure better but need hand-tuning and can blur the image or add ripples. And the fourth is modern deep learning, which is powerful but struggles to keep both the overall structure and the fine focus, and often doesn't work well on new kinds of samples. Our method is built to avoid all four of these problems.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contribution is Neuro-Focus Fusion, or NFF, and it has two ideas. The first is a change in how we represent the image. Instead of picking sharp pixels out of the stack, we let a small network learn the sharp image as one smooth function of position. Because the image is now smooth rather than stitched together from pixels, we naturally avoid the seams and breaks that stacking methods create. The second idea is what makes it sharp. A plain network that maps a position straight to a colour tends to give a blurry result, so we first turn each position into 42 numbers, which lets the network show fine, sharp detail. The whole thing learns on its own with no hand-tuning, it is small, and it works on very different kinds of samples.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how well the method holds up, we chose four very different photo stacks — you can see examples on the right. Stack 1 is biological tissue, about 2000 by 1450 pixels with 20 photos. Stack 2 jumps to an industrial sample — laser-welding surfaces — to check the method on material rather than cells. Stacks 3 and 4 are high-resolution cell images, neuroblastoma and fibroblast cells, at roughly 4K resolution with 53 and 37 photos each, giving deep focus coverage. By mixing biological and industrial samples, low and high photo counts, and very different textures, this is a tough test of how general the method 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method in four steps, shown in the diagram on the right. Step one: we find the sharp parts. We lightly smooth each photo to reduce noise, measure how sharp each pixel is, and keep the sharpest one everywhere. That gives us a single sharp target image that tells the network where the in-focus detail should be. Step two: we turn each pixel position into 42 numbers using sine waves. This sounds technical, but the idea is simple — feeding raw positions to the network gives a blurry result, and these extra numbers let it show fine, sharp detail. Step three: a small network — four layers of 256 units — takes those numbers and predicts the colour at each pixel, and we train it to match the sharp target. Step four: once it is trained, the whole in-focus image is created in a single pass, and because it is one smooth function, the result has no seams and handles small shifts between photos well.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how we tested it. Everything was built in PyTorch and trained with the Adam optimiser at a learning rate of 1e-3, processing the image in small batches so it fits on a single, ordinary RTX 3060 graphics card. The tricky part is measuring quality: our microscope stacks have no perfect, fully-sharp reference image to compare against, so we can't use the usual error measures. Instead we use four well-known scores that judge an image on its own. NIQE rates how natural the image looks and BRISQUE rates how distorted it is — for both, lower is better. PSI rates how sharp it is and Entropy rates how much detail it holds — for both, higher is better. Together they give a fair, all-round picture of quality.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These two charts compare NFF, in red, against the two strongest older methods — DCT and Gabor features — on all four stacks. On the left is the sharpness score, PSI, where higher is better: NFF has the tallest bar in every single stack, so the extra detail step really does make the result sharper. On the right is NIQE, how natural the image looks, where lower is better: again NFF is the lowest everywhere, and notice how steady it stays — around 4 on every stack — while the older methods jump around. The takeaway is simple: across four very different samples, NFF gives both the sharpest and the most natural result, with no special tuning per sample.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full picture, here are all the numbers for the first two stacks, against eight older fusion methods. The four columns on the left are Stack 1, the four on the right are Stack 2. Remember: the down-arrow scores, NIQE and BRISQUE, want low values, and the up-arrow scores, PSI and Entropy, want high values. Our NFF row, highlighted at the bottom, wins every single column — the lowest NIQE and BRISQUE and the highest PSI and Entropy, on both stacks. I'll keep this up for questions, but the short version is that NFF isn't just slightly ahead; it is the best on all four scores, and Stacks 3 and 4, which I left out for space, show exactly the same result.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convincing, but for a paper about image quality, seeing it matters most. In this figure each row is one sample, and the three columns are Gabor features on the left, the DCT in the middle, and our NFF on the right. Look along any row: the two older methods leave some blur and visible errors, especially at edges, while the NFF column on the right is clearly sharper and cleaner. Small details and edges that are smeared in the other columns come back crisply with NFF, and because the image is built as one smooth result rather than stitched from pixels, there are no blocky seams. This is the visual version of the higher sharpness scores we just saw.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approach win? Four reasons. First, by learning one smooth image instead of choosing among pixels, we avoid the seams that pixel-picking methods leave at edges. Second, turning positions into numbers brings back the fine detail a plain network would smooth away — that's what drives the higher sharpness scores. Third, because it fits one smooth result over the whole image, it is forgiving of small shifts between the photos in the stack. And fourth, the whole thing learns on its own, so unlike the transform methods it needs no hand-tuning and adapts itself to each sample. The result, on the right, is the best score on all four measures across all four stacks, from a method that stays robust, small and flexible.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three takeaways. First, the core idea: NFF learns the fully sharp image as one smooth function, instead of picking or blending pixels. Second, the payoff: it gets the best score on all four quality measures — NIQE, BRISQUE, PSI and Entropy — across both biological and industrial samples. Third, the practical value: it is robust, small and flexible, which makes it a good fit for high-resolution microscopy in digital pathology and material science. Looking ahead, we want to build this into real-time tools to support automatic cell analysis.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for your attention — I'd be glad to take your questions. I want to thank the Karadeniz Technical University Drug and Pharmaceutical Technology Center for their support, and our funder TÜBİTAK, under project 125E093. Some questions I'm ready for: how we choose how many numbers to use for each position; how training time grows with image size and the number of photos; how well it copes with noisy stacks; and how it could be made to run in real time. Thank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85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6385C"/>
          </a:solidFill>
          <a:ln/>
        </p:spPr>
        <p:txBody>
          <a:bodyPr/>
          <a:lstStyle/>
          <a:p>
            <a:endParaRPr lang="tr-TR"/>
          </a:p>
        </p:txBody>
      </p:sp>
      <p:sp>
        <p:nvSpPr>
          <p:cNvPr id="3" name="Text 1"/>
          <p:cNvSpPr/>
          <p:nvPr/>
        </p:nvSpPr>
        <p:spPr>
          <a:xfrm>
            <a:off x="822960" y="438912"/>
            <a:ext cx="1060704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The 12th International Conference on Computer Technology Applications (ICCTA 2026)</a:t>
            </a:r>
            <a:endParaRPr lang="en-US" sz="1600" dirty="0"/>
          </a:p>
        </p:txBody>
      </p:sp>
      <p:sp>
        <p:nvSpPr>
          <p:cNvPr id="4" name="Text 2"/>
          <p:cNvSpPr/>
          <p:nvPr/>
        </p:nvSpPr>
        <p:spPr>
          <a:xfrm>
            <a:off x="822960" y="841248"/>
            <a:ext cx="10607040" cy="329184"/>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June 17–19, 2026  ·  Vienna, Austria  ·  FH JOANNEUM University of Applied Sciences</a:t>
            </a:r>
            <a:endParaRPr lang="en-US" sz="1350" dirty="0"/>
          </a:p>
        </p:txBody>
      </p:sp>
      <p:sp>
        <p:nvSpPr>
          <p:cNvPr id="5" name="Text 3"/>
          <p:cNvSpPr/>
          <p:nvPr/>
        </p:nvSpPr>
        <p:spPr>
          <a:xfrm>
            <a:off x="822960" y="1371600"/>
            <a:ext cx="10607040" cy="1554480"/>
          </a:xfrm>
          <a:prstGeom prst="rect">
            <a:avLst/>
          </a:prstGeom>
          <a:noFill/>
          <a:ln/>
        </p:spPr>
        <p:txBody>
          <a:bodyPr wrap="square" lIns="0" tIns="0" rIns="0" bIns="0" rtlCol="0" anchor="t"/>
          <a:lstStyle/>
          <a:p>
            <a:pPr marL="0" indent="0">
              <a:lnSpc>
                <a:spcPct val="104000"/>
              </a:lnSpc>
              <a:buNone/>
            </a:pPr>
            <a:r>
              <a:rPr lang="en-US" sz="4800" b="1" dirty="0">
                <a:solidFill>
                  <a:srgbClr val="FFFFFF"/>
                </a:solidFill>
                <a:latin typeface="Trebuchet MS" pitchFamily="34" charset="0"/>
                <a:ea typeface="Trebuchet MS" pitchFamily="34" charset="-122"/>
                <a:cs typeface="Trebuchet MS" pitchFamily="34" charset="-120"/>
              </a:rPr>
              <a:t>A Novel Neuro-Focus Fusion Framework for Fully Focused Microscopic Imaging</a:t>
            </a:r>
            <a:endParaRPr lang="en-US" sz="4800" dirty="0"/>
          </a:p>
        </p:txBody>
      </p:sp>
      <p:sp>
        <p:nvSpPr>
          <p:cNvPr id="6" name="Text 4"/>
          <p:cNvSpPr/>
          <p:nvPr/>
        </p:nvSpPr>
        <p:spPr>
          <a:xfrm>
            <a:off x="822960" y="3631849"/>
            <a:ext cx="10607040" cy="640080"/>
          </a:xfrm>
          <a:prstGeom prst="rect">
            <a:avLst/>
          </a:prstGeom>
          <a:noFill/>
          <a:ln/>
        </p:spPr>
        <p:txBody>
          <a:bodyPr wrap="square" lIns="0" tIns="0" rIns="0" bIns="0" rtlCol="0" anchor="ctr"/>
          <a:lstStyle/>
          <a:p>
            <a:pPr marL="0" indent="0">
              <a:lnSpc>
                <a:spcPct val="110000"/>
              </a:lnSpc>
              <a:buNone/>
            </a:pPr>
            <a:r>
              <a:rPr lang="en-US" sz="2400" b="1" dirty="0">
                <a:solidFill>
                  <a:srgbClr val="FFFFFF"/>
                </a:solidFill>
                <a:latin typeface="Calibri" pitchFamily="34" charset="0"/>
                <a:ea typeface="Calibri" pitchFamily="34" charset="-122"/>
                <a:cs typeface="Calibri" pitchFamily="34" charset="-120"/>
              </a:rPr>
              <a:t>Beyza Aktürk  ·  Ramazan Özgür Doğan  ·  Ümit Uzun  ·  Sena F. Sezen  ·  Hülya Doğan</a:t>
            </a:r>
            <a:endParaRPr lang="en-US" sz="2400" dirty="0"/>
          </a:p>
        </p:txBody>
      </p:sp>
      <p:sp>
        <p:nvSpPr>
          <p:cNvPr id="7" name="Text 5"/>
          <p:cNvSpPr/>
          <p:nvPr/>
        </p:nvSpPr>
        <p:spPr>
          <a:xfrm>
            <a:off x="822960" y="4454809"/>
            <a:ext cx="10607040" cy="1371600"/>
          </a:xfrm>
          <a:prstGeom prst="rect">
            <a:avLst/>
          </a:prstGeom>
          <a:noFill/>
          <a:ln/>
        </p:spPr>
        <p:txBody>
          <a:bodyPr wrap="square" lIns="0" tIns="0" rIns="0" bIns="0" rtlCol="0" anchor="ctr"/>
          <a:lstStyle/>
          <a:p>
            <a:pPr marL="0" indent="0">
              <a:lnSpc>
                <a:spcPct val="108000"/>
              </a:lnSpc>
              <a:buNone/>
            </a:pPr>
            <a:r>
              <a:rPr lang="en-US" sz="2000" b="1" dirty="0">
                <a:solidFill>
                  <a:srgbClr val="FFFFFF"/>
                </a:solidFill>
                <a:latin typeface="Trebuchet MS" pitchFamily="34" charset="0"/>
                <a:ea typeface="Trebuchet MS" pitchFamily="34" charset="-122"/>
                <a:cs typeface="Trebuchet MS" pitchFamily="34" charset="-120"/>
              </a:rPr>
              <a:t>Karadeniz Technical University</a:t>
            </a:r>
            <a:endParaRPr lang="en-US" sz="2000" dirty="0"/>
          </a:p>
          <a:p>
            <a:pPr marL="0" indent="0">
              <a:lnSpc>
                <a:spcPct val="108000"/>
              </a:lnSpc>
              <a:buNone/>
            </a:pPr>
            <a:r>
              <a:rPr lang="en-US" sz="2000" b="1" dirty="0">
                <a:solidFill>
                  <a:srgbClr val="FFFFFF"/>
                </a:solidFill>
                <a:latin typeface="Trebuchet MS" pitchFamily="34" charset="0"/>
                <a:ea typeface="Trebuchet MS" pitchFamily="34" charset="-122"/>
                <a:cs typeface="Trebuchet MS" pitchFamily="34" charset="-120"/>
              </a:rPr>
              <a:t>Trabzon University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BACKGROUND</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The focus problem in microscopy</a:t>
            </a:r>
            <a:endParaRPr lang="en-US" sz="3500" dirty="0"/>
          </a:p>
        </p:txBody>
      </p:sp>
      <p:sp>
        <p:nvSpPr>
          <p:cNvPr id="4" name="Shape 2"/>
          <p:cNvSpPr/>
          <p:nvPr/>
        </p:nvSpPr>
        <p:spPr>
          <a:xfrm>
            <a:off x="566928" y="2011680"/>
            <a:ext cx="420624" cy="420624"/>
          </a:xfrm>
          <a:prstGeom prst="ellipse">
            <a:avLst/>
          </a:prstGeom>
          <a:solidFill>
            <a:srgbClr val="2E75B6"/>
          </a:solidFill>
          <a:ln/>
        </p:spPr>
        <p:txBody>
          <a:bodyPr/>
          <a:lstStyle/>
          <a:p>
            <a:endParaRPr lang="tr-TR"/>
          </a:p>
        </p:txBody>
      </p:sp>
      <p:sp>
        <p:nvSpPr>
          <p:cNvPr id="5" name="Text 3"/>
          <p:cNvSpPr/>
          <p:nvPr/>
        </p:nvSpPr>
        <p:spPr>
          <a:xfrm>
            <a:off x="566928" y="2011680"/>
            <a:ext cx="420624" cy="420624"/>
          </a:xfrm>
          <a:prstGeom prst="rect">
            <a:avLst/>
          </a:prstGeom>
          <a:noFill/>
          <a:ln/>
        </p:spPr>
        <p:txBody>
          <a:bodyPr wrap="square" lIns="0" tIns="0" rIns="0" bIns="0" rtlCol="0" anchor="ctr"/>
          <a:lstStyle/>
          <a:p>
            <a:pPr marL="0" indent="0" algn="ctr">
              <a:buNone/>
            </a:pPr>
            <a:r>
              <a:rPr lang="en-US" sz="2100" b="1" dirty="0">
                <a:solidFill>
                  <a:srgbClr val="FFFFFF"/>
                </a:solidFill>
                <a:latin typeface="Trebuchet MS" pitchFamily="34" charset="0"/>
                <a:ea typeface="Trebuchet MS" pitchFamily="34" charset="-122"/>
                <a:cs typeface="Trebuchet MS" pitchFamily="34" charset="-120"/>
              </a:rPr>
              <a:t>1</a:t>
            </a:r>
            <a:endParaRPr lang="en-US" sz="2100" dirty="0"/>
          </a:p>
        </p:txBody>
      </p:sp>
      <p:sp>
        <p:nvSpPr>
          <p:cNvPr id="6" name="Text 4"/>
          <p:cNvSpPr/>
          <p:nvPr/>
        </p:nvSpPr>
        <p:spPr>
          <a:xfrm>
            <a:off x="1170432" y="1929384"/>
            <a:ext cx="5943600" cy="1280160"/>
          </a:xfrm>
          <a:prstGeom prst="rect">
            <a:avLst/>
          </a:prstGeom>
          <a:noFill/>
          <a:ln/>
        </p:spPr>
        <p:txBody>
          <a:bodyPr wrap="square" lIns="0" tIns="0" rIns="0" bIns="0" rtlCol="0" anchor="t"/>
          <a:lstStyle/>
          <a:p>
            <a:pPr marL="0" indent="0">
              <a:lnSpc>
                <a:spcPct val="104000"/>
              </a:lnSpc>
              <a:buNone/>
            </a:pPr>
            <a:r>
              <a:rPr lang="en-US" sz="2100" b="1" dirty="0">
                <a:solidFill>
                  <a:srgbClr val="16385C"/>
                </a:solidFill>
                <a:latin typeface="Calibri" pitchFamily="34" charset="0"/>
                <a:ea typeface="Calibri" pitchFamily="34" charset="-122"/>
                <a:cs typeface="Calibri" pitchFamily="34" charset="-120"/>
              </a:rPr>
              <a:t>At high magnification, </a:t>
            </a:r>
            <a:r>
              <a:rPr lang="en-US" sz="2100" dirty="0">
                <a:solidFill>
                  <a:srgbClr val="232A31"/>
                </a:solidFill>
                <a:latin typeface="Calibri" pitchFamily="34" charset="0"/>
                <a:ea typeface="Calibri" pitchFamily="34" charset="-122"/>
                <a:cs typeface="Calibri" pitchFamily="34" charset="-120"/>
              </a:rPr>
              <a:t>only a thin slice of the sample is in focus, so structures at other depths look blurry.</a:t>
            </a:r>
            <a:endParaRPr lang="en-US" sz="2100" dirty="0"/>
          </a:p>
        </p:txBody>
      </p:sp>
      <p:sp>
        <p:nvSpPr>
          <p:cNvPr id="7" name="Shape 5"/>
          <p:cNvSpPr/>
          <p:nvPr/>
        </p:nvSpPr>
        <p:spPr>
          <a:xfrm>
            <a:off x="566928" y="3474720"/>
            <a:ext cx="420624" cy="420624"/>
          </a:xfrm>
          <a:prstGeom prst="ellipse">
            <a:avLst/>
          </a:prstGeom>
          <a:solidFill>
            <a:srgbClr val="2E75B6"/>
          </a:solidFill>
          <a:ln/>
        </p:spPr>
        <p:txBody>
          <a:bodyPr/>
          <a:lstStyle/>
          <a:p>
            <a:endParaRPr lang="tr-TR"/>
          </a:p>
        </p:txBody>
      </p:sp>
      <p:sp>
        <p:nvSpPr>
          <p:cNvPr id="8" name="Text 6"/>
          <p:cNvSpPr/>
          <p:nvPr/>
        </p:nvSpPr>
        <p:spPr>
          <a:xfrm>
            <a:off x="566928" y="3474720"/>
            <a:ext cx="420624" cy="420624"/>
          </a:xfrm>
          <a:prstGeom prst="rect">
            <a:avLst/>
          </a:prstGeom>
          <a:noFill/>
          <a:ln/>
        </p:spPr>
        <p:txBody>
          <a:bodyPr wrap="square" lIns="0" tIns="0" rIns="0" bIns="0" rtlCol="0" anchor="ctr"/>
          <a:lstStyle/>
          <a:p>
            <a:pPr marL="0" indent="0" algn="ctr">
              <a:buNone/>
            </a:pPr>
            <a:r>
              <a:rPr lang="en-US" sz="2100" b="1" dirty="0">
                <a:solidFill>
                  <a:srgbClr val="FFFFFF"/>
                </a:solidFill>
                <a:latin typeface="Trebuchet MS" pitchFamily="34" charset="0"/>
                <a:ea typeface="Trebuchet MS" pitchFamily="34" charset="-122"/>
                <a:cs typeface="Trebuchet MS" pitchFamily="34" charset="-120"/>
              </a:rPr>
              <a:t>2</a:t>
            </a:r>
            <a:endParaRPr lang="en-US" sz="2100" dirty="0"/>
          </a:p>
        </p:txBody>
      </p:sp>
      <p:sp>
        <p:nvSpPr>
          <p:cNvPr id="9" name="Text 7"/>
          <p:cNvSpPr/>
          <p:nvPr/>
        </p:nvSpPr>
        <p:spPr>
          <a:xfrm>
            <a:off x="1170432" y="3392424"/>
            <a:ext cx="5943600" cy="1280160"/>
          </a:xfrm>
          <a:prstGeom prst="rect">
            <a:avLst/>
          </a:prstGeom>
          <a:noFill/>
          <a:ln/>
        </p:spPr>
        <p:txBody>
          <a:bodyPr wrap="square" lIns="0" tIns="0" rIns="0" bIns="0" rtlCol="0" anchor="t"/>
          <a:lstStyle/>
          <a:p>
            <a:pPr marL="0" indent="0">
              <a:lnSpc>
                <a:spcPct val="104000"/>
              </a:lnSpc>
              <a:buNone/>
            </a:pPr>
            <a:r>
              <a:rPr lang="en-US" sz="2100" b="1" dirty="0">
                <a:solidFill>
                  <a:srgbClr val="16385C"/>
                </a:solidFill>
                <a:latin typeface="Calibri" pitchFamily="34" charset="0"/>
                <a:ea typeface="Calibri" pitchFamily="34" charset="-122"/>
                <a:cs typeface="Calibri" pitchFamily="34" charset="-120"/>
              </a:rPr>
              <a:t>This missing detail </a:t>
            </a:r>
            <a:r>
              <a:rPr lang="en-US" sz="2100" dirty="0">
                <a:solidFill>
                  <a:srgbClr val="232A31"/>
                </a:solidFill>
                <a:latin typeface="Calibri" pitchFamily="34" charset="0"/>
                <a:ea typeface="Calibri" pitchFamily="34" charset="-122"/>
                <a:cs typeface="Calibri" pitchFamily="34" charset="-120"/>
              </a:rPr>
              <a:t>makes microscope images hard to read and hard to measure accurately.</a:t>
            </a:r>
            <a:endParaRPr lang="en-US" sz="2100" dirty="0"/>
          </a:p>
        </p:txBody>
      </p:sp>
      <p:sp>
        <p:nvSpPr>
          <p:cNvPr id="10" name="Shape 8"/>
          <p:cNvSpPr/>
          <p:nvPr/>
        </p:nvSpPr>
        <p:spPr>
          <a:xfrm>
            <a:off x="566928" y="4937760"/>
            <a:ext cx="420624" cy="420624"/>
          </a:xfrm>
          <a:prstGeom prst="ellipse">
            <a:avLst/>
          </a:prstGeom>
          <a:solidFill>
            <a:srgbClr val="2E75B6"/>
          </a:solidFill>
          <a:ln/>
        </p:spPr>
        <p:txBody>
          <a:bodyPr/>
          <a:lstStyle/>
          <a:p>
            <a:endParaRPr lang="tr-TR"/>
          </a:p>
        </p:txBody>
      </p:sp>
      <p:sp>
        <p:nvSpPr>
          <p:cNvPr id="11" name="Text 9"/>
          <p:cNvSpPr/>
          <p:nvPr/>
        </p:nvSpPr>
        <p:spPr>
          <a:xfrm>
            <a:off x="566928" y="4937760"/>
            <a:ext cx="420624" cy="420624"/>
          </a:xfrm>
          <a:prstGeom prst="rect">
            <a:avLst/>
          </a:prstGeom>
          <a:noFill/>
          <a:ln/>
        </p:spPr>
        <p:txBody>
          <a:bodyPr wrap="square" lIns="0" tIns="0" rIns="0" bIns="0" rtlCol="0" anchor="ctr"/>
          <a:lstStyle/>
          <a:p>
            <a:pPr marL="0" indent="0" algn="ctr">
              <a:buNone/>
            </a:pPr>
            <a:r>
              <a:rPr lang="en-US" sz="2100" b="1" dirty="0">
                <a:solidFill>
                  <a:srgbClr val="FFFFFF"/>
                </a:solidFill>
                <a:latin typeface="Trebuchet MS" pitchFamily="34" charset="0"/>
                <a:ea typeface="Trebuchet MS" pitchFamily="34" charset="-122"/>
                <a:cs typeface="Trebuchet MS" pitchFamily="34" charset="-120"/>
              </a:rPr>
              <a:t>3</a:t>
            </a:r>
            <a:endParaRPr lang="en-US" sz="2100" dirty="0"/>
          </a:p>
        </p:txBody>
      </p:sp>
      <p:sp>
        <p:nvSpPr>
          <p:cNvPr id="12" name="Text 10"/>
          <p:cNvSpPr/>
          <p:nvPr/>
        </p:nvSpPr>
        <p:spPr>
          <a:xfrm>
            <a:off x="1170432" y="4855464"/>
            <a:ext cx="5943600" cy="1280160"/>
          </a:xfrm>
          <a:prstGeom prst="rect">
            <a:avLst/>
          </a:prstGeom>
          <a:noFill/>
          <a:ln/>
        </p:spPr>
        <p:txBody>
          <a:bodyPr wrap="square" lIns="0" tIns="0" rIns="0" bIns="0" rtlCol="0" anchor="t"/>
          <a:lstStyle/>
          <a:p>
            <a:pPr marL="0" indent="0">
              <a:lnSpc>
                <a:spcPct val="104000"/>
              </a:lnSpc>
              <a:buNone/>
            </a:pPr>
            <a:r>
              <a:rPr lang="en-US" sz="2100" b="1" dirty="0">
                <a:solidFill>
                  <a:srgbClr val="16385C"/>
                </a:solidFill>
                <a:latin typeface="Calibri" pitchFamily="34" charset="0"/>
                <a:ea typeface="Calibri" pitchFamily="34" charset="-122"/>
                <a:cs typeface="Calibri" pitchFamily="34" charset="-120"/>
              </a:rPr>
              <a:t>Our goal is to build </a:t>
            </a:r>
            <a:r>
              <a:rPr lang="en-US" sz="2100" dirty="0">
                <a:solidFill>
                  <a:srgbClr val="232A31"/>
                </a:solidFill>
                <a:latin typeface="Calibri" pitchFamily="34" charset="0"/>
                <a:ea typeface="Calibri" pitchFamily="34" charset="-122"/>
                <a:cs typeface="Calibri" pitchFamily="34" charset="-120"/>
              </a:rPr>
              <a:t>a single, fully sharp image from a stack of photos taken at different focus depths.</a:t>
            </a:r>
            <a:endParaRPr lang="en-US" sz="2100" dirty="0"/>
          </a:p>
        </p:txBody>
      </p:sp>
      <p:sp>
        <p:nvSpPr>
          <p:cNvPr id="13" name="Shape 11"/>
          <p:cNvSpPr/>
          <p:nvPr/>
        </p:nvSpPr>
        <p:spPr>
          <a:xfrm>
            <a:off x="7406640" y="2011680"/>
            <a:ext cx="4206240" cy="3429000"/>
          </a:xfrm>
          <a:prstGeom prst="roundRect">
            <a:avLst>
              <a:gd name="adj" fmla="val 2133"/>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pic>
        <p:nvPicPr>
          <p:cNvPr id="14" name="Image 0" descr="/sessions/pensive-beautiful-ramanujan/mnt/outputs/nff/sample_frame.png"/>
          <p:cNvPicPr>
            <a:picLocks noChangeAspect="1"/>
          </p:cNvPicPr>
          <p:nvPr/>
        </p:nvPicPr>
        <p:blipFill>
          <a:blip r:embed="rId3"/>
          <a:srcRect/>
          <a:stretch/>
        </p:blipFill>
        <p:spPr>
          <a:xfrm>
            <a:off x="7607808" y="2212848"/>
            <a:ext cx="3803904" cy="2761488"/>
          </a:xfrm>
          <a:prstGeom prst="rect">
            <a:avLst/>
          </a:prstGeom>
        </p:spPr>
      </p:pic>
      <p:sp>
        <p:nvSpPr>
          <p:cNvPr id="15" name="Text 12"/>
          <p:cNvSpPr/>
          <p:nvPr/>
        </p:nvSpPr>
        <p:spPr>
          <a:xfrm>
            <a:off x="7406640" y="5029200"/>
            <a:ext cx="4206240" cy="411480"/>
          </a:xfrm>
          <a:prstGeom prst="rect">
            <a:avLst/>
          </a:prstGeom>
          <a:noFill/>
          <a:ln/>
        </p:spPr>
        <p:txBody>
          <a:bodyPr wrap="square" lIns="0" tIns="0" rIns="0" bIns="0" rtlCol="0" anchor="ctr"/>
          <a:lstStyle/>
          <a:p>
            <a:pPr marL="0" indent="0" algn="ctr">
              <a:lnSpc>
                <a:spcPct val="100000"/>
              </a:lnSpc>
              <a:buNone/>
            </a:pPr>
            <a:r>
              <a:rPr lang="en-US" sz="1350" i="1" dirty="0">
                <a:solidFill>
                  <a:srgbClr val="8A97A5"/>
                </a:solidFill>
                <a:latin typeface="Calibri" pitchFamily="34" charset="0"/>
                <a:ea typeface="Calibri" pitchFamily="34" charset="-122"/>
                <a:cs typeface="Calibri" pitchFamily="34" charset="-120"/>
              </a:rPr>
              <a:t>In this microscope photo, only part of the image is in focus.</a:t>
            </a:r>
            <a:endParaRPr lang="en-US" sz="1350" dirty="0"/>
          </a:p>
        </p:txBody>
      </p:sp>
      <p:sp>
        <p:nvSpPr>
          <p:cNvPr id="16" name="Text 13"/>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17" name="Text 1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THE PROBLEM</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Why current methods fall short</a:t>
            </a:r>
            <a:endParaRPr lang="en-US" sz="3500" dirty="0"/>
          </a:p>
        </p:txBody>
      </p:sp>
      <p:sp>
        <p:nvSpPr>
          <p:cNvPr id="4" name="Shape 2"/>
          <p:cNvSpPr/>
          <p:nvPr/>
        </p:nvSpPr>
        <p:spPr>
          <a:xfrm>
            <a:off x="566928" y="1965960"/>
            <a:ext cx="2510028" cy="3977640"/>
          </a:xfrm>
          <a:prstGeom prst="roundRect">
            <a:avLst>
              <a:gd name="adj" fmla="val 2914"/>
            </a:avLst>
          </a:prstGeom>
          <a:solidFill>
            <a:srgbClr val="F4F6F8"/>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5" name="Text 3"/>
          <p:cNvSpPr/>
          <p:nvPr/>
        </p:nvSpPr>
        <p:spPr>
          <a:xfrm>
            <a:off x="822960" y="2240280"/>
            <a:ext cx="1997964" cy="914400"/>
          </a:xfrm>
          <a:prstGeom prst="rect">
            <a:avLst/>
          </a:prstGeom>
          <a:noFill/>
          <a:ln/>
        </p:spPr>
        <p:txBody>
          <a:bodyPr wrap="square" lIns="0" tIns="0" rIns="0" bIns="0" rtlCol="0" anchor="t"/>
          <a:lstStyle/>
          <a:p>
            <a:pPr marL="0" indent="0">
              <a:lnSpc>
                <a:spcPct val="100000"/>
              </a:lnSpc>
              <a:buNone/>
            </a:pPr>
            <a:r>
              <a:rPr lang="en-US" sz="2000" b="1" dirty="0">
                <a:solidFill>
                  <a:srgbClr val="16385C"/>
                </a:solidFill>
                <a:latin typeface="Trebuchet MS" pitchFamily="34" charset="0"/>
                <a:ea typeface="Trebuchet MS" pitchFamily="34" charset="-122"/>
                <a:cs typeface="Trebuchet MS" pitchFamily="34" charset="-120"/>
              </a:rPr>
              <a:t>Special optics</a:t>
            </a:r>
            <a:endParaRPr lang="en-US" sz="2000" dirty="0"/>
          </a:p>
        </p:txBody>
      </p:sp>
      <p:sp>
        <p:nvSpPr>
          <p:cNvPr id="6" name="Shape 4"/>
          <p:cNvSpPr/>
          <p:nvPr/>
        </p:nvSpPr>
        <p:spPr>
          <a:xfrm>
            <a:off x="822960" y="3200400"/>
            <a:ext cx="457200" cy="45720"/>
          </a:xfrm>
          <a:prstGeom prst="rect">
            <a:avLst/>
          </a:prstGeom>
          <a:solidFill>
            <a:srgbClr val="2E75B6"/>
          </a:solidFill>
          <a:ln/>
        </p:spPr>
        <p:txBody>
          <a:bodyPr/>
          <a:lstStyle/>
          <a:p>
            <a:endParaRPr lang="tr-TR"/>
          </a:p>
        </p:txBody>
      </p:sp>
      <p:sp>
        <p:nvSpPr>
          <p:cNvPr id="7" name="Text 5"/>
          <p:cNvSpPr/>
          <p:nvPr/>
        </p:nvSpPr>
        <p:spPr>
          <a:xfrm>
            <a:off x="822960" y="3383280"/>
            <a:ext cx="1997964" cy="2377440"/>
          </a:xfrm>
          <a:prstGeom prst="rect">
            <a:avLst/>
          </a:prstGeom>
          <a:noFill/>
          <a:ln/>
        </p:spPr>
        <p:txBody>
          <a:bodyPr wrap="square" lIns="0" tIns="0" rIns="0" bIns="0" rtlCol="0" anchor="t"/>
          <a:lstStyle/>
          <a:p>
            <a:pPr marL="0" indent="0">
              <a:lnSpc>
                <a:spcPct val="108000"/>
              </a:lnSpc>
              <a:buNone/>
            </a:pPr>
            <a:r>
              <a:rPr lang="en-US" sz="1650" dirty="0">
                <a:solidFill>
                  <a:srgbClr val="232A31"/>
                </a:solidFill>
                <a:latin typeface="Calibri" pitchFamily="34" charset="0"/>
                <a:ea typeface="Calibri" pitchFamily="34" charset="-122"/>
                <a:cs typeface="Calibri" pitchFamily="34" charset="-120"/>
              </a:rPr>
              <a:t>Extra lenses and masks work, but they are expensive and hard to reuse on other microscopes.</a:t>
            </a:r>
            <a:endParaRPr lang="en-US" sz="1650" dirty="0"/>
          </a:p>
        </p:txBody>
      </p:sp>
      <p:sp>
        <p:nvSpPr>
          <p:cNvPr id="8" name="Shape 6"/>
          <p:cNvSpPr/>
          <p:nvPr/>
        </p:nvSpPr>
        <p:spPr>
          <a:xfrm>
            <a:off x="3406140" y="1965960"/>
            <a:ext cx="2510028" cy="3977640"/>
          </a:xfrm>
          <a:prstGeom prst="roundRect">
            <a:avLst>
              <a:gd name="adj" fmla="val 2914"/>
            </a:avLst>
          </a:prstGeom>
          <a:solidFill>
            <a:srgbClr val="F4F6F8"/>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9" name="Text 7"/>
          <p:cNvSpPr/>
          <p:nvPr/>
        </p:nvSpPr>
        <p:spPr>
          <a:xfrm>
            <a:off x="3662172" y="2240280"/>
            <a:ext cx="1997964" cy="914400"/>
          </a:xfrm>
          <a:prstGeom prst="rect">
            <a:avLst/>
          </a:prstGeom>
          <a:noFill/>
          <a:ln/>
        </p:spPr>
        <p:txBody>
          <a:bodyPr wrap="square" lIns="0" tIns="0" rIns="0" bIns="0" rtlCol="0" anchor="t"/>
          <a:lstStyle/>
          <a:p>
            <a:pPr marL="0" indent="0">
              <a:lnSpc>
                <a:spcPct val="100000"/>
              </a:lnSpc>
              <a:buNone/>
            </a:pPr>
            <a:r>
              <a:rPr lang="en-US" sz="2000" b="1" dirty="0">
                <a:solidFill>
                  <a:srgbClr val="16385C"/>
                </a:solidFill>
                <a:latin typeface="Trebuchet MS" pitchFamily="34" charset="0"/>
                <a:ea typeface="Trebuchet MS" pitchFamily="34" charset="-122"/>
                <a:cs typeface="Trebuchet MS" pitchFamily="34" charset="-120"/>
              </a:rPr>
              <a:t>Pixel rules</a:t>
            </a:r>
            <a:endParaRPr lang="en-US" sz="2000" dirty="0"/>
          </a:p>
        </p:txBody>
      </p:sp>
      <p:sp>
        <p:nvSpPr>
          <p:cNvPr id="10" name="Shape 8"/>
          <p:cNvSpPr/>
          <p:nvPr/>
        </p:nvSpPr>
        <p:spPr>
          <a:xfrm>
            <a:off x="3662172" y="3200400"/>
            <a:ext cx="457200" cy="45720"/>
          </a:xfrm>
          <a:prstGeom prst="rect">
            <a:avLst/>
          </a:prstGeom>
          <a:solidFill>
            <a:srgbClr val="2E75B6"/>
          </a:solidFill>
          <a:ln/>
        </p:spPr>
        <p:txBody>
          <a:bodyPr/>
          <a:lstStyle/>
          <a:p>
            <a:endParaRPr lang="tr-TR"/>
          </a:p>
        </p:txBody>
      </p:sp>
      <p:sp>
        <p:nvSpPr>
          <p:cNvPr id="11" name="Text 9"/>
          <p:cNvSpPr/>
          <p:nvPr/>
        </p:nvSpPr>
        <p:spPr>
          <a:xfrm>
            <a:off x="3662172" y="3383280"/>
            <a:ext cx="1997964" cy="2377440"/>
          </a:xfrm>
          <a:prstGeom prst="rect">
            <a:avLst/>
          </a:prstGeom>
          <a:noFill/>
          <a:ln/>
        </p:spPr>
        <p:txBody>
          <a:bodyPr wrap="square" lIns="0" tIns="0" rIns="0" bIns="0" rtlCol="0" anchor="t"/>
          <a:lstStyle/>
          <a:p>
            <a:pPr marL="0" indent="0">
              <a:lnSpc>
                <a:spcPct val="108000"/>
              </a:lnSpc>
              <a:buNone/>
            </a:pPr>
            <a:r>
              <a:rPr lang="en-US" sz="1650" dirty="0">
                <a:solidFill>
                  <a:srgbClr val="232A31"/>
                </a:solidFill>
                <a:latin typeface="Calibri" pitchFamily="34" charset="0"/>
                <a:ea typeface="Calibri" pitchFamily="34" charset="-122"/>
                <a:cs typeface="Calibri" pitchFamily="34" charset="-120"/>
              </a:rPr>
              <a:t>Simple sharpness rules are easily fooled by noise and leave errors at edges.</a:t>
            </a:r>
            <a:endParaRPr lang="en-US" sz="1650" dirty="0"/>
          </a:p>
        </p:txBody>
      </p:sp>
      <p:sp>
        <p:nvSpPr>
          <p:cNvPr id="12" name="Shape 10"/>
          <p:cNvSpPr/>
          <p:nvPr/>
        </p:nvSpPr>
        <p:spPr>
          <a:xfrm>
            <a:off x="6245352" y="1965960"/>
            <a:ext cx="2510028" cy="3977640"/>
          </a:xfrm>
          <a:prstGeom prst="roundRect">
            <a:avLst>
              <a:gd name="adj" fmla="val 2914"/>
            </a:avLst>
          </a:prstGeom>
          <a:solidFill>
            <a:srgbClr val="F4F6F8"/>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13" name="Text 11"/>
          <p:cNvSpPr/>
          <p:nvPr/>
        </p:nvSpPr>
        <p:spPr>
          <a:xfrm>
            <a:off x="6501384" y="2240280"/>
            <a:ext cx="1997964" cy="914400"/>
          </a:xfrm>
          <a:prstGeom prst="rect">
            <a:avLst/>
          </a:prstGeom>
          <a:noFill/>
          <a:ln/>
        </p:spPr>
        <p:txBody>
          <a:bodyPr wrap="square" lIns="0" tIns="0" rIns="0" bIns="0" rtlCol="0" anchor="t"/>
          <a:lstStyle/>
          <a:p>
            <a:pPr marL="0" indent="0">
              <a:lnSpc>
                <a:spcPct val="100000"/>
              </a:lnSpc>
              <a:buNone/>
            </a:pPr>
            <a:r>
              <a:rPr lang="en-US" sz="2000" b="1" dirty="0">
                <a:solidFill>
                  <a:srgbClr val="16385C"/>
                </a:solidFill>
                <a:latin typeface="Trebuchet MS" pitchFamily="34" charset="0"/>
                <a:ea typeface="Trebuchet MS" pitchFamily="34" charset="-122"/>
                <a:cs typeface="Trebuchet MS" pitchFamily="34" charset="-120"/>
              </a:rPr>
              <a:t>Transform methods</a:t>
            </a:r>
            <a:endParaRPr lang="en-US" sz="2000" dirty="0"/>
          </a:p>
        </p:txBody>
      </p:sp>
      <p:sp>
        <p:nvSpPr>
          <p:cNvPr id="14" name="Shape 12"/>
          <p:cNvSpPr/>
          <p:nvPr/>
        </p:nvSpPr>
        <p:spPr>
          <a:xfrm>
            <a:off x="6501384" y="3200400"/>
            <a:ext cx="457200" cy="45720"/>
          </a:xfrm>
          <a:prstGeom prst="rect">
            <a:avLst/>
          </a:prstGeom>
          <a:solidFill>
            <a:srgbClr val="2E75B6"/>
          </a:solidFill>
          <a:ln/>
        </p:spPr>
        <p:txBody>
          <a:bodyPr/>
          <a:lstStyle/>
          <a:p>
            <a:endParaRPr lang="tr-TR"/>
          </a:p>
        </p:txBody>
      </p:sp>
      <p:sp>
        <p:nvSpPr>
          <p:cNvPr id="15" name="Text 13"/>
          <p:cNvSpPr/>
          <p:nvPr/>
        </p:nvSpPr>
        <p:spPr>
          <a:xfrm>
            <a:off x="6501384" y="3383280"/>
            <a:ext cx="1997964" cy="2377440"/>
          </a:xfrm>
          <a:prstGeom prst="rect">
            <a:avLst/>
          </a:prstGeom>
          <a:noFill/>
          <a:ln/>
        </p:spPr>
        <p:txBody>
          <a:bodyPr wrap="square" lIns="0" tIns="0" rIns="0" bIns="0" rtlCol="0" anchor="t"/>
          <a:lstStyle/>
          <a:p>
            <a:pPr marL="0" indent="0">
              <a:lnSpc>
                <a:spcPct val="108000"/>
              </a:lnSpc>
              <a:buNone/>
            </a:pPr>
            <a:r>
              <a:rPr lang="en-US" sz="1650" dirty="0">
                <a:solidFill>
                  <a:srgbClr val="232A31"/>
                </a:solidFill>
                <a:latin typeface="Calibri" pitchFamily="34" charset="0"/>
                <a:ea typeface="Calibri" pitchFamily="34" charset="-122"/>
                <a:cs typeface="Calibri" pitchFamily="34" charset="-120"/>
              </a:rPr>
              <a:t>Wavelet and DCT methods need hand-tuning and can blur the image or add ripples.</a:t>
            </a:r>
            <a:endParaRPr lang="en-US" sz="1650" dirty="0"/>
          </a:p>
        </p:txBody>
      </p:sp>
      <p:sp>
        <p:nvSpPr>
          <p:cNvPr id="16" name="Shape 14"/>
          <p:cNvSpPr/>
          <p:nvPr/>
        </p:nvSpPr>
        <p:spPr>
          <a:xfrm>
            <a:off x="9084564" y="1965960"/>
            <a:ext cx="2510028" cy="3977640"/>
          </a:xfrm>
          <a:prstGeom prst="roundRect">
            <a:avLst>
              <a:gd name="adj" fmla="val 2914"/>
            </a:avLst>
          </a:prstGeom>
          <a:solidFill>
            <a:srgbClr val="F4F6F8"/>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17" name="Text 15"/>
          <p:cNvSpPr/>
          <p:nvPr/>
        </p:nvSpPr>
        <p:spPr>
          <a:xfrm>
            <a:off x="9340596" y="2240280"/>
            <a:ext cx="1997964" cy="914400"/>
          </a:xfrm>
          <a:prstGeom prst="rect">
            <a:avLst/>
          </a:prstGeom>
          <a:noFill/>
          <a:ln/>
        </p:spPr>
        <p:txBody>
          <a:bodyPr wrap="square" lIns="0" tIns="0" rIns="0" bIns="0" rtlCol="0" anchor="t"/>
          <a:lstStyle/>
          <a:p>
            <a:pPr marL="0" indent="0">
              <a:lnSpc>
                <a:spcPct val="100000"/>
              </a:lnSpc>
              <a:buNone/>
            </a:pPr>
            <a:r>
              <a:rPr lang="en-US" sz="2000" b="1" dirty="0">
                <a:solidFill>
                  <a:srgbClr val="16385C"/>
                </a:solidFill>
                <a:latin typeface="Trebuchet MS" pitchFamily="34" charset="0"/>
                <a:ea typeface="Trebuchet MS" pitchFamily="34" charset="-122"/>
                <a:cs typeface="Trebuchet MS" pitchFamily="34" charset="-120"/>
              </a:rPr>
              <a:t>Deep learning</a:t>
            </a:r>
            <a:endParaRPr lang="en-US" sz="2000" dirty="0"/>
          </a:p>
        </p:txBody>
      </p:sp>
      <p:sp>
        <p:nvSpPr>
          <p:cNvPr id="18" name="Shape 16"/>
          <p:cNvSpPr/>
          <p:nvPr/>
        </p:nvSpPr>
        <p:spPr>
          <a:xfrm>
            <a:off x="9340596" y="3200400"/>
            <a:ext cx="457200" cy="45720"/>
          </a:xfrm>
          <a:prstGeom prst="rect">
            <a:avLst/>
          </a:prstGeom>
          <a:solidFill>
            <a:srgbClr val="2E75B6"/>
          </a:solidFill>
          <a:ln/>
        </p:spPr>
        <p:txBody>
          <a:bodyPr/>
          <a:lstStyle/>
          <a:p>
            <a:endParaRPr lang="tr-TR"/>
          </a:p>
        </p:txBody>
      </p:sp>
      <p:sp>
        <p:nvSpPr>
          <p:cNvPr id="19" name="Text 17"/>
          <p:cNvSpPr/>
          <p:nvPr/>
        </p:nvSpPr>
        <p:spPr>
          <a:xfrm>
            <a:off x="9340596" y="3383280"/>
            <a:ext cx="1997964" cy="2377440"/>
          </a:xfrm>
          <a:prstGeom prst="rect">
            <a:avLst/>
          </a:prstGeom>
          <a:noFill/>
          <a:ln/>
        </p:spPr>
        <p:txBody>
          <a:bodyPr wrap="square" lIns="0" tIns="0" rIns="0" bIns="0" rtlCol="0" anchor="t"/>
          <a:lstStyle/>
          <a:p>
            <a:pPr marL="0" indent="0">
              <a:lnSpc>
                <a:spcPct val="108000"/>
              </a:lnSpc>
              <a:buNone/>
            </a:pPr>
            <a:r>
              <a:rPr lang="en-US" sz="1650" dirty="0">
                <a:solidFill>
                  <a:srgbClr val="232A31"/>
                </a:solidFill>
                <a:latin typeface="Calibri" pitchFamily="34" charset="0"/>
                <a:ea typeface="Calibri" pitchFamily="34" charset="-122"/>
                <a:cs typeface="Calibri" pitchFamily="34" charset="-120"/>
              </a:rPr>
              <a:t>Current networks struggle to keep both the big picture and the fine focus, and don't transfer well.</a:t>
            </a:r>
            <a:endParaRPr lang="en-US" sz="1650" dirty="0"/>
          </a:p>
        </p:txBody>
      </p:sp>
      <p:sp>
        <p:nvSpPr>
          <p:cNvPr id="20" name="Text 18"/>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21" name="Text 19"/>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CONTRIBUTION</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Neuro-Focus Fusion (NFF)</a:t>
            </a:r>
            <a:endParaRPr lang="en-US" sz="3500" dirty="0"/>
          </a:p>
        </p:txBody>
      </p:sp>
      <p:sp>
        <p:nvSpPr>
          <p:cNvPr id="4" name="Shape 2"/>
          <p:cNvSpPr/>
          <p:nvPr/>
        </p:nvSpPr>
        <p:spPr>
          <a:xfrm>
            <a:off x="566928" y="2011680"/>
            <a:ext cx="5394960" cy="3931920"/>
          </a:xfrm>
          <a:prstGeom prst="roundRect">
            <a:avLst>
              <a:gd name="adj" fmla="val 1860"/>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5" name="Text 3"/>
          <p:cNvSpPr/>
          <p:nvPr/>
        </p:nvSpPr>
        <p:spPr>
          <a:xfrm>
            <a:off x="978408" y="2286000"/>
            <a:ext cx="1828800" cy="731520"/>
          </a:xfrm>
          <a:prstGeom prst="rect">
            <a:avLst/>
          </a:prstGeom>
          <a:noFill/>
          <a:ln/>
        </p:spPr>
        <p:txBody>
          <a:bodyPr wrap="square" lIns="0" tIns="0" rIns="0" bIns="0" rtlCol="0" anchor="ctr"/>
          <a:lstStyle/>
          <a:p>
            <a:pPr marL="0" indent="0">
              <a:buNone/>
            </a:pPr>
            <a:r>
              <a:rPr lang="en-US" sz="4000" b="1" dirty="0">
                <a:solidFill>
                  <a:srgbClr val="6F9BD1"/>
                </a:solidFill>
                <a:latin typeface="Trebuchet MS" pitchFamily="34" charset="0"/>
                <a:ea typeface="Trebuchet MS" pitchFamily="34" charset="-122"/>
                <a:cs typeface="Trebuchet MS" pitchFamily="34" charset="-120"/>
              </a:rPr>
              <a:t>01</a:t>
            </a:r>
            <a:endParaRPr lang="en-US" sz="4000" dirty="0"/>
          </a:p>
        </p:txBody>
      </p:sp>
      <p:sp>
        <p:nvSpPr>
          <p:cNvPr id="6" name="Text 4"/>
          <p:cNvSpPr/>
          <p:nvPr/>
        </p:nvSpPr>
        <p:spPr>
          <a:xfrm>
            <a:off x="978408" y="3127248"/>
            <a:ext cx="4754880" cy="640080"/>
          </a:xfrm>
          <a:prstGeom prst="rect">
            <a:avLst/>
          </a:prstGeom>
          <a:noFill/>
          <a:ln/>
        </p:spPr>
        <p:txBody>
          <a:bodyPr wrap="square" lIns="0" tIns="0" rIns="0" bIns="0" rtlCol="0" anchor="ctr"/>
          <a:lstStyle/>
          <a:p>
            <a:pPr marL="0" indent="0">
              <a:buNone/>
            </a:pPr>
            <a:r>
              <a:rPr lang="en-US" sz="2300" b="1" dirty="0">
                <a:solidFill>
                  <a:srgbClr val="16385C"/>
                </a:solidFill>
                <a:latin typeface="Trebuchet MS" pitchFamily="34" charset="0"/>
                <a:ea typeface="Trebuchet MS" pitchFamily="34" charset="-122"/>
                <a:cs typeface="Trebuchet MS" pitchFamily="34" charset="-120"/>
              </a:rPr>
              <a:t>A smooth, learned image</a:t>
            </a:r>
            <a:endParaRPr lang="en-US" sz="2300" dirty="0"/>
          </a:p>
        </p:txBody>
      </p:sp>
      <p:sp>
        <p:nvSpPr>
          <p:cNvPr id="7" name="Text 5"/>
          <p:cNvSpPr/>
          <p:nvPr/>
        </p:nvSpPr>
        <p:spPr>
          <a:xfrm>
            <a:off x="978408" y="3767328"/>
            <a:ext cx="4663440" cy="2103120"/>
          </a:xfrm>
          <a:prstGeom prst="rect">
            <a:avLst/>
          </a:prstGeom>
          <a:noFill/>
          <a:ln/>
        </p:spPr>
        <p:txBody>
          <a:bodyPr wrap="square" lIns="0" tIns="0" rIns="0" bIns="0" rtlCol="0" anchor="ctr"/>
          <a:lstStyle/>
          <a:p>
            <a:pPr marL="342900" indent="-342900">
              <a:lnSpc>
                <a:spcPct val="104000"/>
              </a:lnSpc>
              <a:spcAft>
                <a:spcPts val="800"/>
              </a:spcAft>
              <a:buSzPct val="100000"/>
              <a:buChar char="•"/>
            </a:pPr>
            <a:r>
              <a:rPr lang="en-US" sz="2100" dirty="0">
                <a:solidFill>
                  <a:srgbClr val="232A31"/>
                </a:solidFill>
                <a:latin typeface="Calibri" pitchFamily="34" charset="0"/>
                <a:ea typeface="Calibri" pitchFamily="34" charset="-122"/>
                <a:cs typeface="Calibri" pitchFamily="34" charset="-120"/>
              </a:rPr>
              <a:t>The network learns the sharp image as one smooth function.</a:t>
            </a:r>
            <a:endParaRPr lang="en-US" sz="2100" dirty="0"/>
          </a:p>
          <a:p>
            <a:pPr marL="342900" indent="-342900">
              <a:lnSpc>
                <a:spcPct val="104000"/>
              </a:lnSpc>
              <a:spcAft>
                <a:spcPts val="800"/>
              </a:spcAft>
              <a:buSzPct val="100000"/>
              <a:buChar char="•"/>
            </a:pPr>
            <a:r>
              <a:rPr lang="en-US" sz="2100" dirty="0">
                <a:solidFill>
                  <a:srgbClr val="232A31"/>
                </a:solidFill>
                <a:latin typeface="Calibri" pitchFamily="34" charset="0"/>
                <a:ea typeface="Calibri" pitchFamily="34" charset="-122"/>
                <a:cs typeface="Calibri" pitchFamily="34" charset="-120"/>
              </a:rPr>
              <a:t>A small network replaces picking pixels one by one.</a:t>
            </a:r>
            <a:endParaRPr lang="en-US" sz="2100" dirty="0"/>
          </a:p>
          <a:p>
            <a:pPr marL="342900" indent="-342900">
              <a:lnSpc>
                <a:spcPct val="104000"/>
              </a:lnSpc>
              <a:spcAft>
                <a:spcPts val="800"/>
              </a:spcAft>
              <a:buSzPct val="100000"/>
              <a:buChar char="•"/>
            </a:pPr>
            <a:r>
              <a:rPr lang="en-US" sz="2100" dirty="0">
                <a:solidFill>
                  <a:srgbClr val="232A31"/>
                </a:solidFill>
                <a:latin typeface="Calibri" pitchFamily="34" charset="0"/>
                <a:ea typeface="Calibri" pitchFamily="34" charset="-122"/>
                <a:cs typeface="Calibri" pitchFamily="34" charset="-120"/>
              </a:rPr>
              <a:t>This avoids the seams and breaks of stacking methods.</a:t>
            </a:r>
            <a:endParaRPr lang="en-US" sz="2100" dirty="0"/>
          </a:p>
        </p:txBody>
      </p:sp>
      <p:sp>
        <p:nvSpPr>
          <p:cNvPr id="8" name="Shape 6"/>
          <p:cNvSpPr/>
          <p:nvPr/>
        </p:nvSpPr>
        <p:spPr>
          <a:xfrm>
            <a:off x="6327648" y="2011680"/>
            <a:ext cx="5394960" cy="3931920"/>
          </a:xfrm>
          <a:prstGeom prst="roundRect">
            <a:avLst>
              <a:gd name="adj" fmla="val 1860"/>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9" name="Text 7"/>
          <p:cNvSpPr/>
          <p:nvPr/>
        </p:nvSpPr>
        <p:spPr>
          <a:xfrm>
            <a:off x="6739128" y="2286000"/>
            <a:ext cx="1828800" cy="731520"/>
          </a:xfrm>
          <a:prstGeom prst="rect">
            <a:avLst/>
          </a:prstGeom>
          <a:noFill/>
          <a:ln/>
        </p:spPr>
        <p:txBody>
          <a:bodyPr wrap="square" lIns="0" tIns="0" rIns="0" bIns="0" rtlCol="0" anchor="ctr"/>
          <a:lstStyle/>
          <a:p>
            <a:pPr marL="0" indent="0">
              <a:buNone/>
            </a:pPr>
            <a:r>
              <a:rPr lang="en-US" sz="4000" b="1" dirty="0">
                <a:solidFill>
                  <a:srgbClr val="C0504D"/>
                </a:solidFill>
                <a:latin typeface="Trebuchet MS" pitchFamily="34" charset="0"/>
                <a:ea typeface="Trebuchet MS" pitchFamily="34" charset="-122"/>
                <a:cs typeface="Trebuchet MS" pitchFamily="34" charset="-120"/>
              </a:rPr>
              <a:t>02</a:t>
            </a:r>
            <a:endParaRPr lang="en-US" sz="4000" dirty="0"/>
          </a:p>
        </p:txBody>
      </p:sp>
      <p:sp>
        <p:nvSpPr>
          <p:cNvPr id="10" name="Text 8"/>
          <p:cNvSpPr/>
          <p:nvPr/>
        </p:nvSpPr>
        <p:spPr>
          <a:xfrm>
            <a:off x="6739128" y="3127248"/>
            <a:ext cx="4572000" cy="640080"/>
          </a:xfrm>
          <a:prstGeom prst="rect">
            <a:avLst/>
          </a:prstGeom>
          <a:noFill/>
          <a:ln/>
        </p:spPr>
        <p:txBody>
          <a:bodyPr wrap="square" lIns="0" tIns="0" rIns="0" bIns="0" rtlCol="0" anchor="ctr"/>
          <a:lstStyle/>
          <a:p>
            <a:pPr marL="0" indent="0">
              <a:buNone/>
            </a:pPr>
            <a:r>
              <a:rPr lang="en-US" sz="2300" b="1" dirty="0">
                <a:solidFill>
                  <a:srgbClr val="16385C"/>
                </a:solidFill>
                <a:latin typeface="Trebuchet MS" pitchFamily="34" charset="0"/>
                <a:ea typeface="Trebuchet MS" pitchFamily="34" charset="-122"/>
                <a:cs typeface="Trebuchet MS" pitchFamily="34" charset="-120"/>
              </a:rPr>
              <a:t>Sharp by design</a:t>
            </a:r>
            <a:endParaRPr lang="en-US" sz="2300" dirty="0"/>
          </a:p>
        </p:txBody>
      </p:sp>
      <p:sp>
        <p:nvSpPr>
          <p:cNvPr id="11" name="Text 9"/>
          <p:cNvSpPr/>
          <p:nvPr/>
        </p:nvSpPr>
        <p:spPr>
          <a:xfrm>
            <a:off x="6739128" y="3767328"/>
            <a:ext cx="4663440" cy="2103120"/>
          </a:xfrm>
          <a:prstGeom prst="rect">
            <a:avLst/>
          </a:prstGeom>
          <a:noFill/>
          <a:ln/>
        </p:spPr>
        <p:txBody>
          <a:bodyPr wrap="square" lIns="0" tIns="0" rIns="0" bIns="0" rtlCol="0" anchor="ctr"/>
          <a:lstStyle/>
          <a:p>
            <a:pPr marL="342900" indent="-342900">
              <a:lnSpc>
                <a:spcPct val="104000"/>
              </a:lnSpc>
              <a:spcAft>
                <a:spcPts val="800"/>
              </a:spcAft>
              <a:buSzPct val="100000"/>
              <a:buChar char="•"/>
            </a:pPr>
            <a:r>
              <a:rPr lang="en-US" sz="2100" dirty="0">
                <a:solidFill>
                  <a:srgbClr val="232A31"/>
                </a:solidFill>
                <a:latin typeface="Calibri" pitchFamily="34" charset="0"/>
                <a:ea typeface="Calibri" pitchFamily="34" charset="-122"/>
                <a:cs typeface="Calibri" pitchFamily="34" charset="-120"/>
              </a:rPr>
              <a:t>Turning each position into 42 numbers helps capture fine detail.</a:t>
            </a:r>
            <a:endParaRPr lang="en-US" sz="2100" dirty="0"/>
          </a:p>
          <a:p>
            <a:pPr marL="342900" indent="-342900">
              <a:lnSpc>
                <a:spcPct val="104000"/>
              </a:lnSpc>
              <a:spcAft>
                <a:spcPts val="800"/>
              </a:spcAft>
              <a:buSzPct val="100000"/>
              <a:buChar char="•"/>
            </a:pPr>
            <a:r>
              <a:rPr lang="en-US" sz="2100" dirty="0">
                <a:solidFill>
                  <a:srgbClr val="232A31"/>
                </a:solidFill>
                <a:latin typeface="Calibri" pitchFamily="34" charset="0"/>
                <a:ea typeface="Calibri" pitchFamily="34" charset="-122"/>
                <a:cs typeface="Calibri" pitchFamily="34" charset="-120"/>
              </a:rPr>
              <a:t>It learns on its own — no hand-tuning needed.</a:t>
            </a:r>
            <a:endParaRPr lang="en-US" sz="2100" dirty="0"/>
          </a:p>
          <a:p>
            <a:pPr marL="342900" indent="-342900">
              <a:lnSpc>
                <a:spcPct val="104000"/>
              </a:lnSpc>
              <a:spcAft>
                <a:spcPts val="800"/>
              </a:spcAft>
              <a:buSzPct val="100000"/>
              <a:buChar char="•"/>
            </a:pPr>
            <a:r>
              <a:rPr lang="en-US" sz="2100" dirty="0">
                <a:solidFill>
                  <a:srgbClr val="232A31"/>
                </a:solidFill>
                <a:latin typeface="Calibri" pitchFamily="34" charset="0"/>
                <a:ea typeface="Calibri" pitchFamily="34" charset="-122"/>
                <a:cs typeface="Calibri" pitchFamily="34" charset="-120"/>
              </a:rPr>
              <a:t>It is small and works on many kinds of samples.</a:t>
            </a:r>
            <a:endParaRPr lang="en-US" sz="2100" dirty="0"/>
          </a:p>
        </p:txBody>
      </p:sp>
      <p:sp>
        <p:nvSpPr>
          <p:cNvPr id="12" name="Text 10"/>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13" name="Text 1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DATASETS</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Four very different photo stacks</a:t>
            </a:r>
            <a:endParaRPr lang="en-US" sz="3500" dirty="0"/>
          </a:p>
        </p:txBody>
      </p:sp>
      <p:sp>
        <p:nvSpPr>
          <p:cNvPr id="4" name="Text 2"/>
          <p:cNvSpPr/>
          <p:nvPr/>
        </p:nvSpPr>
        <p:spPr>
          <a:xfrm>
            <a:off x="566928" y="2194560"/>
            <a:ext cx="6126480" cy="3657600"/>
          </a:xfrm>
          <a:prstGeom prst="rect">
            <a:avLst/>
          </a:prstGeom>
          <a:noFill/>
          <a:ln/>
        </p:spPr>
        <p:txBody>
          <a:bodyPr wrap="square" lIns="0" tIns="0" rIns="0" bIns="0" rtlCol="0" anchor="ctr"/>
          <a:lstStyle/>
          <a:p>
            <a:pPr marL="0" indent="0">
              <a:lnSpc>
                <a:spcPct val="104000"/>
              </a:lnSpc>
              <a:spcAft>
                <a:spcPts val="1300"/>
              </a:spcAft>
              <a:buNone/>
            </a:pPr>
            <a:r>
              <a:rPr lang="en-US" sz="2100" b="1" dirty="0">
                <a:solidFill>
                  <a:srgbClr val="16385C"/>
                </a:solidFill>
                <a:latin typeface="Calibri" pitchFamily="34" charset="0"/>
                <a:ea typeface="Calibri" pitchFamily="34" charset="-122"/>
                <a:cs typeface="Calibri" pitchFamily="34" charset="-120"/>
              </a:rPr>
              <a:t>Stack 1</a:t>
            </a:r>
            <a:r>
              <a:rPr lang="en-US" sz="2100" dirty="0">
                <a:solidFill>
                  <a:srgbClr val="232A31"/>
                </a:solidFill>
                <a:latin typeface="Calibri" pitchFamily="34" charset="0"/>
                <a:ea typeface="Calibri" pitchFamily="34" charset="-122"/>
                <a:cs typeface="Calibri" pitchFamily="34" charset="-120"/>
              </a:rPr>
              <a:t> is biological tissue, captured on a Zeiss microscope at 1996×1450 pixels with 20 photos.</a:t>
            </a:r>
            <a:endParaRPr lang="en-US" sz="2100" dirty="0"/>
          </a:p>
          <a:p>
            <a:pPr marL="0" indent="0">
              <a:lnSpc>
                <a:spcPct val="104000"/>
              </a:lnSpc>
              <a:spcAft>
                <a:spcPts val="1300"/>
              </a:spcAft>
              <a:buNone/>
            </a:pPr>
            <a:r>
              <a:rPr lang="en-US" sz="2100" b="1" dirty="0">
                <a:solidFill>
                  <a:srgbClr val="16385C"/>
                </a:solidFill>
                <a:latin typeface="Calibri" pitchFamily="34" charset="0"/>
                <a:ea typeface="Calibri" pitchFamily="34" charset="-122"/>
                <a:cs typeface="Calibri" pitchFamily="34" charset="-120"/>
              </a:rPr>
              <a:t>Stack 2</a:t>
            </a:r>
            <a:r>
              <a:rPr lang="en-US" sz="2100" dirty="0">
                <a:solidFill>
                  <a:srgbClr val="232A31"/>
                </a:solidFill>
                <a:latin typeface="Calibri" pitchFamily="34" charset="0"/>
                <a:ea typeface="Calibri" pitchFamily="34" charset="-122"/>
                <a:cs typeface="Calibri" pitchFamily="34" charset="-120"/>
              </a:rPr>
              <a:t> is an industrial laser-welding surface, captured at 1024×768 pixels with 13 photos.</a:t>
            </a:r>
            <a:endParaRPr lang="en-US" sz="2100" dirty="0"/>
          </a:p>
          <a:p>
            <a:pPr marL="0" indent="0">
              <a:lnSpc>
                <a:spcPct val="104000"/>
              </a:lnSpc>
              <a:spcAft>
                <a:spcPts val="1300"/>
              </a:spcAft>
              <a:buNone/>
            </a:pPr>
            <a:r>
              <a:rPr lang="en-US" sz="2100" b="1" dirty="0">
                <a:solidFill>
                  <a:srgbClr val="16385C"/>
                </a:solidFill>
                <a:latin typeface="Calibri" pitchFamily="34" charset="0"/>
                <a:ea typeface="Calibri" pitchFamily="34" charset="-122"/>
                <a:cs typeface="Calibri" pitchFamily="34" charset="-120"/>
              </a:rPr>
              <a:t>Stack 3</a:t>
            </a:r>
            <a:r>
              <a:rPr lang="en-US" sz="2100" dirty="0">
                <a:solidFill>
                  <a:srgbClr val="232A31"/>
                </a:solidFill>
                <a:latin typeface="Calibri" pitchFamily="34" charset="0"/>
                <a:ea typeface="Calibri" pitchFamily="34" charset="-122"/>
                <a:cs typeface="Calibri" pitchFamily="34" charset="-120"/>
              </a:rPr>
              <a:t> is neuroblastoma cells, imaged with a 20× microscope at 3840×2160 pixels with 53 photos.</a:t>
            </a:r>
            <a:endParaRPr lang="en-US" sz="2100" dirty="0"/>
          </a:p>
          <a:p>
            <a:pPr marL="0" indent="0">
              <a:lnSpc>
                <a:spcPct val="104000"/>
              </a:lnSpc>
              <a:spcAft>
                <a:spcPts val="1300"/>
              </a:spcAft>
              <a:buNone/>
            </a:pPr>
            <a:r>
              <a:rPr lang="en-US" sz="2100" b="1" dirty="0">
                <a:solidFill>
                  <a:srgbClr val="16385C"/>
                </a:solidFill>
                <a:latin typeface="Calibri" pitchFamily="34" charset="0"/>
                <a:ea typeface="Calibri" pitchFamily="34" charset="-122"/>
                <a:cs typeface="Calibri" pitchFamily="34" charset="-120"/>
              </a:rPr>
              <a:t>Stack 4</a:t>
            </a:r>
            <a:r>
              <a:rPr lang="en-US" sz="2100" dirty="0">
                <a:solidFill>
                  <a:srgbClr val="232A31"/>
                </a:solidFill>
                <a:latin typeface="Calibri" pitchFamily="34" charset="0"/>
                <a:ea typeface="Calibri" pitchFamily="34" charset="-122"/>
                <a:cs typeface="Calibri" pitchFamily="34" charset="-120"/>
              </a:rPr>
              <a:t> is fibroblast cells, imaged with a 20× microscope at 3840×2160 pixels with 37 photos.</a:t>
            </a:r>
            <a:endParaRPr lang="en-US" sz="2100" dirty="0"/>
          </a:p>
        </p:txBody>
      </p:sp>
      <p:sp>
        <p:nvSpPr>
          <p:cNvPr id="5" name="Shape 3"/>
          <p:cNvSpPr/>
          <p:nvPr/>
        </p:nvSpPr>
        <p:spPr>
          <a:xfrm>
            <a:off x="6995160" y="1920240"/>
            <a:ext cx="4617720" cy="4069080"/>
          </a:xfrm>
          <a:prstGeom prst="roundRect">
            <a:avLst>
              <a:gd name="adj" fmla="val 1798"/>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pic>
        <p:nvPicPr>
          <p:cNvPr id="6" name="Image 0" descr="/sessions/pensive-beautiful-ramanujan/mnt/outputs/nff/fig1_samples.png"/>
          <p:cNvPicPr>
            <a:picLocks noChangeAspect="1"/>
          </p:cNvPicPr>
          <p:nvPr/>
        </p:nvPicPr>
        <p:blipFill>
          <a:blip r:embed="rId3"/>
          <a:srcRect/>
          <a:stretch/>
        </p:blipFill>
        <p:spPr>
          <a:xfrm>
            <a:off x="7178040" y="2148840"/>
            <a:ext cx="4251960" cy="3337560"/>
          </a:xfrm>
          <a:prstGeom prst="rect">
            <a:avLst/>
          </a:prstGeom>
        </p:spPr>
      </p:pic>
      <p:sp>
        <p:nvSpPr>
          <p:cNvPr id="7" name="Text 4"/>
          <p:cNvSpPr/>
          <p:nvPr/>
        </p:nvSpPr>
        <p:spPr>
          <a:xfrm>
            <a:off x="6995160" y="5532120"/>
            <a:ext cx="4617720" cy="320040"/>
          </a:xfrm>
          <a:prstGeom prst="rect">
            <a:avLst/>
          </a:prstGeom>
          <a:noFill/>
          <a:ln/>
        </p:spPr>
        <p:txBody>
          <a:bodyPr wrap="square" lIns="0" tIns="0" rIns="0" bIns="0" rtlCol="0" anchor="ctr"/>
          <a:lstStyle/>
          <a:p>
            <a:pPr marL="0" indent="0" algn="ctr">
              <a:buNone/>
            </a:pPr>
            <a:r>
              <a:rPr lang="en-US" sz="1300" i="1" dirty="0">
                <a:solidFill>
                  <a:srgbClr val="8A97A5"/>
                </a:solidFill>
                <a:latin typeface="Calibri" pitchFamily="34" charset="0"/>
                <a:ea typeface="Calibri" pitchFamily="34" charset="-122"/>
                <a:cs typeface="Calibri" pitchFamily="34" charset="-120"/>
              </a:rPr>
              <a:t>These are example photos from each stack.</a:t>
            </a:r>
            <a:endParaRPr lang="en-US" sz="1300" dirty="0"/>
          </a:p>
        </p:txBody>
      </p:sp>
      <p:sp>
        <p:nvSpPr>
          <p:cNvPr id="8" name="Text 5"/>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9" name="Text 6"/>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PROPOSED METHOD</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How NFF works — four steps</a:t>
            </a:r>
            <a:endParaRPr lang="en-US" sz="3500" dirty="0"/>
          </a:p>
        </p:txBody>
      </p:sp>
      <p:sp>
        <p:nvSpPr>
          <p:cNvPr id="4" name="Shape 2"/>
          <p:cNvSpPr/>
          <p:nvPr/>
        </p:nvSpPr>
        <p:spPr>
          <a:xfrm>
            <a:off x="566928" y="1874520"/>
            <a:ext cx="457200" cy="457200"/>
          </a:xfrm>
          <a:prstGeom prst="ellipse">
            <a:avLst/>
          </a:prstGeom>
          <a:solidFill>
            <a:srgbClr val="16385C"/>
          </a:solidFill>
          <a:ln/>
        </p:spPr>
        <p:txBody>
          <a:bodyPr/>
          <a:lstStyle/>
          <a:p>
            <a:endParaRPr lang="tr-TR"/>
          </a:p>
        </p:txBody>
      </p:sp>
      <p:sp>
        <p:nvSpPr>
          <p:cNvPr id="5" name="Text 3"/>
          <p:cNvSpPr/>
          <p:nvPr/>
        </p:nvSpPr>
        <p:spPr>
          <a:xfrm>
            <a:off x="566928" y="187452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6" name="Text 4"/>
          <p:cNvSpPr/>
          <p:nvPr/>
        </p:nvSpPr>
        <p:spPr>
          <a:xfrm>
            <a:off x="1225296" y="1819656"/>
            <a:ext cx="4572000" cy="1097280"/>
          </a:xfrm>
          <a:prstGeom prst="rect">
            <a:avLst/>
          </a:prstGeom>
          <a:noFill/>
          <a:ln/>
        </p:spPr>
        <p:txBody>
          <a:bodyPr wrap="square" lIns="0" tIns="0" rIns="0" bIns="0" rtlCol="0" anchor="t"/>
          <a:lstStyle/>
          <a:p>
            <a:pPr marL="0" indent="0">
              <a:lnSpc>
                <a:spcPct val="105000"/>
              </a:lnSpc>
              <a:buNone/>
            </a:pPr>
            <a:r>
              <a:rPr lang="en-US" sz="1650" b="1" dirty="0">
                <a:solidFill>
                  <a:srgbClr val="16385C"/>
                </a:solidFill>
                <a:latin typeface="Calibri" pitchFamily="34" charset="0"/>
                <a:ea typeface="Calibri" pitchFamily="34" charset="-122"/>
                <a:cs typeface="Calibri" pitchFamily="34" charset="-120"/>
              </a:rPr>
              <a:t>First, </a:t>
            </a:r>
            <a:r>
              <a:rPr lang="en-US" sz="1650" dirty="0">
                <a:solidFill>
                  <a:srgbClr val="232A31"/>
                </a:solidFill>
                <a:latin typeface="Calibri" pitchFamily="34" charset="0"/>
                <a:ea typeface="Calibri" pitchFamily="34" charset="-122"/>
                <a:cs typeface="Calibri" pitchFamily="34" charset="-120"/>
              </a:rPr>
              <a:t>we measure how sharp each pixel is across the stack and keep the sharpest one everywhere, which builds a single sharp target image to learn from.</a:t>
            </a:r>
            <a:endParaRPr lang="en-US" sz="1650" dirty="0"/>
          </a:p>
        </p:txBody>
      </p:sp>
      <p:sp>
        <p:nvSpPr>
          <p:cNvPr id="7" name="Shape 5"/>
          <p:cNvSpPr/>
          <p:nvPr/>
        </p:nvSpPr>
        <p:spPr>
          <a:xfrm>
            <a:off x="566928" y="2971800"/>
            <a:ext cx="457200" cy="457200"/>
          </a:xfrm>
          <a:prstGeom prst="ellipse">
            <a:avLst/>
          </a:prstGeom>
          <a:solidFill>
            <a:srgbClr val="16385C"/>
          </a:solidFill>
          <a:ln/>
        </p:spPr>
        <p:txBody>
          <a:bodyPr/>
          <a:lstStyle/>
          <a:p>
            <a:endParaRPr lang="tr-TR"/>
          </a:p>
        </p:txBody>
      </p:sp>
      <p:sp>
        <p:nvSpPr>
          <p:cNvPr id="8" name="Text 6"/>
          <p:cNvSpPr/>
          <p:nvPr/>
        </p:nvSpPr>
        <p:spPr>
          <a:xfrm>
            <a:off x="566928" y="297180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9" name="Text 7"/>
          <p:cNvSpPr/>
          <p:nvPr/>
        </p:nvSpPr>
        <p:spPr>
          <a:xfrm>
            <a:off x="1225296" y="2916936"/>
            <a:ext cx="4572000" cy="1097280"/>
          </a:xfrm>
          <a:prstGeom prst="rect">
            <a:avLst/>
          </a:prstGeom>
          <a:noFill/>
          <a:ln/>
        </p:spPr>
        <p:txBody>
          <a:bodyPr wrap="square" lIns="0" tIns="0" rIns="0" bIns="0" rtlCol="0" anchor="t"/>
          <a:lstStyle/>
          <a:p>
            <a:pPr marL="0" indent="0">
              <a:lnSpc>
                <a:spcPct val="105000"/>
              </a:lnSpc>
              <a:buNone/>
            </a:pPr>
            <a:r>
              <a:rPr lang="en-US" sz="1650" b="1" dirty="0">
                <a:solidFill>
                  <a:srgbClr val="16385C"/>
                </a:solidFill>
                <a:latin typeface="Calibri" pitchFamily="34" charset="0"/>
                <a:ea typeface="Calibri" pitchFamily="34" charset="-122"/>
                <a:cs typeface="Calibri" pitchFamily="34" charset="-120"/>
              </a:rPr>
              <a:t>Next, </a:t>
            </a:r>
            <a:r>
              <a:rPr lang="en-US" sz="1650" dirty="0">
                <a:solidFill>
                  <a:srgbClr val="232A31"/>
                </a:solidFill>
                <a:latin typeface="Calibri" pitchFamily="34" charset="0"/>
                <a:ea typeface="Calibri" pitchFamily="34" charset="-122"/>
                <a:cs typeface="Calibri" pitchFamily="34" charset="-120"/>
              </a:rPr>
              <a:t>each pixel position is turned into 42 numbers using sine waves, so the network can show fine, sharp detail instead of a blur.</a:t>
            </a:r>
            <a:endParaRPr lang="en-US" sz="1650" dirty="0"/>
          </a:p>
        </p:txBody>
      </p:sp>
      <p:sp>
        <p:nvSpPr>
          <p:cNvPr id="10" name="Shape 8"/>
          <p:cNvSpPr/>
          <p:nvPr/>
        </p:nvSpPr>
        <p:spPr>
          <a:xfrm>
            <a:off x="566928" y="4069080"/>
            <a:ext cx="457200" cy="457200"/>
          </a:xfrm>
          <a:prstGeom prst="ellipse">
            <a:avLst/>
          </a:prstGeom>
          <a:solidFill>
            <a:srgbClr val="16385C"/>
          </a:solidFill>
          <a:ln/>
        </p:spPr>
        <p:txBody>
          <a:bodyPr/>
          <a:lstStyle/>
          <a:p>
            <a:endParaRPr lang="tr-TR"/>
          </a:p>
        </p:txBody>
      </p:sp>
      <p:sp>
        <p:nvSpPr>
          <p:cNvPr id="11" name="Text 9"/>
          <p:cNvSpPr/>
          <p:nvPr/>
        </p:nvSpPr>
        <p:spPr>
          <a:xfrm>
            <a:off x="566928" y="406908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12" name="Text 10"/>
          <p:cNvSpPr/>
          <p:nvPr/>
        </p:nvSpPr>
        <p:spPr>
          <a:xfrm>
            <a:off x="1225296" y="4014216"/>
            <a:ext cx="4572000" cy="1097280"/>
          </a:xfrm>
          <a:prstGeom prst="rect">
            <a:avLst/>
          </a:prstGeom>
          <a:noFill/>
          <a:ln/>
        </p:spPr>
        <p:txBody>
          <a:bodyPr wrap="square" lIns="0" tIns="0" rIns="0" bIns="0" rtlCol="0" anchor="t"/>
          <a:lstStyle/>
          <a:p>
            <a:pPr marL="0" indent="0">
              <a:lnSpc>
                <a:spcPct val="105000"/>
              </a:lnSpc>
              <a:buNone/>
            </a:pPr>
            <a:r>
              <a:rPr lang="en-US" sz="1650" b="1" dirty="0">
                <a:solidFill>
                  <a:srgbClr val="16385C"/>
                </a:solidFill>
                <a:latin typeface="Calibri" pitchFamily="34" charset="0"/>
                <a:ea typeface="Calibri" pitchFamily="34" charset="-122"/>
                <a:cs typeface="Calibri" pitchFamily="34" charset="-120"/>
              </a:rPr>
              <a:t>Then, </a:t>
            </a:r>
            <a:r>
              <a:rPr lang="en-US" sz="1650" dirty="0">
                <a:solidFill>
                  <a:srgbClr val="232A31"/>
                </a:solidFill>
                <a:latin typeface="Calibri" pitchFamily="34" charset="0"/>
                <a:ea typeface="Calibri" pitchFamily="34" charset="-122"/>
                <a:cs typeface="Calibri" pitchFamily="34" charset="-120"/>
              </a:rPr>
              <a:t>a small network with four layers of 256 units predicts the colour at each pixel, and it is trained to match the sharp target image.</a:t>
            </a:r>
            <a:endParaRPr lang="en-US" sz="1650" dirty="0"/>
          </a:p>
        </p:txBody>
      </p:sp>
      <p:sp>
        <p:nvSpPr>
          <p:cNvPr id="13" name="Shape 11"/>
          <p:cNvSpPr/>
          <p:nvPr/>
        </p:nvSpPr>
        <p:spPr>
          <a:xfrm>
            <a:off x="566928" y="5166360"/>
            <a:ext cx="457200" cy="457200"/>
          </a:xfrm>
          <a:prstGeom prst="ellipse">
            <a:avLst/>
          </a:prstGeom>
          <a:solidFill>
            <a:srgbClr val="C0504D"/>
          </a:solidFill>
          <a:ln/>
        </p:spPr>
        <p:txBody>
          <a:bodyPr/>
          <a:lstStyle/>
          <a:p>
            <a:endParaRPr lang="tr-TR"/>
          </a:p>
        </p:txBody>
      </p:sp>
      <p:sp>
        <p:nvSpPr>
          <p:cNvPr id="14" name="Text 12"/>
          <p:cNvSpPr/>
          <p:nvPr/>
        </p:nvSpPr>
        <p:spPr>
          <a:xfrm>
            <a:off x="566928" y="516636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15" name="Text 13"/>
          <p:cNvSpPr/>
          <p:nvPr/>
        </p:nvSpPr>
        <p:spPr>
          <a:xfrm>
            <a:off x="1225296" y="5111496"/>
            <a:ext cx="4572000" cy="1097280"/>
          </a:xfrm>
          <a:prstGeom prst="rect">
            <a:avLst/>
          </a:prstGeom>
          <a:noFill/>
          <a:ln/>
        </p:spPr>
        <p:txBody>
          <a:bodyPr wrap="square" lIns="0" tIns="0" rIns="0" bIns="0" rtlCol="0" anchor="t"/>
          <a:lstStyle/>
          <a:p>
            <a:pPr marL="0" indent="0">
              <a:lnSpc>
                <a:spcPct val="105000"/>
              </a:lnSpc>
              <a:buNone/>
            </a:pPr>
            <a:r>
              <a:rPr lang="en-US" sz="1650" b="1" dirty="0">
                <a:solidFill>
                  <a:srgbClr val="16385C"/>
                </a:solidFill>
                <a:latin typeface="Calibri" pitchFamily="34" charset="0"/>
                <a:ea typeface="Calibri" pitchFamily="34" charset="-122"/>
                <a:cs typeface="Calibri" pitchFamily="34" charset="-120"/>
              </a:rPr>
              <a:t>Finally, </a:t>
            </a:r>
            <a:r>
              <a:rPr lang="en-US" sz="1650" dirty="0">
                <a:solidFill>
                  <a:srgbClr val="232A31"/>
                </a:solidFill>
                <a:latin typeface="Calibri" pitchFamily="34" charset="0"/>
                <a:ea typeface="Calibri" pitchFamily="34" charset="-122"/>
                <a:cs typeface="Calibri" pitchFamily="34" charset="-120"/>
              </a:rPr>
              <a:t>the whole in-focus image is created in a single pass, giving a smooth result with no seams.</a:t>
            </a:r>
            <a:endParaRPr lang="en-US" sz="1650" dirty="0"/>
          </a:p>
        </p:txBody>
      </p:sp>
      <p:sp>
        <p:nvSpPr>
          <p:cNvPr id="16" name="Shape 14"/>
          <p:cNvSpPr/>
          <p:nvPr/>
        </p:nvSpPr>
        <p:spPr>
          <a:xfrm>
            <a:off x="6172200" y="2011680"/>
            <a:ext cx="5440680" cy="3611880"/>
          </a:xfrm>
          <a:prstGeom prst="roundRect">
            <a:avLst>
              <a:gd name="adj" fmla="val 2025"/>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pic>
        <p:nvPicPr>
          <p:cNvPr id="17" name="Image 0" descr="/sessions/pensive-beautiful-ramanujan/mnt/outputs/nff/fig2_arch.png"/>
          <p:cNvPicPr>
            <a:picLocks noChangeAspect="1"/>
          </p:cNvPicPr>
          <p:nvPr/>
        </p:nvPicPr>
        <p:blipFill>
          <a:blip r:embed="rId3"/>
          <a:srcRect/>
          <a:stretch/>
        </p:blipFill>
        <p:spPr>
          <a:xfrm>
            <a:off x="6327648" y="2286000"/>
            <a:ext cx="5120640" cy="2697480"/>
          </a:xfrm>
          <a:prstGeom prst="rect">
            <a:avLst/>
          </a:prstGeom>
        </p:spPr>
      </p:pic>
      <p:sp>
        <p:nvSpPr>
          <p:cNvPr id="18" name="Text 15"/>
          <p:cNvSpPr/>
          <p:nvPr/>
        </p:nvSpPr>
        <p:spPr>
          <a:xfrm>
            <a:off x="6172200" y="5193792"/>
            <a:ext cx="5440680" cy="320040"/>
          </a:xfrm>
          <a:prstGeom prst="rect">
            <a:avLst/>
          </a:prstGeom>
          <a:noFill/>
          <a:ln/>
        </p:spPr>
        <p:txBody>
          <a:bodyPr wrap="square" lIns="0" tIns="0" rIns="0" bIns="0" rtlCol="0" anchor="ctr"/>
          <a:lstStyle/>
          <a:p>
            <a:pPr marL="0" indent="0" algn="ctr">
              <a:buNone/>
            </a:pPr>
            <a:r>
              <a:rPr lang="en-US" sz="1300" i="1" dirty="0">
                <a:solidFill>
                  <a:srgbClr val="8A97A5"/>
                </a:solidFill>
                <a:latin typeface="Calibri" pitchFamily="34" charset="0"/>
                <a:ea typeface="Calibri" pitchFamily="34" charset="-122"/>
                <a:cs typeface="Calibri" pitchFamily="34" charset="-120"/>
              </a:rPr>
              <a:t>Fig. 2 · How the four steps fit together</a:t>
            </a:r>
            <a:endParaRPr lang="en-US" sz="1300" dirty="0"/>
          </a:p>
        </p:txBody>
      </p:sp>
      <p:sp>
        <p:nvSpPr>
          <p:cNvPr id="19" name="Text 16"/>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20" name="Text 17"/>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EXPERIMENTS</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Setup &amp; how we measured quality</a:t>
            </a:r>
            <a:endParaRPr lang="en-US" sz="3500" dirty="0"/>
          </a:p>
        </p:txBody>
      </p:sp>
      <p:sp>
        <p:nvSpPr>
          <p:cNvPr id="4" name="Shape 2"/>
          <p:cNvSpPr/>
          <p:nvPr/>
        </p:nvSpPr>
        <p:spPr>
          <a:xfrm>
            <a:off x="566928" y="2011680"/>
            <a:ext cx="2482596" cy="2468880"/>
          </a:xfrm>
          <a:prstGeom prst="roundRect">
            <a:avLst>
              <a:gd name="adj" fmla="val 2963"/>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5" name="Text 3"/>
          <p:cNvSpPr/>
          <p:nvPr/>
        </p:nvSpPr>
        <p:spPr>
          <a:xfrm>
            <a:off x="658368" y="2286000"/>
            <a:ext cx="2299716" cy="868680"/>
          </a:xfrm>
          <a:prstGeom prst="rect">
            <a:avLst/>
          </a:prstGeom>
          <a:noFill/>
          <a:ln/>
        </p:spPr>
        <p:txBody>
          <a:bodyPr wrap="square" lIns="0" tIns="0" rIns="0" bIns="0" rtlCol="0" anchor="ctr"/>
          <a:lstStyle/>
          <a:p>
            <a:pPr marL="0" indent="0" algn="ctr">
              <a:lnSpc>
                <a:spcPct val="95000"/>
              </a:lnSpc>
              <a:buNone/>
            </a:pPr>
            <a:r>
              <a:rPr lang="en-US" sz="2600" b="1" dirty="0">
                <a:solidFill>
                  <a:srgbClr val="2E75B6"/>
                </a:solidFill>
                <a:latin typeface="Trebuchet MS" pitchFamily="34" charset="0"/>
                <a:ea typeface="Trebuchet MS" pitchFamily="34" charset="-122"/>
                <a:cs typeface="Trebuchet MS" pitchFamily="34" charset="-120"/>
              </a:rPr>
              <a:t>PyTorch</a:t>
            </a:r>
            <a:endParaRPr lang="en-US" sz="2600" dirty="0"/>
          </a:p>
        </p:txBody>
      </p:sp>
      <p:sp>
        <p:nvSpPr>
          <p:cNvPr id="6" name="Text 4"/>
          <p:cNvSpPr/>
          <p:nvPr/>
        </p:nvSpPr>
        <p:spPr>
          <a:xfrm>
            <a:off x="658368" y="3291840"/>
            <a:ext cx="2299716" cy="1005840"/>
          </a:xfrm>
          <a:prstGeom prst="rect">
            <a:avLst/>
          </a:prstGeom>
          <a:noFill/>
          <a:ln/>
        </p:spPr>
        <p:txBody>
          <a:bodyPr wrap="square" lIns="0" tIns="0" rIns="0" bIns="0" rtlCol="0" anchor="t"/>
          <a:lstStyle/>
          <a:p>
            <a:pPr marL="0" indent="0" algn="ctr">
              <a:lnSpc>
                <a:spcPct val="105000"/>
              </a:lnSpc>
              <a:buNone/>
            </a:pPr>
            <a:r>
              <a:rPr lang="en-US" sz="1650" dirty="0">
                <a:solidFill>
                  <a:srgbClr val="232A31"/>
                </a:solidFill>
                <a:latin typeface="Calibri" pitchFamily="34" charset="0"/>
                <a:ea typeface="Calibri" pitchFamily="34" charset="-122"/>
                <a:cs typeface="Calibri" pitchFamily="34" charset="-120"/>
              </a:rPr>
              <a:t>Python 3.12</a:t>
            </a:r>
            <a:endParaRPr lang="en-US" sz="1650" dirty="0"/>
          </a:p>
          <a:p>
            <a:pPr marL="0" indent="0" algn="ctr">
              <a:lnSpc>
                <a:spcPct val="105000"/>
              </a:lnSpc>
              <a:buNone/>
            </a:pPr>
            <a:r>
              <a:rPr lang="en-US" sz="1650" dirty="0">
                <a:solidFill>
                  <a:srgbClr val="232A31"/>
                </a:solidFill>
                <a:latin typeface="Calibri" pitchFamily="34" charset="0"/>
                <a:ea typeface="Calibri" pitchFamily="34" charset="-122"/>
                <a:cs typeface="Calibri" pitchFamily="34" charset="-120"/>
              </a:rPr>
              <a:t>Ubuntu 22.04</a:t>
            </a:r>
            <a:endParaRPr lang="en-US" sz="1650" dirty="0"/>
          </a:p>
        </p:txBody>
      </p:sp>
      <p:sp>
        <p:nvSpPr>
          <p:cNvPr id="7" name="Shape 5"/>
          <p:cNvSpPr/>
          <p:nvPr/>
        </p:nvSpPr>
        <p:spPr>
          <a:xfrm>
            <a:off x="3415284" y="2011680"/>
            <a:ext cx="2482596" cy="2468880"/>
          </a:xfrm>
          <a:prstGeom prst="roundRect">
            <a:avLst>
              <a:gd name="adj" fmla="val 2963"/>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8" name="Text 6"/>
          <p:cNvSpPr/>
          <p:nvPr/>
        </p:nvSpPr>
        <p:spPr>
          <a:xfrm>
            <a:off x="3506724" y="2286000"/>
            <a:ext cx="2299716" cy="868680"/>
          </a:xfrm>
          <a:prstGeom prst="rect">
            <a:avLst/>
          </a:prstGeom>
          <a:noFill/>
          <a:ln/>
        </p:spPr>
        <p:txBody>
          <a:bodyPr wrap="square" lIns="0" tIns="0" rIns="0" bIns="0" rtlCol="0" anchor="ctr"/>
          <a:lstStyle/>
          <a:p>
            <a:pPr marL="0" indent="0" algn="ctr">
              <a:lnSpc>
                <a:spcPct val="95000"/>
              </a:lnSpc>
              <a:buNone/>
            </a:pPr>
            <a:r>
              <a:rPr lang="en-US" sz="2600" b="1" dirty="0">
                <a:solidFill>
                  <a:srgbClr val="2E75B6"/>
                </a:solidFill>
                <a:latin typeface="Trebuchet MS" pitchFamily="34" charset="0"/>
                <a:ea typeface="Trebuchet MS" pitchFamily="34" charset="-122"/>
                <a:cs typeface="Trebuchet MS" pitchFamily="34" charset="-120"/>
              </a:rPr>
              <a:t>Adam</a:t>
            </a:r>
            <a:endParaRPr lang="en-US" sz="2600" dirty="0"/>
          </a:p>
        </p:txBody>
      </p:sp>
      <p:sp>
        <p:nvSpPr>
          <p:cNvPr id="9" name="Text 7"/>
          <p:cNvSpPr/>
          <p:nvPr/>
        </p:nvSpPr>
        <p:spPr>
          <a:xfrm>
            <a:off x="3506724" y="3291840"/>
            <a:ext cx="2299716" cy="1005840"/>
          </a:xfrm>
          <a:prstGeom prst="rect">
            <a:avLst/>
          </a:prstGeom>
          <a:noFill/>
          <a:ln/>
        </p:spPr>
        <p:txBody>
          <a:bodyPr wrap="square" lIns="0" tIns="0" rIns="0" bIns="0" rtlCol="0" anchor="t"/>
          <a:lstStyle/>
          <a:p>
            <a:pPr marL="0" indent="0" algn="ctr">
              <a:lnSpc>
                <a:spcPct val="105000"/>
              </a:lnSpc>
              <a:buNone/>
            </a:pPr>
            <a:r>
              <a:rPr lang="en-US" sz="1650" dirty="0">
                <a:solidFill>
                  <a:srgbClr val="232A31"/>
                </a:solidFill>
                <a:latin typeface="Calibri" pitchFamily="34" charset="0"/>
                <a:ea typeface="Calibri" pitchFamily="34" charset="-122"/>
                <a:cs typeface="Calibri" pitchFamily="34" charset="-120"/>
              </a:rPr>
              <a:t>learning rate 1e-3</a:t>
            </a:r>
            <a:endParaRPr lang="en-US" sz="1650" dirty="0"/>
          </a:p>
          <a:p>
            <a:pPr marL="0" indent="0" algn="ctr">
              <a:lnSpc>
                <a:spcPct val="105000"/>
              </a:lnSpc>
              <a:buNone/>
            </a:pPr>
            <a:r>
              <a:rPr lang="en-US" sz="1650" dirty="0">
                <a:solidFill>
                  <a:srgbClr val="232A31"/>
                </a:solidFill>
                <a:latin typeface="Calibri" pitchFamily="34" charset="0"/>
                <a:ea typeface="Calibri" pitchFamily="34" charset="-122"/>
                <a:cs typeface="Calibri" pitchFamily="34" charset="-120"/>
              </a:rPr>
              <a:t>small batches</a:t>
            </a:r>
            <a:endParaRPr lang="en-US" sz="1650" dirty="0"/>
          </a:p>
        </p:txBody>
      </p:sp>
      <p:sp>
        <p:nvSpPr>
          <p:cNvPr id="10" name="Shape 8"/>
          <p:cNvSpPr/>
          <p:nvPr/>
        </p:nvSpPr>
        <p:spPr>
          <a:xfrm>
            <a:off x="6263640" y="2011680"/>
            <a:ext cx="2482596" cy="2468880"/>
          </a:xfrm>
          <a:prstGeom prst="roundRect">
            <a:avLst>
              <a:gd name="adj" fmla="val 2963"/>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11" name="Text 9"/>
          <p:cNvSpPr/>
          <p:nvPr/>
        </p:nvSpPr>
        <p:spPr>
          <a:xfrm>
            <a:off x="6355080" y="2286000"/>
            <a:ext cx="2299716" cy="868680"/>
          </a:xfrm>
          <a:prstGeom prst="rect">
            <a:avLst/>
          </a:prstGeom>
          <a:noFill/>
          <a:ln/>
        </p:spPr>
        <p:txBody>
          <a:bodyPr wrap="square" lIns="0" tIns="0" rIns="0" bIns="0" rtlCol="0" anchor="ctr"/>
          <a:lstStyle/>
          <a:p>
            <a:pPr marL="0" indent="0" algn="ctr">
              <a:lnSpc>
                <a:spcPct val="95000"/>
              </a:lnSpc>
              <a:buNone/>
            </a:pPr>
            <a:r>
              <a:rPr lang="en-US" sz="2600" b="1" dirty="0">
                <a:solidFill>
                  <a:srgbClr val="2E75B6"/>
                </a:solidFill>
                <a:latin typeface="Trebuchet MS" pitchFamily="34" charset="0"/>
                <a:ea typeface="Trebuchet MS" pitchFamily="34" charset="-122"/>
                <a:cs typeface="Trebuchet MS" pitchFamily="34" charset="-120"/>
              </a:rPr>
              <a:t>RTX 3060</a:t>
            </a:r>
            <a:endParaRPr lang="en-US" sz="2600" dirty="0"/>
          </a:p>
        </p:txBody>
      </p:sp>
      <p:sp>
        <p:nvSpPr>
          <p:cNvPr id="12" name="Text 10"/>
          <p:cNvSpPr/>
          <p:nvPr/>
        </p:nvSpPr>
        <p:spPr>
          <a:xfrm>
            <a:off x="6355080" y="3291840"/>
            <a:ext cx="2299716" cy="1005840"/>
          </a:xfrm>
          <a:prstGeom prst="rect">
            <a:avLst/>
          </a:prstGeom>
          <a:noFill/>
          <a:ln/>
        </p:spPr>
        <p:txBody>
          <a:bodyPr wrap="square" lIns="0" tIns="0" rIns="0" bIns="0" rtlCol="0" anchor="t"/>
          <a:lstStyle/>
          <a:p>
            <a:pPr marL="0" indent="0" algn="ctr">
              <a:lnSpc>
                <a:spcPct val="105000"/>
              </a:lnSpc>
              <a:buNone/>
            </a:pPr>
            <a:r>
              <a:rPr lang="en-US" sz="1650" dirty="0">
                <a:solidFill>
                  <a:srgbClr val="232A31"/>
                </a:solidFill>
                <a:latin typeface="Calibri" pitchFamily="34" charset="0"/>
                <a:ea typeface="Calibri" pitchFamily="34" charset="-122"/>
                <a:cs typeface="Calibri" pitchFamily="34" charset="-120"/>
              </a:rPr>
              <a:t>Intel i7-9750</a:t>
            </a:r>
            <a:endParaRPr lang="en-US" sz="1650" dirty="0"/>
          </a:p>
          <a:p>
            <a:pPr marL="0" indent="0" algn="ctr">
              <a:lnSpc>
                <a:spcPct val="105000"/>
              </a:lnSpc>
              <a:buNone/>
            </a:pPr>
            <a:r>
              <a:rPr lang="en-US" sz="1650" dirty="0">
                <a:solidFill>
                  <a:srgbClr val="232A31"/>
                </a:solidFill>
                <a:latin typeface="Calibri" pitchFamily="34" charset="0"/>
                <a:ea typeface="Calibri" pitchFamily="34" charset="-122"/>
                <a:cs typeface="Calibri" pitchFamily="34" charset="-120"/>
              </a:rPr>
              <a:t>16 GB RAM</a:t>
            </a:r>
            <a:endParaRPr lang="en-US" sz="1650" dirty="0"/>
          </a:p>
        </p:txBody>
      </p:sp>
      <p:sp>
        <p:nvSpPr>
          <p:cNvPr id="13" name="Shape 11"/>
          <p:cNvSpPr/>
          <p:nvPr/>
        </p:nvSpPr>
        <p:spPr>
          <a:xfrm>
            <a:off x="9111996" y="2011680"/>
            <a:ext cx="2482596" cy="2468880"/>
          </a:xfrm>
          <a:prstGeom prst="roundRect">
            <a:avLst>
              <a:gd name="adj" fmla="val 2963"/>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sp>
        <p:nvSpPr>
          <p:cNvPr id="14" name="Text 12"/>
          <p:cNvSpPr/>
          <p:nvPr/>
        </p:nvSpPr>
        <p:spPr>
          <a:xfrm>
            <a:off x="9203436" y="2286000"/>
            <a:ext cx="2299716" cy="868680"/>
          </a:xfrm>
          <a:prstGeom prst="rect">
            <a:avLst/>
          </a:prstGeom>
          <a:noFill/>
          <a:ln/>
        </p:spPr>
        <p:txBody>
          <a:bodyPr wrap="square" lIns="0" tIns="0" rIns="0" bIns="0" rtlCol="0" anchor="ctr"/>
          <a:lstStyle/>
          <a:p>
            <a:pPr marL="0" indent="0" algn="ctr">
              <a:lnSpc>
                <a:spcPct val="95000"/>
              </a:lnSpc>
              <a:buNone/>
            </a:pPr>
            <a:r>
              <a:rPr lang="en-US" sz="2600" b="1" dirty="0">
                <a:solidFill>
                  <a:srgbClr val="2E75B6"/>
                </a:solidFill>
                <a:latin typeface="Trebuchet MS" pitchFamily="34" charset="0"/>
                <a:ea typeface="Trebuchet MS" pitchFamily="34" charset="-122"/>
                <a:cs typeface="Trebuchet MS" pitchFamily="34" charset="-120"/>
              </a:rPr>
              <a:t>No perfect</a:t>
            </a:r>
            <a:endParaRPr lang="en-US" sz="2600" dirty="0"/>
          </a:p>
          <a:p>
            <a:pPr marL="0" indent="0" algn="ctr">
              <a:lnSpc>
                <a:spcPct val="95000"/>
              </a:lnSpc>
              <a:buNone/>
            </a:pPr>
            <a:r>
              <a:rPr lang="en-US" sz="2600" b="1" dirty="0">
                <a:solidFill>
                  <a:srgbClr val="2E75B6"/>
                </a:solidFill>
                <a:latin typeface="Trebuchet MS" pitchFamily="34" charset="0"/>
                <a:ea typeface="Trebuchet MS" pitchFamily="34" charset="-122"/>
                <a:cs typeface="Trebuchet MS" pitchFamily="34" charset="-120"/>
              </a:rPr>
              <a:t>image</a:t>
            </a:r>
            <a:endParaRPr lang="en-US" sz="2600" dirty="0"/>
          </a:p>
        </p:txBody>
      </p:sp>
      <p:sp>
        <p:nvSpPr>
          <p:cNvPr id="15" name="Text 13"/>
          <p:cNvSpPr/>
          <p:nvPr/>
        </p:nvSpPr>
        <p:spPr>
          <a:xfrm>
            <a:off x="9203436" y="3291840"/>
            <a:ext cx="2299716" cy="1005840"/>
          </a:xfrm>
          <a:prstGeom prst="rect">
            <a:avLst/>
          </a:prstGeom>
          <a:noFill/>
          <a:ln/>
        </p:spPr>
        <p:txBody>
          <a:bodyPr wrap="square" lIns="0" tIns="0" rIns="0" bIns="0" rtlCol="0" anchor="t"/>
          <a:lstStyle/>
          <a:p>
            <a:pPr marL="0" indent="0" algn="ctr">
              <a:lnSpc>
                <a:spcPct val="105000"/>
              </a:lnSpc>
              <a:buNone/>
            </a:pPr>
            <a:r>
              <a:rPr lang="en-US" sz="1650" dirty="0">
                <a:solidFill>
                  <a:srgbClr val="232A31"/>
                </a:solidFill>
                <a:latin typeface="Calibri" pitchFamily="34" charset="0"/>
                <a:ea typeface="Calibri" pitchFamily="34" charset="-122"/>
                <a:cs typeface="Calibri" pitchFamily="34" charset="-120"/>
              </a:rPr>
              <a:t>so we use</a:t>
            </a:r>
            <a:endParaRPr lang="en-US" sz="1650" dirty="0"/>
          </a:p>
          <a:p>
            <a:pPr marL="0" indent="0" algn="ctr">
              <a:lnSpc>
                <a:spcPct val="105000"/>
              </a:lnSpc>
              <a:buNone/>
            </a:pPr>
            <a:r>
              <a:rPr lang="en-US" sz="1650" dirty="0">
                <a:solidFill>
                  <a:srgbClr val="232A31"/>
                </a:solidFill>
                <a:latin typeface="Calibri" pitchFamily="34" charset="0"/>
                <a:ea typeface="Calibri" pitchFamily="34" charset="-122"/>
                <a:cs typeface="Calibri" pitchFamily="34" charset="-120"/>
              </a:rPr>
              <a:t>no-reference scores</a:t>
            </a:r>
            <a:endParaRPr lang="en-US" sz="1650" dirty="0"/>
          </a:p>
        </p:txBody>
      </p:sp>
      <p:sp>
        <p:nvSpPr>
          <p:cNvPr id="16" name="Shape 14"/>
          <p:cNvSpPr/>
          <p:nvPr/>
        </p:nvSpPr>
        <p:spPr>
          <a:xfrm>
            <a:off x="566928" y="4846320"/>
            <a:ext cx="11027664" cy="1143000"/>
          </a:xfrm>
          <a:prstGeom prst="roundRect">
            <a:avLst>
              <a:gd name="adj" fmla="val 6400"/>
            </a:avLst>
          </a:prstGeom>
          <a:solidFill>
            <a:srgbClr val="16385C"/>
          </a:solidFill>
          <a:ln/>
        </p:spPr>
        <p:txBody>
          <a:bodyPr/>
          <a:lstStyle/>
          <a:p>
            <a:endParaRPr lang="tr-TR"/>
          </a:p>
        </p:txBody>
      </p:sp>
      <p:sp>
        <p:nvSpPr>
          <p:cNvPr id="17" name="Text 15"/>
          <p:cNvSpPr/>
          <p:nvPr/>
        </p:nvSpPr>
        <p:spPr>
          <a:xfrm>
            <a:off x="841248" y="4846320"/>
            <a:ext cx="10479024" cy="1143000"/>
          </a:xfrm>
          <a:prstGeom prst="rect">
            <a:avLst/>
          </a:prstGeom>
          <a:noFill/>
          <a:ln/>
        </p:spPr>
        <p:txBody>
          <a:bodyPr wrap="square" lIns="0" tIns="0" rIns="0" bIns="0" rtlCol="0" anchor="ctr"/>
          <a:lstStyle/>
          <a:p>
            <a:pPr marL="0" indent="0" algn="ctr">
              <a:lnSpc>
                <a:spcPct val="105000"/>
              </a:lnSpc>
              <a:buNone/>
            </a:pPr>
            <a:r>
              <a:rPr lang="en-US" sz="1650" dirty="0">
                <a:solidFill>
                  <a:srgbClr val="CADCFC"/>
                </a:solidFill>
                <a:latin typeface="Calibri" pitchFamily="34" charset="0"/>
                <a:ea typeface="Calibri" pitchFamily="34" charset="-122"/>
                <a:cs typeface="Calibri" pitchFamily="34" charset="-120"/>
              </a:rPr>
              <a:t>Because there is no perfect reference image, we use four no-reference scores: </a:t>
            </a:r>
            <a:r>
              <a:rPr lang="en-US" sz="1650" b="1" dirty="0">
                <a:solidFill>
                  <a:srgbClr val="FFFFFF"/>
                </a:solidFill>
                <a:latin typeface="Calibri" pitchFamily="34" charset="0"/>
                <a:ea typeface="Calibri" pitchFamily="34" charset="-122"/>
                <a:cs typeface="Calibri" pitchFamily="34" charset="-120"/>
              </a:rPr>
              <a:t>NIQE and BRISQUE should be low (how natural and how distorted), while PSI and Entropy should be high (how sharp and how detailed).</a:t>
            </a:r>
            <a:endParaRPr lang="en-US" sz="1650" dirty="0"/>
          </a:p>
        </p:txBody>
      </p:sp>
      <p:sp>
        <p:nvSpPr>
          <p:cNvPr id="18" name="Text 16"/>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19" name="Text 17"/>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RESULTS</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Best score on every quality measure</a:t>
            </a:r>
            <a:endParaRPr lang="en-US" sz="3500" dirty="0"/>
          </a:p>
        </p:txBody>
      </p:sp>
      <p:sp>
        <p:nvSpPr>
          <p:cNvPr id="4" name="Shape 2"/>
          <p:cNvSpPr/>
          <p:nvPr/>
        </p:nvSpPr>
        <p:spPr>
          <a:xfrm>
            <a:off x="566928" y="1874520"/>
            <a:ext cx="5532120" cy="4069080"/>
          </a:xfrm>
          <a:prstGeom prst="roundRect">
            <a:avLst>
              <a:gd name="adj" fmla="val 1798"/>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pic>
        <p:nvPicPr>
          <p:cNvPr id="5" name="Image 0" descr="/sessions/pensive-beautiful-ramanujan/mnt/outputs/nff/chart_psi.png"/>
          <p:cNvPicPr>
            <a:picLocks noChangeAspect="1"/>
          </p:cNvPicPr>
          <p:nvPr/>
        </p:nvPicPr>
        <p:blipFill>
          <a:blip r:embed="rId3"/>
          <a:srcRect/>
          <a:stretch/>
        </p:blipFill>
        <p:spPr>
          <a:xfrm>
            <a:off x="731520" y="2103120"/>
            <a:ext cx="5212080" cy="3611880"/>
          </a:xfrm>
          <a:prstGeom prst="rect">
            <a:avLst/>
          </a:prstGeom>
        </p:spPr>
      </p:pic>
      <p:sp>
        <p:nvSpPr>
          <p:cNvPr id="6" name="Shape 3"/>
          <p:cNvSpPr/>
          <p:nvPr/>
        </p:nvSpPr>
        <p:spPr>
          <a:xfrm>
            <a:off x="6263640" y="1874520"/>
            <a:ext cx="5349240" cy="4069080"/>
          </a:xfrm>
          <a:prstGeom prst="roundRect">
            <a:avLst>
              <a:gd name="adj" fmla="val 1798"/>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pic>
        <p:nvPicPr>
          <p:cNvPr id="7" name="Image 1" descr="/sessions/pensive-beautiful-ramanujan/mnt/outputs/nff/chart_niqe.png"/>
          <p:cNvPicPr>
            <a:picLocks noChangeAspect="1"/>
          </p:cNvPicPr>
          <p:nvPr/>
        </p:nvPicPr>
        <p:blipFill>
          <a:blip r:embed="rId4"/>
          <a:srcRect/>
          <a:stretch/>
        </p:blipFill>
        <p:spPr>
          <a:xfrm>
            <a:off x="6400800" y="2103120"/>
            <a:ext cx="5074920" cy="3611880"/>
          </a:xfrm>
          <a:prstGeom prst="rect">
            <a:avLst/>
          </a:prstGeom>
        </p:spPr>
      </p:pic>
      <p:sp>
        <p:nvSpPr>
          <p:cNvPr id="8" name="Text 4"/>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9" name="Text 5"/>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RESULTS</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Full results — Stacks 1 &amp; 2</a:t>
            </a:r>
            <a:endParaRPr lang="en-US" sz="3500" dirty="0"/>
          </a:p>
        </p:txBody>
      </p:sp>
      <p:sp>
        <p:nvSpPr>
          <p:cNvPr id="4" name="Text 2"/>
          <p:cNvSpPr/>
          <p:nvPr/>
        </p:nvSpPr>
        <p:spPr>
          <a:xfrm>
            <a:off x="3703320" y="1627632"/>
            <a:ext cx="3566160" cy="274320"/>
          </a:xfrm>
          <a:prstGeom prst="rect">
            <a:avLst/>
          </a:prstGeom>
          <a:noFill/>
          <a:ln/>
        </p:spPr>
        <p:txBody>
          <a:bodyPr wrap="square" lIns="0" tIns="0" rIns="0" bIns="0" rtlCol="0" anchor="ctr"/>
          <a:lstStyle/>
          <a:p>
            <a:pPr marL="0" indent="0" algn="ctr">
              <a:buNone/>
            </a:pPr>
            <a:r>
              <a:rPr lang="en-US" sz="1300" b="1" dirty="0">
                <a:solidFill>
                  <a:srgbClr val="8A97A5"/>
                </a:solidFill>
                <a:latin typeface="Calibri" pitchFamily="34" charset="0"/>
                <a:ea typeface="Calibri" pitchFamily="34" charset="-122"/>
                <a:cs typeface="Calibri" pitchFamily="34" charset="-120"/>
              </a:rPr>
              <a:t>Photo Stack 1</a:t>
            </a:r>
            <a:endParaRPr lang="en-US" sz="1300" dirty="0"/>
          </a:p>
        </p:txBody>
      </p:sp>
      <p:sp>
        <p:nvSpPr>
          <p:cNvPr id="5" name="Text 3"/>
          <p:cNvSpPr/>
          <p:nvPr/>
        </p:nvSpPr>
        <p:spPr>
          <a:xfrm>
            <a:off x="7726680" y="1627632"/>
            <a:ext cx="3566160" cy="274320"/>
          </a:xfrm>
          <a:prstGeom prst="rect">
            <a:avLst/>
          </a:prstGeom>
          <a:noFill/>
          <a:ln/>
        </p:spPr>
        <p:txBody>
          <a:bodyPr wrap="square" lIns="0" tIns="0" rIns="0" bIns="0" rtlCol="0" anchor="ctr"/>
          <a:lstStyle/>
          <a:p>
            <a:pPr marL="0" indent="0" algn="ctr">
              <a:buNone/>
            </a:pPr>
            <a:r>
              <a:rPr lang="en-US" sz="1300" b="1" dirty="0">
                <a:solidFill>
                  <a:srgbClr val="8A97A5"/>
                </a:solidFill>
                <a:latin typeface="Calibri" pitchFamily="34" charset="0"/>
                <a:ea typeface="Calibri" pitchFamily="34" charset="-122"/>
                <a:cs typeface="Calibri" pitchFamily="34" charset="-120"/>
              </a:rPr>
              <a:t>Photo Stack 2</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gridCol w="1097280">
                  <a:extLst>
                    <a:ext uri="{9D8B030D-6E8A-4147-A177-3AD203B41FA5}">
                      <a16:colId xmlns:a16="http://schemas.microsoft.com/office/drawing/2014/main" val="20008"/>
                    </a:ext>
                  </a:extLst>
                </a:gridCol>
              </a:tblGrid>
              <a:tr h="384048">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Method</a:t>
                      </a:r>
                      <a:endParaRPr lang="en-US" sz="1300" dirty="0">
                        <a:latin typeface="Trebuchet MS" charset="0"/>
                        <a:ea typeface="Trebuchet MS" charset="0"/>
                        <a:cs typeface="Trebuchet MS"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NIQE↓</a:t>
                      </a:r>
                      <a:endParaRPr lang="en-US" sz="1300" dirty="0">
                        <a:latin typeface="Trebuchet MS" charset="0"/>
                        <a:ea typeface="Trebuchet MS" charset="0"/>
                        <a:cs typeface="Trebuchet MS"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BRISQUE↓</a:t>
                      </a:r>
                      <a:endParaRPr lang="en-US" sz="1300" dirty="0">
                        <a:latin typeface="Trebuchet MS" charset="0"/>
                        <a:ea typeface="Trebuchet MS" charset="0"/>
                        <a:cs typeface="Trebuchet MS"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PSI↑</a:t>
                      </a:r>
                      <a:endParaRPr lang="en-US" sz="1300" dirty="0">
                        <a:latin typeface="Trebuchet MS" charset="0"/>
                        <a:ea typeface="Trebuchet MS" charset="0"/>
                        <a:cs typeface="Trebuchet MS"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EN↑</a:t>
                      </a:r>
                      <a:endParaRPr lang="en-US" sz="1300" dirty="0">
                        <a:latin typeface="Trebuchet MS" charset="0"/>
                        <a:ea typeface="Trebuchet MS" charset="0"/>
                        <a:cs typeface="Trebuchet MS"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NIQE↓</a:t>
                      </a:r>
                      <a:endParaRPr lang="en-US" sz="1300" dirty="0">
                        <a:latin typeface="Trebuchet MS" charset="0"/>
                        <a:ea typeface="Trebuchet MS" charset="0"/>
                        <a:cs typeface="Trebuchet MS"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BRISQUE↓</a:t>
                      </a:r>
                      <a:endParaRPr lang="en-US" sz="1300" dirty="0">
                        <a:latin typeface="Trebuchet MS" charset="0"/>
                        <a:ea typeface="Trebuchet MS" charset="0"/>
                        <a:cs typeface="Trebuchet MS"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PSI↑</a:t>
                      </a:r>
                      <a:endParaRPr lang="en-US" sz="1300" dirty="0">
                        <a:latin typeface="Trebuchet MS" charset="0"/>
                        <a:ea typeface="Trebuchet MS" charset="0"/>
                        <a:cs typeface="Trebuchet MS"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EN↑</a:t>
                      </a:r>
                      <a:endParaRPr lang="en-US" sz="1300" dirty="0">
                        <a:latin typeface="Trebuchet MS" charset="0"/>
                        <a:ea typeface="Trebuchet MS" charset="0"/>
                        <a:cs typeface="Trebuchet MS"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extLst>
                  <a:ext uri="{0D108BD9-81ED-4DB2-BD59-A6C34878D82A}">
                    <a16:rowId xmlns:a16="http://schemas.microsoft.com/office/drawing/2014/main" val="10000"/>
                  </a:ext>
                </a:extLst>
              </a:tr>
              <a:tr h="384048">
                <a:tc>
                  <a:txBody>
                    <a:bodyPr/>
                    <a:lstStyle/>
                    <a:p>
                      <a:pPr marL="0" indent="0" algn="l">
                        <a:buNone/>
                      </a:pPr>
                      <a:r>
                        <a:rPr lang="en-US" sz="1300" b="1" dirty="0">
                          <a:solidFill>
                            <a:srgbClr val="232A31"/>
                          </a:solidFill>
                          <a:latin typeface="Calibri" pitchFamily="34" charset="0"/>
                          <a:ea typeface="Calibri" pitchFamily="34" charset="-122"/>
                          <a:cs typeface="Calibri" pitchFamily="34" charset="-120"/>
                        </a:rPr>
                        <a:t>Laplacian Pyramid</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8.68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52.60</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18.35</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4.41</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5.14</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43.53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33.48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7.27</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300" b="1" dirty="0">
                          <a:solidFill>
                            <a:srgbClr val="232A31"/>
                          </a:solidFill>
                          <a:latin typeface="Calibri" pitchFamily="34" charset="0"/>
                          <a:ea typeface="Calibri" pitchFamily="34" charset="-122"/>
                          <a:cs typeface="Calibri" pitchFamily="34" charset="-120"/>
                        </a:rPr>
                        <a:t>Gradient</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6.31</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47.48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26.25</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6.09</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12.68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53.46</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31.23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6.88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300" b="1" dirty="0">
                          <a:solidFill>
                            <a:srgbClr val="232A31"/>
                          </a:solidFill>
                          <a:latin typeface="Calibri" pitchFamily="34" charset="0"/>
                          <a:ea typeface="Calibri" pitchFamily="34" charset="-122"/>
                          <a:cs typeface="Calibri" pitchFamily="34" charset="-120"/>
                        </a:rPr>
                        <a:t>DCT</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4.66</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43.69</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30.16</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6.77</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6.88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48.32</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33.09</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7.17</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300" b="1" dirty="0">
                          <a:solidFill>
                            <a:srgbClr val="232A31"/>
                          </a:solidFill>
                          <a:latin typeface="Calibri" pitchFamily="34" charset="0"/>
                          <a:ea typeface="Calibri" pitchFamily="34" charset="-122"/>
                          <a:cs typeface="Calibri" pitchFamily="34" charset="-120"/>
                        </a:rPr>
                        <a:t>Wavelet Transform</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6.80</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48.46</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23.34</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6.57</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9.69</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51.30</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32.58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7.13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300" b="1" dirty="0">
                          <a:solidFill>
                            <a:srgbClr val="232A31"/>
                          </a:solidFill>
                          <a:latin typeface="Calibri" pitchFamily="34" charset="0"/>
                          <a:ea typeface="Calibri" pitchFamily="34" charset="-122"/>
                          <a:cs typeface="Calibri" pitchFamily="34" charset="-120"/>
                        </a:rPr>
                        <a:t>Cross Bilateral Filter</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8.43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55.34</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20.15</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5.97</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5.57</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46.89</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32.44</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7.24</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300" b="1" dirty="0">
                          <a:solidFill>
                            <a:srgbClr val="232A31"/>
                          </a:solidFill>
                          <a:latin typeface="Calibri" pitchFamily="34" charset="0"/>
                          <a:ea typeface="Calibri" pitchFamily="34" charset="-122"/>
                          <a:cs typeface="Calibri" pitchFamily="34" charset="-120"/>
                        </a:rPr>
                        <a:t>FMMEF</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8.15</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52.16</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23.36</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6.17</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6.00</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46.08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33.42</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7.18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lgn="l">
                        <a:buNone/>
                      </a:pPr>
                      <a:r>
                        <a:rPr lang="en-US" sz="1300" b="1" dirty="0">
                          <a:solidFill>
                            <a:srgbClr val="232A31"/>
                          </a:solidFill>
                          <a:latin typeface="Calibri" pitchFamily="34" charset="0"/>
                          <a:ea typeface="Calibri" pitchFamily="34" charset="-122"/>
                          <a:cs typeface="Calibri" pitchFamily="34" charset="-120"/>
                        </a:rPr>
                        <a:t>Guided Filtering</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6.53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47.46</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26.46</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6.33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4.51</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36.73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34.53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7.49</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300" b="1" dirty="0">
                          <a:solidFill>
                            <a:srgbClr val="232A31"/>
                          </a:solidFill>
                          <a:latin typeface="Calibri" pitchFamily="34" charset="0"/>
                          <a:ea typeface="Calibri" pitchFamily="34" charset="-122"/>
                          <a:cs typeface="Calibri" pitchFamily="34" charset="-120"/>
                        </a:rPr>
                        <a:t>Gabor Features</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4.85</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45.11</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28.99</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6.88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4.51</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35.97</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37.25</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32A31"/>
                          </a:solidFill>
                          <a:latin typeface="Calibri" pitchFamily="34" charset="0"/>
                          <a:ea typeface="Calibri" pitchFamily="34" charset="-122"/>
                          <a:cs typeface="Calibri" pitchFamily="34" charset="-120"/>
                        </a:rPr>
                        <a:t>7.48</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NFF (ours)</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4.01</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43.16</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31.63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7.01</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4.12</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33.19</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38.23</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7.52</a:t>
                      </a:r>
                      <a:endParaRPr lang="en-US" sz="1300" dirty="0">
                        <a:latin typeface="Calibri" charset="0"/>
                        <a:ea typeface="Calibri" charset="0"/>
                        <a:cs typeface="Calibri" charset="0"/>
                      </a:endParaRPr>
                    </a:p>
                  </a:txBody>
                  <a:tcPr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extLst>
                  <a:ext uri="{0D108BD9-81ED-4DB2-BD59-A6C34878D82A}">
                    <a16:rowId xmlns:a16="http://schemas.microsoft.com/office/drawing/2014/main" val="10009"/>
                  </a:ext>
                </a:extLst>
              </a:tr>
            </a:tbl>
          </a:graphicData>
        </a:graphic>
      </p:graphicFrame>
      <p:sp>
        <p:nvSpPr>
          <p:cNvPr id="7" name="Text 4"/>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250" i="1" dirty="0">
                <a:solidFill>
                  <a:srgbClr val="8A97A5"/>
                </a:solidFill>
                <a:latin typeface="Calibri" pitchFamily="34" charset="0"/>
                <a:ea typeface="Calibri" pitchFamily="34" charset="-122"/>
                <a:cs typeface="Calibri" pitchFamily="34" charset="-120"/>
              </a:rPr>
              <a:t>Lower is better for NIQE and BRISQUE; higher is better for PSI and Entropy.  Stacks 3 &amp; 4 show the same result — NFF best on all scores.</a:t>
            </a:r>
            <a:endParaRPr lang="en-US" sz="1250" dirty="0"/>
          </a:p>
        </p:txBody>
      </p:sp>
      <p:sp>
        <p:nvSpPr>
          <p:cNvPr id="8" name="Text 5"/>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9" name="Text 6"/>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RESULTS</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Sharper, cleaner results</a:t>
            </a:r>
            <a:endParaRPr lang="en-US" sz="3500" dirty="0"/>
          </a:p>
        </p:txBody>
      </p:sp>
      <p:sp>
        <p:nvSpPr>
          <p:cNvPr id="4" name="Shape 2"/>
          <p:cNvSpPr/>
          <p:nvPr/>
        </p:nvSpPr>
        <p:spPr>
          <a:xfrm>
            <a:off x="566928" y="1828800"/>
            <a:ext cx="5074920" cy="4160520"/>
          </a:xfrm>
          <a:prstGeom prst="roundRect">
            <a:avLst>
              <a:gd name="adj" fmla="val 1758"/>
            </a:avLst>
          </a:prstGeom>
          <a:solidFill>
            <a:srgbClr val="FFFFFF"/>
          </a:solidFill>
          <a:ln w="12700">
            <a:solidFill>
              <a:srgbClr val="DCE3EA"/>
            </a:solidFill>
            <a:prstDash val="solid"/>
          </a:ln>
          <a:effectLst>
            <a:outerShdw blurRad="88900" dist="38100" dir="8100000" algn="bl" rotWithShape="0">
              <a:srgbClr val="8AA0B5">
                <a:alpha val="28000"/>
              </a:srgbClr>
            </a:outerShdw>
          </a:effectLst>
        </p:spPr>
        <p:txBody>
          <a:bodyPr/>
          <a:lstStyle/>
          <a:p>
            <a:endParaRPr lang="tr-TR"/>
          </a:p>
        </p:txBody>
      </p:sp>
      <p:pic>
        <p:nvPicPr>
          <p:cNvPr id="5" name="Image 0" descr="/sessions/pensive-beautiful-ramanujan/mnt/outputs/nff/fig3_results.png"/>
          <p:cNvPicPr>
            <a:picLocks noChangeAspect="1"/>
          </p:cNvPicPr>
          <p:nvPr/>
        </p:nvPicPr>
        <p:blipFill>
          <a:blip r:embed="rId3"/>
          <a:srcRect/>
          <a:stretch/>
        </p:blipFill>
        <p:spPr>
          <a:xfrm>
            <a:off x="749808" y="2011680"/>
            <a:ext cx="4709160" cy="3794760"/>
          </a:xfrm>
          <a:prstGeom prst="rect">
            <a:avLst/>
          </a:prstGeom>
        </p:spPr>
      </p:pic>
      <p:sp>
        <p:nvSpPr>
          <p:cNvPr id="6" name="Text 3"/>
          <p:cNvSpPr/>
          <p:nvPr/>
        </p:nvSpPr>
        <p:spPr>
          <a:xfrm>
            <a:off x="5989320" y="2286000"/>
            <a:ext cx="5623560" cy="3474720"/>
          </a:xfrm>
          <a:prstGeom prst="rect">
            <a:avLst/>
          </a:prstGeom>
          <a:noFill/>
          <a:ln/>
        </p:spPr>
        <p:txBody>
          <a:bodyPr wrap="square" lIns="0" tIns="0" rIns="0" bIns="0" rtlCol="0" anchor="ctr"/>
          <a:lstStyle/>
          <a:p>
            <a:pPr marL="0" indent="0">
              <a:lnSpc>
                <a:spcPct val="105000"/>
              </a:lnSpc>
              <a:spcAft>
                <a:spcPts val="1200"/>
              </a:spcAft>
              <a:buNone/>
            </a:pPr>
            <a:r>
              <a:rPr lang="en-US" sz="2100" b="1" dirty="0">
                <a:solidFill>
                  <a:srgbClr val="16385C"/>
                </a:solidFill>
                <a:latin typeface="Calibri" pitchFamily="34" charset="0"/>
                <a:ea typeface="Calibri" pitchFamily="34" charset="-122"/>
                <a:cs typeface="Calibri" pitchFamily="34" charset="-120"/>
              </a:rPr>
              <a:t>In each row,</a:t>
            </a:r>
            <a:r>
              <a:rPr lang="en-US" sz="2100" dirty="0">
                <a:solidFill>
                  <a:srgbClr val="232A31"/>
                </a:solidFill>
                <a:latin typeface="Calibri" pitchFamily="34" charset="0"/>
                <a:ea typeface="Calibri" pitchFamily="34" charset="-122"/>
                <a:cs typeface="Calibri" pitchFamily="34" charset="-120"/>
              </a:rPr>
              <a:t> the columns are Gabor, DCT, and our NFF, from left to right.</a:t>
            </a:r>
            <a:endParaRPr lang="en-US" sz="2100" dirty="0"/>
          </a:p>
          <a:p>
            <a:pPr marL="0" indent="0">
              <a:lnSpc>
                <a:spcPct val="105000"/>
              </a:lnSpc>
              <a:spcAft>
                <a:spcPts val="1200"/>
              </a:spcAft>
              <a:buNone/>
            </a:pPr>
            <a:endParaRPr lang="en-US" sz="2100" dirty="0"/>
          </a:p>
          <a:p>
            <a:pPr marL="342900" indent="-342900">
              <a:lnSpc>
                <a:spcPct val="105000"/>
              </a:lnSpc>
              <a:spcAft>
                <a:spcPts val="1200"/>
              </a:spcAft>
              <a:buSzPct val="100000"/>
              <a:buChar char="•"/>
            </a:pPr>
            <a:r>
              <a:rPr lang="en-US" sz="2100" dirty="0">
                <a:solidFill>
                  <a:srgbClr val="232A31"/>
                </a:solidFill>
                <a:latin typeface="Calibri" pitchFamily="34" charset="0"/>
                <a:ea typeface="Calibri" pitchFamily="34" charset="-122"/>
                <a:cs typeface="Calibri" pitchFamily="34" charset="-120"/>
              </a:rPr>
              <a:t>NFF removes the leftover blur and edge errors of older methods.</a:t>
            </a:r>
            <a:endParaRPr lang="en-US" sz="2100" dirty="0"/>
          </a:p>
          <a:p>
            <a:pPr marL="342900" indent="-342900">
              <a:lnSpc>
                <a:spcPct val="105000"/>
              </a:lnSpc>
              <a:spcAft>
                <a:spcPts val="1200"/>
              </a:spcAft>
              <a:buSzPct val="100000"/>
              <a:buChar char="•"/>
            </a:pPr>
            <a:r>
              <a:rPr lang="en-US" sz="2100" dirty="0">
                <a:solidFill>
                  <a:srgbClr val="232A31"/>
                </a:solidFill>
                <a:latin typeface="Calibri" pitchFamily="34" charset="0"/>
                <a:ea typeface="Calibri" pitchFamily="34" charset="-122"/>
                <a:cs typeface="Calibri" pitchFamily="34" charset="-120"/>
              </a:rPr>
              <a:t>Edges and small details look clearly sharper.</a:t>
            </a:r>
            <a:endParaRPr lang="en-US" sz="2100" dirty="0"/>
          </a:p>
          <a:p>
            <a:pPr marL="342900" indent="-342900">
              <a:lnSpc>
                <a:spcPct val="105000"/>
              </a:lnSpc>
              <a:spcAft>
                <a:spcPts val="1200"/>
              </a:spcAft>
              <a:buSzPct val="100000"/>
              <a:buChar char="•"/>
            </a:pPr>
            <a:r>
              <a:rPr lang="en-US" sz="2100" dirty="0">
                <a:solidFill>
                  <a:srgbClr val="232A31"/>
                </a:solidFill>
                <a:latin typeface="Calibri" pitchFamily="34" charset="0"/>
                <a:ea typeface="Calibri" pitchFamily="34" charset="-122"/>
                <a:cs typeface="Calibri" pitchFamily="34" charset="-120"/>
              </a:rPr>
              <a:t>The result is smooth and natural, with no seams.</a:t>
            </a:r>
            <a:endParaRPr lang="en-US" sz="2100" dirty="0"/>
          </a:p>
        </p:txBody>
      </p:sp>
      <p:sp>
        <p:nvSpPr>
          <p:cNvPr id="7" name="Text 4"/>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8" name="Text 5"/>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marL="0" indent="0">
              <a:buNone/>
            </a:pPr>
            <a:r>
              <a:rPr lang="en-US" sz="1700" b="1" kern="0" spc="300" dirty="0">
                <a:solidFill>
                  <a:srgbClr val="2E75B6"/>
                </a:solidFill>
                <a:latin typeface="Trebuchet MS" pitchFamily="34" charset="0"/>
                <a:ea typeface="Trebuchet MS" pitchFamily="34" charset="-122"/>
                <a:cs typeface="Trebuchet MS" pitchFamily="34" charset="-120"/>
              </a:rPr>
              <a:t>DISCUSSION</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marL="0" indent="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Why this approach wins</a:t>
            </a:r>
            <a:endParaRPr lang="en-US" sz="3500" dirty="0"/>
          </a:p>
        </p:txBody>
      </p:sp>
      <p:sp>
        <p:nvSpPr>
          <p:cNvPr id="4" name="Text 2"/>
          <p:cNvSpPr/>
          <p:nvPr/>
        </p:nvSpPr>
        <p:spPr>
          <a:xfrm>
            <a:off x="566928" y="2103120"/>
            <a:ext cx="5943600" cy="3657600"/>
          </a:xfrm>
          <a:prstGeom prst="rect">
            <a:avLst/>
          </a:prstGeom>
          <a:noFill/>
          <a:ln/>
        </p:spPr>
        <p:txBody>
          <a:bodyPr wrap="square" lIns="0" tIns="0" rIns="0" bIns="0" rtlCol="0" anchor="ctr"/>
          <a:lstStyle/>
          <a:p>
            <a:pPr marL="342900" indent="-342900">
              <a:lnSpc>
                <a:spcPct val="105000"/>
              </a:lnSpc>
              <a:spcAft>
                <a:spcPts val="1800"/>
              </a:spcAft>
              <a:buSzPct val="100000"/>
              <a:buChar char="•"/>
            </a:pPr>
            <a:r>
              <a:rPr lang="en-US" sz="2200" dirty="0">
                <a:solidFill>
                  <a:srgbClr val="232A31"/>
                </a:solidFill>
                <a:latin typeface="Calibri" pitchFamily="34" charset="0"/>
                <a:ea typeface="Calibri" pitchFamily="34" charset="-122"/>
                <a:cs typeface="Calibri" pitchFamily="34" charset="-120"/>
              </a:rPr>
              <a:t>A smooth model avoids the seams of pixel-picking methods.</a:t>
            </a:r>
            <a:endParaRPr lang="en-US" sz="2200" dirty="0"/>
          </a:p>
          <a:p>
            <a:pPr marL="342900" indent="-342900">
              <a:lnSpc>
                <a:spcPct val="105000"/>
              </a:lnSpc>
              <a:spcAft>
                <a:spcPts val="1800"/>
              </a:spcAft>
              <a:buSzPct val="100000"/>
              <a:buChar char="•"/>
            </a:pPr>
            <a:r>
              <a:rPr lang="en-US" sz="2200" dirty="0">
                <a:solidFill>
                  <a:srgbClr val="232A31"/>
                </a:solidFill>
                <a:latin typeface="Calibri" pitchFamily="34" charset="0"/>
                <a:ea typeface="Calibri" pitchFamily="34" charset="-122"/>
                <a:cs typeface="Calibri" pitchFamily="34" charset="-120"/>
              </a:rPr>
              <a:t>Turning positions into numbers brings back the fine detail a network would lose.</a:t>
            </a:r>
            <a:endParaRPr lang="en-US" sz="2200" dirty="0"/>
          </a:p>
          <a:p>
            <a:pPr marL="342900" indent="-342900">
              <a:lnSpc>
                <a:spcPct val="105000"/>
              </a:lnSpc>
              <a:spcAft>
                <a:spcPts val="1800"/>
              </a:spcAft>
              <a:buSzPct val="100000"/>
              <a:buChar char="•"/>
            </a:pPr>
            <a:r>
              <a:rPr lang="en-US" sz="2200" dirty="0">
                <a:solidFill>
                  <a:srgbClr val="232A31"/>
                </a:solidFill>
                <a:latin typeface="Calibri" pitchFamily="34" charset="0"/>
                <a:ea typeface="Calibri" pitchFamily="34" charset="-122"/>
                <a:cs typeface="Calibri" pitchFamily="34" charset="-120"/>
              </a:rPr>
              <a:t>Because it learns a smooth result, it handles small shifts in the stack well.</a:t>
            </a:r>
            <a:endParaRPr lang="en-US" sz="2200" dirty="0"/>
          </a:p>
          <a:p>
            <a:pPr marL="342900" indent="-342900">
              <a:lnSpc>
                <a:spcPct val="105000"/>
              </a:lnSpc>
              <a:spcAft>
                <a:spcPts val="1800"/>
              </a:spcAft>
              <a:buSzPct val="100000"/>
              <a:buChar char="•"/>
            </a:pPr>
            <a:r>
              <a:rPr lang="en-US" sz="2200" dirty="0">
                <a:solidFill>
                  <a:srgbClr val="232A31"/>
                </a:solidFill>
                <a:latin typeface="Calibri" pitchFamily="34" charset="0"/>
                <a:ea typeface="Calibri" pitchFamily="34" charset="-122"/>
                <a:cs typeface="Calibri" pitchFamily="34" charset="-120"/>
              </a:rPr>
              <a:t>It learns on its own and fits each sample without any hand-tuning.</a:t>
            </a:r>
            <a:endParaRPr lang="en-US" sz="2200" dirty="0"/>
          </a:p>
        </p:txBody>
      </p:sp>
      <p:sp>
        <p:nvSpPr>
          <p:cNvPr id="5" name="Shape 3"/>
          <p:cNvSpPr/>
          <p:nvPr/>
        </p:nvSpPr>
        <p:spPr>
          <a:xfrm>
            <a:off x="6858000" y="2148840"/>
            <a:ext cx="4754880" cy="3566160"/>
          </a:xfrm>
          <a:prstGeom prst="roundRect">
            <a:avLst>
              <a:gd name="adj" fmla="val 2051"/>
            </a:avLst>
          </a:prstGeom>
          <a:solidFill>
            <a:srgbClr val="16385C"/>
          </a:solidFill>
          <a:ln w="12700">
            <a:solidFill>
              <a:srgbClr val="16385C"/>
            </a:solidFill>
            <a:prstDash val="solid"/>
          </a:ln>
          <a:effectLst>
            <a:outerShdw blurRad="88900" dist="38100" dir="8100000" algn="bl" rotWithShape="0">
              <a:srgbClr val="8AA0B5">
                <a:alpha val="28000"/>
              </a:srgbClr>
            </a:outerShdw>
          </a:effectLst>
        </p:spPr>
        <p:txBody>
          <a:bodyPr/>
          <a:lstStyle/>
          <a:p>
            <a:endParaRPr lang="tr-TR"/>
          </a:p>
        </p:txBody>
      </p:sp>
      <p:sp>
        <p:nvSpPr>
          <p:cNvPr id="6" name="Text 4"/>
          <p:cNvSpPr/>
          <p:nvPr/>
        </p:nvSpPr>
        <p:spPr>
          <a:xfrm>
            <a:off x="7132320" y="2514600"/>
            <a:ext cx="4206240" cy="45720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Best in class</a:t>
            </a:r>
            <a:endParaRPr lang="en-US" sz="2200" dirty="0"/>
          </a:p>
        </p:txBody>
      </p:sp>
      <p:sp>
        <p:nvSpPr>
          <p:cNvPr id="7" name="Text 5"/>
          <p:cNvSpPr/>
          <p:nvPr/>
        </p:nvSpPr>
        <p:spPr>
          <a:xfrm>
            <a:off x="7132320" y="3200400"/>
            <a:ext cx="4206240" cy="2194560"/>
          </a:xfrm>
          <a:prstGeom prst="rect">
            <a:avLst/>
          </a:prstGeom>
          <a:noFill/>
          <a:ln/>
        </p:spPr>
        <p:txBody>
          <a:bodyPr wrap="square" lIns="0" tIns="0" rIns="0" bIns="0" rtlCol="0" anchor="ctr"/>
          <a:lstStyle/>
          <a:p>
            <a:pPr marL="0" indent="0">
              <a:lnSpc>
                <a:spcPct val="110000"/>
              </a:lnSpc>
              <a:spcAft>
                <a:spcPts val="600"/>
              </a:spcAft>
              <a:buNone/>
            </a:pPr>
            <a:r>
              <a:rPr lang="en-US" sz="1800" dirty="0">
                <a:solidFill>
                  <a:srgbClr val="CADCFC"/>
                </a:solidFill>
                <a:latin typeface="Calibri" pitchFamily="34" charset="0"/>
                <a:ea typeface="Calibri" pitchFamily="34" charset="-122"/>
                <a:cs typeface="Calibri" pitchFamily="34" charset="-120"/>
              </a:rPr>
              <a:t>NFF scores best on all four measures — NIQE, BRISQUE, PSI and Entropy — across every photo stack.</a:t>
            </a:r>
            <a:endParaRPr lang="en-US" sz="1800" dirty="0"/>
          </a:p>
          <a:p>
            <a:pPr marL="0" indent="0">
              <a:lnSpc>
                <a:spcPct val="110000"/>
              </a:lnSpc>
              <a:spcAft>
                <a:spcPts val="600"/>
              </a:spcAft>
              <a:buNone/>
            </a:pPr>
            <a:endParaRPr lang="en-US" sz="1800" dirty="0"/>
          </a:p>
          <a:p>
            <a:pPr marL="0" indent="0">
              <a:lnSpc>
                <a:spcPct val="110000"/>
              </a:lnSpc>
              <a:spcAft>
                <a:spcPts val="600"/>
              </a:spcAft>
              <a:buNone/>
            </a:pPr>
            <a:r>
              <a:rPr lang="en-US" sz="1800" b="1" dirty="0">
                <a:solidFill>
                  <a:srgbClr val="FFFFFF"/>
                </a:solidFill>
                <a:latin typeface="Calibri" pitchFamily="34" charset="0"/>
                <a:ea typeface="Calibri" pitchFamily="34" charset="-122"/>
                <a:cs typeface="Calibri" pitchFamily="34" charset="-120"/>
              </a:rPr>
              <a:t>The method stays robust, lightweight and flexible.</a:t>
            </a:r>
            <a:endParaRPr lang="en-US" sz="1800" dirty="0"/>
          </a:p>
        </p:txBody>
      </p:sp>
      <p:sp>
        <p:nvSpPr>
          <p:cNvPr id="8" name="Text 6"/>
          <p:cNvSpPr/>
          <p:nvPr/>
        </p:nvSpPr>
        <p:spPr>
          <a:xfrm>
            <a:off x="566928" y="6473952"/>
            <a:ext cx="10149840" cy="274320"/>
          </a:xfrm>
          <a:prstGeom prst="rect">
            <a:avLst/>
          </a:prstGeom>
          <a:noFill/>
          <a:ln/>
        </p:spPr>
        <p:txBody>
          <a:bodyPr wrap="square" lIns="0" tIns="0" rIns="0" bIns="0" rtlCol="0" anchor="ctr"/>
          <a:lstStyle/>
          <a:p>
            <a:pPr marL="0" indent="0">
              <a:buNone/>
            </a:pPr>
            <a:r>
              <a:rPr lang="en-US" sz="1050" i="1" dirty="0">
                <a:solidFill>
                  <a:srgbClr val="8A97A5"/>
                </a:solidFill>
                <a:latin typeface="Calibri" pitchFamily="34" charset="0"/>
                <a:ea typeface="Calibri" pitchFamily="34" charset="-122"/>
                <a:cs typeface="Calibri" pitchFamily="34" charset="-120"/>
              </a:rPr>
              <a:t>A Novel Neuro-Focus Fusion Framework for Fully Focused Microscopic Imaging</a:t>
            </a:r>
            <a:endParaRPr lang="en-US" sz="1050" dirty="0"/>
          </a:p>
        </p:txBody>
      </p:sp>
      <p:sp>
        <p:nvSpPr>
          <p:cNvPr id="9" name="Text 7"/>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1050" dirty="0">
                <a:solidFill>
                  <a:srgbClr val="8A97A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385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6385C"/>
          </a:solidFill>
          <a:ln/>
        </p:spPr>
        <p:txBody>
          <a:bodyPr/>
          <a:lstStyle/>
          <a:p>
            <a:endParaRPr lang="tr-TR"/>
          </a:p>
        </p:txBody>
      </p:sp>
      <p:sp>
        <p:nvSpPr>
          <p:cNvPr id="3" name="Text 1"/>
          <p:cNvSpPr/>
          <p:nvPr/>
        </p:nvSpPr>
        <p:spPr>
          <a:xfrm>
            <a:off x="822960" y="731520"/>
            <a:ext cx="7315200" cy="365760"/>
          </a:xfrm>
          <a:prstGeom prst="rect">
            <a:avLst/>
          </a:prstGeom>
          <a:noFill/>
          <a:ln/>
        </p:spPr>
        <p:txBody>
          <a:bodyPr wrap="square" lIns="0" tIns="0" rIns="0" bIns="0" rtlCol="0" anchor="ctr"/>
          <a:lstStyle/>
          <a:p>
            <a:pPr marL="0" indent="0">
              <a:buNone/>
            </a:pPr>
            <a:r>
              <a:rPr lang="en-US" sz="1700" b="1" kern="0" spc="400" dirty="0">
                <a:solidFill>
                  <a:srgbClr val="CADCFC"/>
                </a:solidFill>
                <a:latin typeface="Trebuchet MS" pitchFamily="34" charset="0"/>
                <a:ea typeface="Trebuchet MS" pitchFamily="34" charset="-122"/>
                <a:cs typeface="Trebuchet MS" pitchFamily="34" charset="-120"/>
              </a:rPr>
              <a:t>CONCLUSION</a:t>
            </a:r>
            <a:endParaRPr lang="en-US" sz="1700" dirty="0"/>
          </a:p>
        </p:txBody>
      </p:sp>
      <p:sp>
        <p:nvSpPr>
          <p:cNvPr id="4" name="Text 2"/>
          <p:cNvSpPr/>
          <p:nvPr/>
        </p:nvSpPr>
        <p:spPr>
          <a:xfrm>
            <a:off x="822960" y="1234440"/>
            <a:ext cx="10058400" cy="82296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Takeaways</a:t>
            </a:r>
            <a:endParaRPr lang="en-US" sz="3600" dirty="0"/>
          </a:p>
        </p:txBody>
      </p:sp>
      <p:sp>
        <p:nvSpPr>
          <p:cNvPr id="5" name="Shape 3"/>
          <p:cNvSpPr/>
          <p:nvPr/>
        </p:nvSpPr>
        <p:spPr>
          <a:xfrm>
            <a:off x="822960" y="2377440"/>
            <a:ext cx="603504" cy="603504"/>
          </a:xfrm>
          <a:prstGeom prst="ellipse">
            <a:avLst/>
          </a:prstGeom>
          <a:solidFill>
            <a:srgbClr val="C0504D"/>
          </a:solidFill>
          <a:ln/>
        </p:spPr>
        <p:txBody>
          <a:bodyPr/>
          <a:lstStyle/>
          <a:p>
            <a:endParaRPr lang="tr-TR"/>
          </a:p>
        </p:txBody>
      </p:sp>
      <p:sp>
        <p:nvSpPr>
          <p:cNvPr id="6" name="Text 4"/>
          <p:cNvSpPr/>
          <p:nvPr/>
        </p:nvSpPr>
        <p:spPr>
          <a:xfrm>
            <a:off x="822960" y="2377440"/>
            <a:ext cx="603504" cy="603504"/>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1</a:t>
            </a:r>
            <a:endParaRPr lang="en-US" sz="2400" dirty="0"/>
          </a:p>
        </p:txBody>
      </p:sp>
      <p:sp>
        <p:nvSpPr>
          <p:cNvPr id="7" name="Text 5"/>
          <p:cNvSpPr/>
          <p:nvPr/>
        </p:nvSpPr>
        <p:spPr>
          <a:xfrm>
            <a:off x="1645920" y="2194560"/>
            <a:ext cx="9692640" cy="960120"/>
          </a:xfrm>
          <a:prstGeom prst="rect">
            <a:avLst/>
          </a:prstGeom>
          <a:noFill/>
          <a:ln/>
        </p:spPr>
        <p:txBody>
          <a:bodyPr wrap="square" lIns="0" tIns="0" rIns="0" bIns="0" rtlCol="0" anchor="ctr"/>
          <a:lstStyle/>
          <a:p>
            <a:pPr marL="0" indent="0">
              <a:lnSpc>
                <a:spcPct val="103000"/>
              </a:lnSpc>
              <a:buNone/>
            </a:pPr>
            <a:r>
              <a:rPr lang="en-US" sz="2100" dirty="0">
                <a:solidFill>
                  <a:srgbClr val="FFFFFF"/>
                </a:solidFill>
                <a:latin typeface="Calibri" pitchFamily="34" charset="0"/>
                <a:ea typeface="Calibri" pitchFamily="34" charset="-122"/>
                <a:cs typeface="Calibri" pitchFamily="34" charset="-120"/>
              </a:rPr>
              <a:t>NFF learns the fully sharp image as one smooth function, instead of picking pixels.</a:t>
            </a:r>
            <a:endParaRPr lang="en-US" sz="2100" dirty="0"/>
          </a:p>
        </p:txBody>
      </p:sp>
      <p:sp>
        <p:nvSpPr>
          <p:cNvPr id="8" name="Shape 6"/>
          <p:cNvSpPr/>
          <p:nvPr/>
        </p:nvSpPr>
        <p:spPr>
          <a:xfrm>
            <a:off x="822960" y="3493008"/>
            <a:ext cx="603504" cy="603504"/>
          </a:xfrm>
          <a:prstGeom prst="ellipse">
            <a:avLst/>
          </a:prstGeom>
          <a:solidFill>
            <a:srgbClr val="C0504D"/>
          </a:solidFill>
          <a:ln/>
        </p:spPr>
        <p:txBody>
          <a:bodyPr/>
          <a:lstStyle/>
          <a:p>
            <a:endParaRPr lang="tr-TR"/>
          </a:p>
        </p:txBody>
      </p:sp>
      <p:sp>
        <p:nvSpPr>
          <p:cNvPr id="9" name="Text 7"/>
          <p:cNvSpPr/>
          <p:nvPr/>
        </p:nvSpPr>
        <p:spPr>
          <a:xfrm>
            <a:off x="822960" y="3493008"/>
            <a:ext cx="603504" cy="603504"/>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2</a:t>
            </a:r>
            <a:endParaRPr lang="en-US" sz="2400" dirty="0"/>
          </a:p>
        </p:txBody>
      </p:sp>
      <p:sp>
        <p:nvSpPr>
          <p:cNvPr id="10" name="Text 8"/>
          <p:cNvSpPr/>
          <p:nvPr/>
        </p:nvSpPr>
        <p:spPr>
          <a:xfrm>
            <a:off x="1645920" y="3310128"/>
            <a:ext cx="9692640" cy="960120"/>
          </a:xfrm>
          <a:prstGeom prst="rect">
            <a:avLst/>
          </a:prstGeom>
          <a:noFill/>
          <a:ln/>
        </p:spPr>
        <p:txBody>
          <a:bodyPr wrap="square" lIns="0" tIns="0" rIns="0" bIns="0" rtlCol="0" anchor="ctr"/>
          <a:lstStyle/>
          <a:p>
            <a:pPr marL="0" indent="0">
              <a:lnSpc>
                <a:spcPct val="103000"/>
              </a:lnSpc>
              <a:buNone/>
            </a:pPr>
            <a:r>
              <a:rPr lang="en-US" sz="2100" dirty="0">
                <a:solidFill>
                  <a:srgbClr val="FFFFFF"/>
                </a:solidFill>
                <a:latin typeface="Calibri" pitchFamily="34" charset="0"/>
                <a:ea typeface="Calibri" pitchFamily="34" charset="-122"/>
                <a:cs typeface="Calibri" pitchFamily="34" charset="-120"/>
              </a:rPr>
              <a:t>It gets the best scores on all four quality measures across very different samples.</a:t>
            </a:r>
            <a:endParaRPr lang="en-US" sz="2100" dirty="0"/>
          </a:p>
        </p:txBody>
      </p:sp>
      <p:sp>
        <p:nvSpPr>
          <p:cNvPr id="11" name="Shape 9"/>
          <p:cNvSpPr/>
          <p:nvPr/>
        </p:nvSpPr>
        <p:spPr>
          <a:xfrm>
            <a:off x="822960" y="4608576"/>
            <a:ext cx="603504" cy="603504"/>
          </a:xfrm>
          <a:prstGeom prst="ellipse">
            <a:avLst/>
          </a:prstGeom>
          <a:solidFill>
            <a:srgbClr val="C0504D"/>
          </a:solidFill>
          <a:ln/>
        </p:spPr>
        <p:txBody>
          <a:bodyPr/>
          <a:lstStyle/>
          <a:p>
            <a:endParaRPr lang="tr-TR"/>
          </a:p>
        </p:txBody>
      </p:sp>
      <p:sp>
        <p:nvSpPr>
          <p:cNvPr id="12" name="Text 10"/>
          <p:cNvSpPr/>
          <p:nvPr/>
        </p:nvSpPr>
        <p:spPr>
          <a:xfrm>
            <a:off x="822960" y="4608576"/>
            <a:ext cx="603504" cy="603504"/>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3</a:t>
            </a:r>
            <a:endParaRPr lang="en-US" sz="2400" dirty="0"/>
          </a:p>
        </p:txBody>
      </p:sp>
      <p:sp>
        <p:nvSpPr>
          <p:cNvPr id="13" name="Text 11"/>
          <p:cNvSpPr/>
          <p:nvPr/>
        </p:nvSpPr>
        <p:spPr>
          <a:xfrm>
            <a:off x="1645920" y="4425696"/>
            <a:ext cx="9692640" cy="960120"/>
          </a:xfrm>
          <a:prstGeom prst="rect">
            <a:avLst/>
          </a:prstGeom>
          <a:noFill/>
          <a:ln/>
        </p:spPr>
        <p:txBody>
          <a:bodyPr wrap="square" lIns="0" tIns="0" rIns="0" bIns="0" rtlCol="0" anchor="ctr"/>
          <a:lstStyle/>
          <a:p>
            <a:pPr marL="0" indent="0">
              <a:lnSpc>
                <a:spcPct val="103000"/>
              </a:lnSpc>
              <a:buNone/>
            </a:pPr>
            <a:r>
              <a:rPr lang="en-US" sz="2100" dirty="0">
                <a:solidFill>
                  <a:srgbClr val="FFFFFF"/>
                </a:solidFill>
                <a:latin typeface="Calibri" pitchFamily="34" charset="0"/>
                <a:ea typeface="Calibri" pitchFamily="34" charset="-122"/>
                <a:cs typeface="Calibri" pitchFamily="34" charset="-120"/>
              </a:rPr>
              <a:t>It is robust, lightweight and flexible — useful for digital pathology and material science.</a:t>
            </a:r>
            <a:endParaRPr lang="en-US" sz="2100" dirty="0"/>
          </a:p>
        </p:txBody>
      </p:sp>
      <p:sp>
        <p:nvSpPr>
          <p:cNvPr id="14" name="Shape 12"/>
          <p:cNvSpPr/>
          <p:nvPr/>
        </p:nvSpPr>
        <p:spPr>
          <a:xfrm>
            <a:off x="822960" y="5806440"/>
            <a:ext cx="10515600" cy="658368"/>
          </a:xfrm>
          <a:prstGeom prst="roundRect">
            <a:avLst>
              <a:gd name="adj" fmla="val 11111"/>
            </a:avLst>
          </a:prstGeom>
          <a:solidFill>
            <a:srgbClr val="1E456F"/>
          </a:solidFill>
          <a:ln/>
        </p:spPr>
        <p:txBody>
          <a:bodyPr/>
          <a:lstStyle/>
          <a:p>
            <a:endParaRPr lang="tr-TR"/>
          </a:p>
        </p:txBody>
      </p:sp>
      <p:sp>
        <p:nvSpPr>
          <p:cNvPr id="15" name="Text 13"/>
          <p:cNvSpPr/>
          <p:nvPr/>
        </p:nvSpPr>
        <p:spPr>
          <a:xfrm>
            <a:off x="1097280" y="5806440"/>
            <a:ext cx="10058400" cy="658368"/>
          </a:xfrm>
          <a:prstGeom prst="rect">
            <a:avLst/>
          </a:prstGeom>
          <a:noFill/>
          <a:ln/>
        </p:spPr>
        <p:txBody>
          <a:bodyPr wrap="square" lIns="0" tIns="0" rIns="0" bIns="0"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Next, </a:t>
            </a:r>
            <a:r>
              <a:rPr lang="en-US" sz="1500" dirty="0">
                <a:solidFill>
                  <a:srgbClr val="FFFFFF"/>
                </a:solidFill>
                <a:latin typeface="Calibri" pitchFamily="34" charset="0"/>
                <a:ea typeface="Calibri" pitchFamily="34" charset="-122"/>
                <a:cs typeface="Calibri" pitchFamily="34" charset="-120"/>
              </a:rPr>
              <a:t>we plan to build real-time tools and automatic cell analysis for digital pathology.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385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6385C"/>
          </a:solidFill>
          <a:ln/>
        </p:spPr>
        <p:txBody>
          <a:bodyPr/>
          <a:lstStyle/>
          <a:p>
            <a:endParaRPr lang="tr-TR"/>
          </a:p>
        </p:txBody>
      </p:sp>
      <p:sp>
        <p:nvSpPr>
          <p:cNvPr id="3" name="Text 1"/>
          <p:cNvSpPr/>
          <p:nvPr/>
        </p:nvSpPr>
        <p:spPr>
          <a:xfrm>
            <a:off x="822960" y="685800"/>
            <a:ext cx="10515600" cy="914400"/>
          </a:xfrm>
          <a:prstGeom prst="rect">
            <a:avLst/>
          </a:prstGeom>
          <a:noFill/>
          <a:ln/>
        </p:spPr>
        <p:txBody>
          <a:bodyPr wrap="square" lIns="0" tIns="0" rIns="0" bIns="0"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Thank you</a:t>
            </a:r>
            <a:endParaRPr lang="en-US" sz="4400" dirty="0"/>
          </a:p>
        </p:txBody>
      </p:sp>
      <p:sp>
        <p:nvSpPr>
          <p:cNvPr id="4" name="Text 2"/>
          <p:cNvSpPr/>
          <p:nvPr/>
        </p:nvSpPr>
        <p:spPr>
          <a:xfrm>
            <a:off x="822960" y="1691640"/>
            <a:ext cx="10515600" cy="45720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Questions &amp; discussion welcome</a:t>
            </a:r>
            <a:endParaRPr lang="en-US" sz="2000" dirty="0"/>
          </a:p>
        </p:txBody>
      </p:sp>
      <p:sp>
        <p:nvSpPr>
          <p:cNvPr id="5" name="Text 3"/>
          <p:cNvSpPr/>
          <p:nvPr/>
        </p:nvSpPr>
        <p:spPr>
          <a:xfrm>
            <a:off x="822960" y="2468880"/>
            <a:ext cx="10515600" cy="365760"/>
          </a:xfrm>
          <a:prstGeom prst="rect">
            <a:avLst/>
          </a:prstGeom>
          <a:noFill/>
          <a:ln/>
        </p:spPr>
        <p:txBody>
          <a:bodyPr wrap="square" lIns="0" tIns="0" rIns="0" bIns="0" rtlCol="0" anchor="ctr"/>
          <a:lstStyle/>
          <a:p>
            <a:pPr marL="0" indent="0">
              <a:buNone/>
            </a:pPr>
            <a:r>
              <a:rPr lang="en-US" sz="1400" b="1" kern="0" spc="200" dirty="0">
                <a:solidFill>
                  <a:srgbClr val="6F9BD1"/>
                </a:solidFill>
                <a:latin typeface="Trebuchet MS" pitchFamily="34" charset="0"/>
                <a:ea typeface="Trebuchet MS" pitchFamily="34" charset="-122"/>
                <a:cs typeface="Trebuchet MS" pitchFamily="34" charset="-120"/>
              </a:rPr>
              <a:t>WITH THANKS TO OUR INSTITUTIONS AND FUNDER</a:t>
            </a:r>
            <a:endParaRPr lang="en-US" sz="1400" dirty="0"/>
          </a:p>
        </p:txBody>
      </p:sp>
      <p:sp>
        <p:nvSpPr>
          <p:cNvPr id="6" name="Shape 4"/>
          <p:cNvSpPr/>
          <p:nvPr/>
        </p:nvSpPr>
        <p:spPr>
          <a:xfrm>
            <a:off x="1234440" y="2971800"/>
            <a:ext cx="3200400" cy="1828800"/>
          </a:xfrm>
          <a:prstGeom prst="roundRect">
            <a:avLst>
              <a:gd name="adj" fmla="val 5000"/>
            </a:avLst>
          </a:prstGeom>
          <a:solidFill>
            <a:srgbClr val="FFFFFF"/>
          </a:solidFill>
          <a:ln/>
          <a:effectLst>
            <a:outerShdw blurRad="88900" dist="38100" dir="8100000" algn="bl" rotWithShape="0">
              <a:srgbClr val="8AA0B5">
                <a:alpha val="28000"/>
              </a:srgbClr>
            </a:outerShdw>
          </a:effectLst>
        </p:spPr>
        <p:txBody>
          <a:bodyPr/>
          <a:lstStyle/>
          <a:p>
            <a:endParaRPr lang="tr-TR"/>
          </a:p>
        </p:txBody>
      </p:sp>
      <p:sp>
        <p:nvSpPr>
          <p:cNvPr id="7" name="Shape 5"/>
          <p:cNvSpPr/>
          <p:nvPr/>
        </p:nvSpPr>
        <p:spPr>
          <a:xfrm>
            <a:off x="4846320" y="2971800"/>
            <a:ext cx="3200400" cy="1828800"/>
          </a:xfrm>
          <a:prstGeom prst="roundRect">
            <a:avLst>
              <a:gd name="adj" fmla="val 5000"/>
            </a:avLst>
          </a:prstGeom>
          <a:solidFill>
            <a:srgbClr val="FFFFFF"/>
          </a:solidFill>
          <a:ln/>
          <a:effectLst>
            <a:outerShdw blurRad="88900" dist="38100" dir="8100000" algn="bl" rotWithShape="0">
              <a:srgbClr val="8AA0B5">
                <a:alpha val="28000"/>
              </a:srgbClr>
            </a:outerShdw>
          </a:effectLst>
        </p:spPr>
        <p:txBody>
          <a:bodyPr/>
          <a:lstStyle/>
          <a:p>
            <a:endParaRPr lang="tr-TR"/>
          </a:p>
        </p:txBody>
      </p:sp>
      <p:sp>
        <p:nvSpPr>
          <p:cNvPr id="8" name="Shape 6"/>
          <p:cNvSpPr/>
          <p:nvPr/>
        </p:nvSpPr>
        <p:spPr>
          <a:xfrm>
            <a:off x="8458200" y="2971800"/>
            <a:ext cx="3200400" cy="1828800"/>
          </a:xfrm>
          <a:prstGeom prst="roundRect">
            <a:avLst>
              <a:gd name="adj" fmla="val 5000"/>
            </a:avLst>
          </a:prstGeom>
          <a:solidFill>
            <a:srgbClr val="FFFFFF"/>
          </a:solidFill>
          <a:ln/>
          <a:effectLst>
            <a:outerShdw blurRad="88900" dist="38100" dir="8100000" algn="bl" rotWithShape="0">
              <a:srgbClr val="8AA0B5">
                <a:alpha val="28000"/>
              </a:srgbClr>
            </a:outerShdw>
          </a:effectLst>
        </p:spPr>
        <p:txBody>
          <a:bodyPr/>
          <a:lstStyle/>
          <a:p>
            <a:endParaRPr lang="tr-TR"/>
          </a:p>
        </p:txBody>
      </p:sp>
      <p:sp>
        <p:nvSpPr>
          <p:cNvPr id="9" name="Text 7"/>
          <p:cNvSpPr/>
          <p:nvPr/>
        </p:nvSpPr>
        <p:spPr>
          <a:xfrm>
            <a:off x="1417320" y="3291840"/>
            <a:ext cx="2834640" cy="914400"/>
          </a:xfrm>
          <a:prstGeom prst="rect">
            <a:avLst/>
          </a:prstGeom>
          <a:noFill/>
          <a:ln/>
        </p:spPr>
        <p:txBody>
          <a:bodyPr wrap="square" lIns="0" tIns="0" rIns="0" bIns="0" rtlCol="0" anchor="ctr"/>
          <a:lstStyle/>
          <a:p>
            <a:pPr marL="0" indent="0" algn="ctr">
              <a:lnSpc>
                <a:spcPct val="102000"/>
              </a:lnSpc>
              <a:buNone/>
            </a:pPr>
            <a:r>
              <a:rPr lang="en-US" sz="1900" b="1" dirty="0">
                <a:solidFill>
                  <a:srgbClr val="16385C"/>
                </a:solidFill>
                <a:latin typeface="Trebuchet MS" pitchFamily="34" charset="0"/>
                <a:ea typeface="Trebuchet MS" pitchFamily="34" charset="-122"/>
                <a:cs typeface="Trebuchet MS" pitchFamily="34" charset="-120"/>
              </a:rPr>
              <a:t>Karadeniz Technical University</a:t>
            </a:r>
            <a:endParaRPr lang="en-US" sz="1900" dirty="0"/>
          </a:p>
        </p:txBody>
      </p:sp>
      <p:sp>
        <p:nvSpPr>
          <p:cNvPr id="10" name="Text 8"/>
          <p:cNvSpPr/>
          <p:nvPr/>
        </p:nvSpPr>
        <p:spPr>
          <a:xfrm>
            <a:off x="1417320" y="4297680"/>
            <a:ext cx="2834640" cy="365760"/>
          </a:xfrm>
          <a:prstGeom prst="rect">
            <a:avLst/>
          </a:prstGeom>
          <a:noFill/>
          <a:ln/>
        </p:spPr>
        <p:txBody>
          <a:bodyPr wrap="square" lIns="0" tIns="0" rIns="0" bIns="0" rtlCol="0" anchor="ctr"/>
          <a:lstStyle/>
          <a:p>
            <a:pPr marL="0" indent="0" algn="ctr">
              <a:buNone/>
            </a:pPr>
            <a:r>
              <a:rPr lang="en-US" sz="1300" dirty="0">
                <a:solidFill>
                  <a:srgbClr val="8A97A5"/>
                </a:solidFill>
                <a:latin typeface="Calibri" pitchFamily="34" charset="0"/>
                <a:ea typeface="Calibri" pitchFamily="34" charset="-122"/>
                <a:cs typeface="Calibri" pitchFamily="34" charset="-120"/>
              </a:rPr>
              <a:t>Drug &amp; Pharm. Tech. Center</a:t>
            </a:r>
            <a:endParaRPr lang="en-US" sz="1300" dirty="0"/>
          </a:p>
        </p:txBody>
      </p:sp>
      <p:sp>
        <p:nvSpPr>
          <p:cNvPr id="11" name="Text 9"/>
          <p:cNvSpPr/>
          <p:nvPr/>
        </p:nvSpPr>
        <p:spPr>
          <a:xfrm>
            <a:off x="5029200" y="3291840"/>
            <a:ext cx="2834640" cy="914400"/>
          </a:xfrm>
          <a:prstGeom prst="rect">
            <a:avLst/>
          </a:prstGeom>
          <a:noFill/>
          <a:ln/>
        </p:spPr>
        <p:txBody>
          <a:bodyPr wrap="square" lIns="0" tIns="0" rIns="0" bIns="0" rtlCol="0" anchor="ctr"/>
          <a:lstStyle/>
          <a:p>
            <a:pPr marL="0" indent="0" algn="ctr">
              <a:buNone/>
            </a:pPr>
            <a:r>
              <a:rPr lang="en-US" sz="1900" b="1" dirty="0">
                <a:solidFill>
                  <a:srgbClr val="16385C"/>
                </a:solidFill>
                <a:latin typeface="Trebuchet MS" pitchFamily="34" charset="0"/>
                <a:ea typeface="Trebuchet MS" pitchFamily="34" charset="-122"/>
                <a:cs typeface="Trebuchet MS" pitchFamily="34" charset="-120"/>
              </a:rPr>
              <a:t>Trabzon University</a:t>
            </a:r>
            <a:endParaRPr lang="en-US" sz="1900" dirty="0"/>
          </a:p>
        </p:txBody>
      </p:sp>
      <p:sp>
        <p:nvSpPr>
          <p:cNvPr id="12" name="Text 10"/>
          <p:cNvSpPr/>
          <p:nvPr/>
        </p:nvSpPr>
        <p:spPr>
          <a:xfrm>
            <a:off x="5029200" y="4297680"/>
            <a:ext cx="2834640" cy="365760"/>
          </a:xfrm>
          <a:prstGeom prst="rect">
            <a:avLst/>
          </a:prstGeom>
          <a:noFill/>
          <a:ln/>
        </p:spPr>
        <p:txBody>
          <a:bodyPr wrap="square" lIns="0" tIns="0" rIns="0" bIns="0" rtlCol="0" anchor="ctr"/>
          <a:lstStyle/>
          <a:p>
            <a:pPr marL="0" indent="0" algn="ctr">
              <a:buNone/>
            </a:pPr>
            <a:r>
              <a:rPr lang="en-US" sz="1300" dirty="0">
                <a:solidFill>
                  <a:srgbClr val="8A97A5"/>
                </a:solidFill>
                <a:latin typeface="Calibri" pitchFamily="34" charset="0"/>
                <a:ea typeface="Calibri" pitchFamily="34" charset="-122"/>
                <a:cs typeface="Calibri" pitchFamily="34" charset="-120"/>
              </a:rPr>
              <a:t>Trabzon, Türkiye</a:t>
            </a:r>
            <a:endParaRPr lang="en-US" sz="1300" dirty="0"/>
          </a:p>
        </p:txBody>
      </p:sp>
      <p:pic>
        <p:nvPicPr>
          <p:cNvPr id="13" name="Image 0" descr="/sessions/pensive-beautiful-ramanujan/mnt/outputs/assets/logo_tubitak.png"/>
          <p:cNvPicPr>
            <a:picLocks noChangeAspect="1"/>
          </p:cNvPicPr>
          <p:nvPr/>
        </p:nvPicPr>
        <p:blipFill>
          <a:blip r:embed="rId3"/>
          <a:srcRect/>
          <a:stretch/>
        </p:blipFill>
        <p:spPr>
          <a:xfrm>
            <a:off x="9601200" y="3154680"/>
            <a:ext cx="914400" cy="1024128"/>
          </a:xfrm>
          <a:prstGeom prst="rect">
            <a:avLst/>
          </a:prstGeom>
        </p:spPr>
      </p:pic>
      <p:sp>
        <p:nvSpPr>
          <p:cNvPr id="14" name="Text 11"/>
          <p:cNvSpPr/>
          <p:nvPr/>
        </p:nvSpPr>
        <p:spPr>
          <a:xfrm>
            <a:off x="8641080" y="4297680"/>
            <a:ext cx="2834640" cy="365760"/>
          </a:xfrm>
          <a:prstGeom prst="rect">
            <a:avLst/>
          </a:prstGeom>
          <a:noFill/>
          <a:ln/>
        </p:spPr>
        <p:txBody>
          <a:bodyPr wrap="square" lIns="0" tIns="0" rIns="0" bIns="0" rtlCol="0" anchor="ctr"/>
          <a:lstStyle/>
          <a:p>
            <a:pPr marL="0" indent="0" algn="ctr">
              <a:buNone/>
            </a:pPr>
            <a:r>
              <a:rPr lang="en-US" sz="1300" dirty="0">
                <a:solidFill>
                  <a:srgbClr val="8A97A5"/>
                </a:solidFill>
                <a:latin typeface="Calibri" pitchFamily="34" charset="0"/>
                <a:ea typeface="Calibri" pitchFamily="34" charset="-122"/>
                <a:cs typeface="Calibri" pitchFamily="34" charset="-120"/>
              </a:rPr>
              <a:t>TÜBİTAK · Project 125E093</a:t>
            </a:r>
            <a:endParaRPr lang="en-US" sz="1300" dirty="0"/>
          </a:p>
        </p:txBody>
      </p:sp>
      <p:sp>
        <p:nvSpPr>
          <p:cNvPr id="15" name="Text 12"/>
          <p:cNvSpPr/>
          <p:nvPr/>
        </p:nvSpPr>
        <p:spPr>
          <a:xfrm>
            <a:off x="822960" y="5166360"/>
            <a:ext cx="1051560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Supported by TÜBİTAK Research Project 125E093.</a:t>
            </a:r>
            <a:endParaRPr lang="en-US" sz="1500" dirty="0"/>
          </a:p>
        </p:txBody>
      </p:sp>
      <p:sp>
        <p:nvSpPr>
          <p:cNvPr id="16" name="Text 13"/>
          <p:cNvSpPr/>
          <p:nvPr/>
        </p:nvSpPr>
        <p:spPr>
          <a:xfrm>
            <a:off x="822960" y="5989320"/>
            <a:ext cx="10515600" cy="365760"/>
          </a:xfrm>
          <a:prstGeom prst="rect">
            <a:avLst/>
          </a:prstGeom>
          <a:noFill/>
          <a:ln/>
        </p:spPr>
        <p:txBody>
          <a:bodyPr wrap="square" lIns="0" tIns="0" rIns="0" bIns="0" rtlCol="0" anchor="ctr"/>
          <a:lstStyle/>
          <a:p>
            <a:pPr marL="0" indent="0">
              <a:buNone/>
            </a:pPr>
            <a:r>
              <a:rPr lang="en-US" sz="1350" i="1" dirty="0">
                <a:solidFill>
                  <a:srgbClr val="6F9BD1"/>
                </a:solidFill>
                <a:latin typeface="Calibri" pitchFamily="34" charset="0"/>
                <a:ea typeface="Calibri" pitchFamily="34" charset="-122"/>
                <a:cs typeface="Calibri" pitchFamily="34" charset="-120"/>
              </a:rPr>
              <a:t>PharmAI · Karadeniz Technical University &amp; Trabzon University</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