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Master+xml" PartName="/ppt/slideMasters/slideMaster1.xml"/>
  <Override ContentType="application/vnd.openxmlformats-officedocument.presentationml.slideLayout+xml" PartName="/ppt/slideLayouts/slideLayout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12192000"/>
  <p:defaultTextStyle>
    <a:defPPr lvl="0"/>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work concerns the mechanism of action (MoA) of pharmacological agents — how a drug acts on its target. We frame MoA determination as a classification task on smooth-muscle contractility signals, introduce a new 578-signal dataset, and propose a hybrid CNN–Transformer that outperforms a wide range of baselines. Joint work of Karadeniz Technical University and Trabzon University.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mechanism of action describes how a drug acts on its biological target and underpins pharmacology and drug discovery. In smooth-muscle studies it is read from contractility signals, since agonists cause contraction and antagonists block it. These signals are one-dimensional and irregular, which makes them hard to interpret by eye.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barriers limit current practice. Reading signals by eye is subjective, so results differ between observers and laboratories. There is no standardised benchmark dataset, as most studies are manual and descriptive. And deep learning, though strong on other biomedical signals, has rarely been applied to contractility. This work targets all three.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two contributions. First, a curated dataset of 578 contractility signals covering four agents and their four mechanisms, released publicly. Second, a hybrid model that combines a 1D CNN for local features with a Transformer for global context, trained end-to-end on raw signals with no manual feature engineering.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dataset was built from tracheal and bladder tissue of 50 mice, with contractile force recorded in an organ bath or myograph. Tissues were stimulated with four agents — KCl, carbachol, serotonin and histamine — giving 578 signals (237 / 179 / 86 / 76). Note the class imbalance, which matters for sensitivity later. The data is openly available.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agent produces a distinct signal: KCl gives a sustained contraction, carbachol a cumulative staircase, and serotonin and histamine their own rise-and-plateau shapes. These differences are real but subtle and noisy, so fixed rules struggle and a learned model is well suited.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has four stages. The raw signal is normalised and resampled to 10,000 samples. A 1D convolutional encoder (three layers, channels 1→768) extracts local features. These become tokens with a class token and positional embeddings, processed by five Transformer blocks (8 heads, d=768) for global context. The class token is then classified into one of four mechanisms. In short: convolution for local detail, attention for global context.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Evaluation used 5-fold stratified cross-validation (80/20 split, seed 42). Deep models were trained with Adam (lr 1e-5, batch 16, 50 epochs, cross-entropy). We report accuracy, precision, sensitivity and F1, since accuracy alone is misleading under class imbalance. The model is compared against four classical and six deep baselines.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proposed model reaches 80.5% accuracy, 81.0% precision, 76.5% sensitivity and 0.776 F1, leading on every metric. It improves on the strongest baseline, ResNet, by about 3% in accuracy and precision. Notably, the image-transformer models (ConvNeXt, Swin) perform worst — explained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full table compares all eleven models on the four metrics. Classical methods sit in the 0.63–0.72 range, and ResNet is the strongest baseline at 0.773. The proposed model (bottom row) is best in every column. This slide is kept for detailed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hybrid wins by combining two scales: the CNN captures local waveform shape, while the Transformer captures long-range structure. Image-transformer models (ConvNeXt, Swin) underperform because a 2D bias does not transfer to 1D signals. Precision exceeds sensitivity, so the model is conservative — accurate when positive, but missing some minority-class cases.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Limitations: the dataset is modest in size, covers only four mechanisms, and the class imbalance lowers sensitivity on smaller classes. Future work will enlarge the dataset, address imbalance with augmentation, add interpretable attention, and move toward real-time scoring during experiments.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takeaways: MoA inference from contractility signals can be framed as classification; the hybrid CNN–Transformer beats classical and deep baselines (80.5% accuracy, 0.776 F1); and the approach reduces manual work and improves reproducibility, supporting preclinical drug discovery. The dataset is openly available.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Acknowledge funding from TUSEB (project 35726) and TUBITAK (project 125E093), and the two universities. Likely questions: the sensitivity/imbalance gap, the choice of five Transformer blocks and eight heads, the 10,000-sample input length, and generalisation to other tissues or agents.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85C"/>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6385C"/>
          </a:solidFill>
          <a:ln/>
        </p:spPr>
      </p:sp>
      <p:sp>
        <p:nvSpPr>
          <p:cNvPr id="3" name="Text 1"/>
          <p:cNvSpPr/>
          <p:nvPr/>
        </p:nvSpPr>
        <p:spPr>
          <a:xfrm>
            <a:off x="822960" y="438912"/>
            <a:ext cx="1060704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The 12th International Conference on Computer Technology Applications (ICCTA 2026)</a:t>
            </a:r>
            <a:endParaRPr lang="en-US" sz="1600" dirty="0"/>
          </a:p>
        </p:txBody>
      </p:sp>
      <p:sp>
        <p:nvSpPr>
          <p:cNvPr id="4" name="Text 2"/>
          <p:cNvSpPr/>
          <p:nvPr/>
        </p:nvSpPr>
        <p:spPr>
          <a:xfrm>
            <a:off x="822960" y="841248"/>
            <a:ext cx="10607040" cy="32918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June 17–19, 2026  ·  Vienna, Austria  ·  FH JOANNEUM University of Applied Sciences</a:t>
            </a:r>
            <a:endParaRPr lang="en-US" sz="1350" dirty="0"/>
          </a:p>
        </p:txBody>
      </p:sp>
      <p:sp>
        <p:nvSpPr>
          <p:cNvPr id="5" name="Text 3"/>
          <p:cNvSpPr/>
          <p:nvPr/>
        </p:nvSpPr>
        <p:spPr>
          <a:xfrm>
            <a:off x="822960" y="1325880"/>
            <a:ext cx="10607040" cy="1737360"/>
          </a:xfrm>
          <a:prstGeom prst="rect">
            <a:avLst/>
          </a:prstGeom>
          <a:noFill/>
          <a:ln/>
        </p:spPr>
        <p:txBody>
          <a:bodyPr wrap="square" lIns="0" tIns="0" rIns="0" bIns="0" rtlCol="0" anchor="t"/>
          <a:lstStyle/>
          <a:p>
            <a:pPr indent="0" marL="0">
              <a:lnSpc>
                <a:spcPct val="104000"/>
              </a:lnSpc>
              <a:buNone/>
            </a:pPr>
            <a:r>
              <a:rPr lang="en-US" sz="3100" b="1" dirty="0">
                <a:solidFill>
                  <a:srgbClr val="FFFFFF"/>
                </a:solidFill>
                <a:latin typeface="Trebuchet MS" pitchFamily="34" charset="0"/>
                <a:ea typeface="Trebuchet MS" pitchFamily="34" charset="-122"/>
                <a:cs typeface="Trebuchet MS" pitchFamily="34" charset="-120"/>
              </a:rPr>
              <a:t>Mechanism of Action of Pharmacological Agents: A Deep Learning Prediction Model Using Smooth Muscle Contractility Signals</a:t>
            </a:r>
            <a:endParaRPr lang="en-US" sz="3100" dirty="0"/>
          </a:p>
        </p:txBody>
      </p:sp>
      <p:sp>
        <p:nvSpPr>
          <p:cNvPr id="6" name="Text 4"/>
          <p:cNvSpPr/>
          <p:nvPr/>
        </p:nvSpPr>
        <p:spPr>
          <a:xfrm>
            <a:off x="822960" y="3200400"/>
            <a:ext cx="10607040" cy="822960"/>
          </a:xfrm>
          <a:prstGeom prst="rect">
            <a:avLst/>
          </a:prstGeom>
          <a:noFill/>
          <a:ln/>
        </p:spPr>
        <p:txBody>
          <a:bodyPr wrap="square" lIns="0" tIns="0" rIns="0" bIns="0" rtlCol="0" anchor="ctr"/>
          <a:lstStyle/>
          <a:p>
            <a:pPr indent="0" marL="0">
              <a:lnSpc>
                <a:spcPct val="112000"/>
              </a:lnSpc>
              <a:buNone/>
            </a:pPr>
            <a:r>
              <a:rPr lang="en-US" sz="2200" b="1" dirty="0">
                <a:solidFill>
                  <a:srgbClr val="FFFFFF"/>
                </a:solidFill>
                <a:latin typeface="Calibri" pitchFamily="34" charset="0"/>
                <a:ea typeface="Calibri" pitchFamily="34" charset="-122"/>
                <a:cs typeface="Calibri" pitchFamily="34" charset="-120"/>
              </a:rPr>
              <a:t>Fatma Tuana Doğu  ·  Ramazan Özgür Doğan  ·  Hülya Doğan  ·  İlyas Ay  ·  Zain Kalha  ·  Yeşim Kaya Yaşar  ·  Sena F. Sezen</a:t>
            </a:r>
            <a:endParaRPr lang="en-US" sz="2200" dirty="0"/>
          </a:p>
        </p:txBody>
      </p:sp>
      <p:sp>
        <p:nvSpPr>
          <p:cNvPr id="7" name="Text 5"/>
          <p:cNvSpPr/>
          <p:nvPr/>
        </p:nvSpPr>
        <p:spPr>
          <a:xfrm>
            <a:off x="822960" y="4206240"/>
            <a:ext cx="10607040" cy="1371600"/>
          </a:xfrm>
          <a:prstGeom prst="rect">
            <a:avLst/>
          </a:prstGeom>
          <a:noFill/>
          <a:ln/>
        </p:spPr>
        <p:txBody>
          <a:bodyPr wrap="square" lIns="0" tIns="0" rIns="0" bIns="0" rtlCol="0" anchor="ctr"/>
          <a:lstStyle/>
          <a:p>
            <a:pPr indent="0" marL="0">
              <a:lnSpc>
                <a:spcPct val="108000"/>
              </a:lnSpc>
              <a:buNone/>
            </a:pPr>
            <a:r>
              <a:rPr lang="en-US" sz="3300" b="1" dirty="0">
                <a:solidFill>
                  <a:srgbClr val="FFFFFF"/>
                </a:solidFill>
                <a:latin typeface="Trebuchet MS" pitchFamily="34" charset="0"/>
                <a:ea typeface="Trebuchet MS" pitchFamily="34" charset="-122"/>
                <a:cs typeface="Trebuchet MS" pitchFamily="34" charset="-120"/>
              </a:rPr>
              <a:t>Karadeniz Technical University</a:t>
            </a:r>
            <a:endParaRPr lang="en-US" sz="3300" dirty="0"/>
          </a:p>
          <a:p>
            <a:pPr indent="0" marL="0">
              <a:lnSpc>
                <a:spcPct val="108000"/>
              </a:lnSpc>
              <a:buNone/>
            </a:pPr>
            <a:r>
              <a:rPr lang="en-US" sz="3300" b="1" dirty="0">
                <a:solidFill>
                  <a:srgbClr val="FFFFFF"/>
                </a:solidFill>
                <a:latin typeface="Trebuchet MS" pitchFamily="34" charset="0"/>
                <a:ea typeface="Trebuchet MS" pitchFamily="34" charset="-122"/>
                <a:cs typeface="Trebuchet MS" pitchFamily="34" charset="-120"/>
              </a:rPr>
              <a:t>Trabzon University</a:t>
            </a:r>
            <a:endParaRPr lang="en-US" sz="3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indent="0" marL="0">
              <a:buNone/>
            </a:pPr>
            <a:r>
              <a:rPr lang="en-US" sz="1700" b="1" spc="300" kern="0" dirty="0">
                <a:solidFill>
                  <a:srgbClr val="2E75B6"/>
                </a:solidFill>
                <a:latin typeface="Trebuchet MS" pitchFamily="34" charset="0"/>
                <a:ea typeface="Trebuchet MS" pitchFamily="34" charset="-122"/>
                <a:cs typeface="Trebuchet MS" pitchFamily="34" charset="-120"/>
              </a:rPr>
              <a:t>BACKGROUND</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indent="0" marL="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Why mechanism of action matters</a:t>
            </a:r>
            <a:endParaRPr lang="en-US" sz="3500" dirty="0"/>
          </a:p>
        </p:txBody>
      </p:sp>
      <p:sp>
        <p:nvSpPr>
          <p:cNvPr id="4" name="Shape 2"/>
          <p:cNvSpPr/>
          <p:nvPr/>
        </p:nvSpPr>
        <p:spPr>
          <a:xfrm>
            <a:off x="566928" y="2011680"/>
            <a:ext cx="420624" cy="420624"/>
          </a:xfrm>
          <a:prstGeom prst="ellipse">
            <a:avLst/>
          </a:prstGeom>
          <a:solidFill>
            <a:srgbClr val="2E75B6"/>
          </a:solidFill>
          <a:ln/>
        </p:spPr>
      </p:sp>
      <p:sp>
        <p:nvSpPr>
          <p:cNvPr id="5" name="Text 3"/>
          <p:cNvSpPr/>
          <p:nvPr/>
        </p:nvSpPr>
        <p:spPr>
          <a:xfrm>
            <a:off x="566928" y="2011680"/>
            <a:ext cx="420624" cy="420624"/>
          </a:xfrm>
          <a:prstGeom prst="rect">
            <a:avLst/>
          </a:prstGeom>
          <a:noFill/>
          <a:ln/>
        </p:spPr>
        <p:txBody>
          <a:bodyPr wrap="square" lIns="0" tIns="0" rIns="0" bIns="0" rtlCol="0" anchor="ctr"/>
          <a:lstStyle/>
          <a:p>
            <a:pPr algn="ctr" indent="0" marL="0">
              <a:buNone/>
            </a:pPr>
            <a:r>
              <a:rPr lang="en-US" sz="2100" b="1" dirty="0">
                <a:solidFill>
                  <a:srgbClr val="FFFFFF"/>
                </a:solidFill>
                <a:latin typeface="Trebuchet MS" pitchFamily="34" charset="0"/>
                <a:ea typeface="Trebuchet MS" pitchFamily="34" charset="-122"/>
                <a:cs typeface="Trebuchet MS" pitchFamily="34" charset="-120"/>
              </a:rPr>
              <a:t>1</a:t>
            </a:r>
            <a:endParaRPr lang="en-US" sz="2100" dirty="0"/>
          </a:p>
        </p:txBody>
      </p:sp>
      <p:sp>
        <p:nvSpPr>
          <p:cNvPr id="6" name="Text 4"/>
          <p:cNvSpPr/>
          <p:nvPr/>
        </p:nvSpPr>
        <p:spPr>
          <a:xfrm>
            <a:off x="1170432" y="1929384"/>
            <a:ext cx="6035040" cy="1280160"/>
          </a:xfrm>
          <a:prstGeom prst="rect">
            <a:avLst/>
          </a:prstGeom>
          <a:noFill/>
          <a:ln/>
        </p:spPr>
        <p:txBody>
          <a:bodyPr wrap="square" lIns="0" tIns="0" rIns="0" bIns="0" rtlCol="0" anchor="t"/>
          <a:lstStyle/>
          <a:p>
            <a:pPr indent="0" marL="0">
              <a:lnSpc>
                <a:spcPct val="104000"/>
              </a:lnSpc>
              <a:buNone/>
            </a:pPr>
            <a:r>
              <a:rPr lang="en-US" sz="2100" b="1" dirty="0">
                <a:solidFill>
                  <a:srgbClr val="16385C"/>
                </a:solidFill>
                <a:latin typeface="Calibri" pitchFamily="34" charset="0"/>
                <a:ea typeface="Calibri" pitchFamily="34" charset="-122"/>
                <a:cs typeface="Calibri" pitchFamily="34" charset="-120"/>
              </a:rPr>
              <a:t>The mechanism of action (MoA)</a:t>
            </a:r>
            <a:pPr indent="0" marL="0">
              <a:lnSpc>
                <a:spcPct val="104000"/>
              </a:lnSpc>
              <a:buNone/>
            </a:pPr>
            <a:r>
              <a:rPr lang="en-US" sz="2100" dirty="0">
                <a:solidFill>
                  <a:srgbClr val="232A31"/>
                </a:solidFill>
                <a:latin typeface="Calibri" pitchFamily="34" charset="0"/>
                <a:ea typeface="Calibri" pitchFamily="34" charset="-122"/>
                <a:cs typeface="Calibri" pitchFamily="34" charset="-120"/>
              </a:rPr>
              <a:t> describes how a drug acts on its biological target, and it underpins pharmacology and drug discovery.</a:t>
            </a:r>
            <a:endParaRPr lang="en-US" sz="2100" dirty="0"/>
          </a:p>
        </p:txBody>
      </p:sp>
      <p:sp>
        <p:nvSpPr>
          <p:cNvPr id="7" name="Shape 5"/>
          <p:cNvSpPr/>
          <p:nvPr/>
        </p:nvSpPr>
        <p:spPr>
          <a:xfrm>
            <a:off x="566928" y="3474720"/>
            <a:ext cx="420624" cy="420624"/>
          </a:xfrm>
          <a:prstGeom prst="ellipse">
            <a:avLst/>
          </a:prstGeom>
          <a:solidFill>
            <a:srgbClr val="2E75B6"/>
          </a:solidFill>
          <a:ln/>
        </p:spPr>
      </p:sp>
      <p:sp>
        <p:nvSpPr>
          <p:cNvPr id="8" name="Text 6"/>
          <p:cNvSpPr/>
          <p:nvPr/>
        </p:nvSpPr>
        <p:spPr>
          <a:xfrm>
            <a:off x="566928" y="3474720"/>
            <a:ext cx="420624" cy="420624"/>
          </a:xfrm>
          <a:prstGeom prst="rect">
            <a:avLst/>
          </a:prstGeom>
          <a:noFill/>
          <a:ln/>
        </p:spPr>
        <p:txBody>
          <a:bodyPr wrap="square" lIns="0" tIns="0" rIns="0" bIns="0" rtlCol="0" anchor="ctr"/>
          <a:lstStyle/>
          <a:p>
            <a:pPr algn="ctr" indent="0" marL="0">
              <a:buNone/>
            </a:pPr>
            <a:r>
              <a:rPr lang="en-US" sz="2100" b="1" dirty="0">
                <a:solidFill>
                  <a:srgbClr val="FFFFFF"/>
                </a:solidFill>
                <a:latin typeface="Trebuchet MS" pitchFamily="34" charset="0"/>
                <a:ea typeface="Trebuchet MS" pitchFamily="34" charset="-122"/>
                <a:cs typeface="Trebuchet MS" pitchFamily="34" charset="-120"/>
              </a:rPr>
              <a:t>2</a:t>
            </a:r>
            <a:endParaRPr lang="en-US" sz="2100" dirty="0"/>
          </a:p>
        </p:txBody>
      </p:sp>
      <p:sp>
        <p:nvSpPr>
          <p:cNvPr id="9" name="Text 7"/>
          <p:cNvSpPr/>
          <p:nvPr/>
        </p:nvSpPr>
        <p:spPr>
          <a:xfrm>
            <a:off x="1170432" y="3392424"/>
            <a:ext cx="6035040" cy="1280160"/>
          </a:xfrm>
          <a:prstGeom prst="rect">
            <a:avLst/>
          </a:prstGeom>
          <a:noFill/>
          <a:ln/>
        </p:spPr>
        <p:txBody>
          <a:bodyPr wrap="square" lIns="0" tIns="0" rIns="0" bIns="0" rtlCol="0" anchor="t"/>
          <a:lstStyle/>
          <a:p>
            <a:pPr indent="0" marL="0">
              <a:lnSpc>
                <a:spcPct val="104000"/>
              </a:lnSpc>
              <a:buNone/>
            </a:pPr>
            <a:r>
              <a:rPr lang="en-US" sz="2100" b="1" dirty="0">
                <a:solidFill>
                  <a:srgbClr val="16385C"/>
                </a:solidFill>
                <a:latin typeface="Calibri" pitchFamily="34" charset="0"/>
                <a:ea typeface="Calibri" pitchFamily="34" charset="-122"/>
                <a:cs typeface="Calibri" pitchFamily="34" charset="-120"/>
              </a:rPr>
              <a:t>In smooth-muscle studies,</a:t>
            </a:r>
            <a:pPr indent="0" marL="0">
              <a:lnSpc>
                <a:spcPct val="104000"/>
              </a:lnSpc>
              <a:buNone/>
            </a:pPr>
            <a:r>
              <a:rPr lang="en-US" sz="2100" dirty="0">
                <a:solidFill>
                  <a:srgbClr val="232A31"/>
                </a:solidFill>
                <a:latin typeface="Calibri" pitchFamily="34" charset="0"/>
                <a:ea typeface="Calibri" pitchFamily="34" charset="-122"/>
                <a:cs typeface="Calibri" pitchFamily="34" charset="-120"/>
              </a:rPr>
              <a:t> the mechanism is read from contractility signals, since agonists cause contraction and antagonists block it.</a:t>
            </a:r>
            <a:endParaRPr lang="en-US" sz="2100" dirty="0"/>
          </a:p>
        </p:txBody>
      </p:sp>
      <p:sp>
        <p:nvSpPr>
          <p:cNvPr id="10" name="Shape 8"/>
          <p:cNvSpPr/>
          <p:nvPr/>
        </p:nvSpPr>
        <p:spPr>
          <a:xfrm>
            <a:off x="566928" y="4937760"/>
            <a:ext cx="420624" cy="420624"/>
          </a:xfrm>
          <a:prstGeom prst="ellipse">
            <a:avLst/>
          </a:prstGeom>
          <a:solidFill>
            <a:srgbClr val="2E75B6"/>
          </a:solidFill>
          <a:ln/>
        </p:spPr>
      </p:sp>
      <p:sp>
        <p:nvSpPr>
          <p:cNvPr id="11" name="Text 9"/>
          <p:cNvSpPr/>
          <p:nvPr/>
        </p:nvSpPr>
        <p:spPr>
          <a:xfrm>
            <a:off x="566928" y="4937760"/>
            <a:ext cx="420624" cy="420624"/>
          </a:xfrm>
          <a:prstGeom prst="rect">
            <a:avLst/>
          </a:prstGeom>
          <a:noFill/>
          <a:ln/>
        </p:spPr>
        <p:txBody>
          <a:bodyPr wrap="square" lIns="0" tIns="0" rIns="0" bIns="0" rtlCol="0" anchor="ctr"/>
          <a:lstStyle/>
          <a:p>
            <a:pPr algn="ctr" indent="0" marL="0">
              <a:buNone/>
            </a:pPr>
            <a:r>
              <a:rPr lang="en-US" sz="2100" b="1" dirty="0">
                <a:solidFill>
                  <a:srgbClr val="FFFFFF"/>
                </a:solidFill>
                <a:latin typeface="Trebuchet MS" pitchFamily="34" charset="0"/>
                <a:ea typeface="Trebuchet MS" pitchFamily="34" charset="-122"/>
                <a:cs typeface="Trebuchet MS" pitchFamily="34" charset="-120"/>
              </a:rPr>
              <a:t>3</a:t>
            </a:r>
            <a:endParaRPr lang="en-US" sz="2100" dirty="0"/>
          </a:p>
        </p:txBody>
      </p:sp>
      <p:sp>
        <p:nvSpPr>
          <p:cNvPr id="12" name="Text 10"/>
          <p:cNvSpPr/>
          <p:nvPr/>
        </p:nvSpPr>
        <p:spPr>
          <a:xfrm>
            <a:off x="1170432" y="4855464"/>
            <a:ext cx="6035040" cy="1280160"/>
          </a:xfrm>
          <a:prstGeom prst="rect">
            <a:avLst/>
          </a:prstGeom>
          <a:noFill/>
          <a:ln/>
        </p:spPr>
        <p:txBody>
          <a:bodyPr wrap="square" lIns="0" tIns="0" rIns="0" bIns="0" rtlCol="0" anchor="t"/>
          <a:lstStyle/>
          <a:p>
            <a:pPr indent="0" marL="0">
              <a:lnSpc>
                <a:spcPct val="104000"/>
              </a:lnSpc>
              <a:buNone/>
            </a:pPr>
            <a:r>
              <a:rPr lang="en-US" sz="2100" b="1" dirty="0">
                <a:solidFill>
                  <a:srgbClr val="16385C"/>
                </a:solidFill>
                <a:latin typeface="Calibri" pitchFamily="34" charset="0"/>
                <a:ea typeface="Calibri" pitchFamily="34" charset="-122"/>
                <a:cs typeface="Calibri" pitchFamily="34" charset="-120"/>
              </a:rPr>
              <a:t>These signals are hard to read:</a:t>
            </a:r>
            <a:pPr indent="0" marL="0">
              <a:lnSpc>
                <a:spcPct val="104000"/>
              </a:lnSpc>
              <a:buNone/>
            </a:pPr>
            <a:r>
              <a:rPr lang="en-US" sz="2100" dirty="0">
                <a:solidFill>
                  <a:srgbClr val="232A31"/>
                </a:solidFill>
                <a:latin typeface="Calibri" pitchFamily="34" charset="0"/>
                <a:ea typeface="Calibri" pitchFamily="34" charset="-122"/>
                <a:cs typeface="Calibri" pitchFamily="34" charset="-120"/>
              </a:rPr>
              <a:t> they are one-dimensional and irregular, varying in size, frequency, duration and relaxation.</a:t>
            </a:r>
            <a:endParaRPr lang="en-US" sz="2100" dirty="0"/>
          </a:p>
        </p:txBody>
      </p:sp>
      <p:sp>
        <p:nvSpPr>
          <p:cNvPr id="13" name="Shape 11"/>
          <p:cNvSpPr/>
          <p:nvPr/>
        </p:nvSpPr>
        <p:spPr>
          <a:xfrm>
            <a:off x="7452360" y="2057400"/>
            <a:ext cx="4160520" cy="3383280"/>
          </a:xfrm>
          <a:prstGeom prst="roundRect">
            <a:avLst>
              <a:gd name="adj" fmla="val 2162"/>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pic>
        <p:nvPicPr>
          <p:cNvPr id="14" name="Image 0" descr="/sessions/pensive-beautiful-ramanujan/mnt/outputs/assets/sig_kcl.png">    </p:cNvPr>
          <p:cNvPicPr>
            <a:picLocks noChangeAspect="1"/>
          </p:cNvPicPr>
          <p:nvPr/>
        </p:nvPicPr>
        <p:blipFill>
          <a:blip r:embed="rId1"/>
          <a:srcRect l="0" r="0" t="0" b="0"/>
          <a:stretch/>
        </p:blipFill>
        <p:spPr>
          <a:xfrm>
            <a:off x="7772400" y="2514600"/>
            <a:ext cx="3520440" cy="1828800"/>
          </a:xfrm>
          <a:prstGeom prst="rect">
            <a:avLst/>
          </a:prstGeom>
        </p:spPr>
      </p:pic>
      <p:sp>
        <p:nvSpPr>
          <p:cNvPr id="15" name="Text 12"/>
          <p:cNvSpPr/>
          <p:nvPr/>
        </p:nvSpPr>
        <p:spPr>
          <a:xfrm>
            <a:off x="7452360" y="4590288"/>
            <a:ext cx="4160520" cy="365760"/>
          </a:xfrm>
          <a:prstGeom prst="rect">
            <a:avLst/>
          </a:prstGeom>
          <a:noFill/>
          <a:ln/>
        </p:spPr>
        <p:txBody>
          <a:bodyPr wrap="square" lIns="0" tIns="0" rIns="0" bIns="0" rtlCol="0" anchor="ctr"/>
          <a:lstStyle/>
          <a:p>
            <a:pPr algn="ctr" indent="0" marL="0">
              <a:buNone/>
            </a:pPr>
            <a:r>
              <a:rPr lang="en-US" sz="1800" i="1" dirty="0">
                <a:solidFill>
                  <a:srgbClr val="8A97A5"/>
                </a:solidFill>
                <a:latin typeface="Calibri" pitchFamily="34" charset="0"/>
                <a:ea typeface="Calibri" pitchFamily="34" charset="-122"/>
                <a:cs typeface="Calibri" pitchFamily="34" charset="-120"/>
              </a:rPr>
              <a:t>A smooth-muscle contractility trace (KCl)</a:t>
            </a:r>
            <a:endParaRPr lang="en-US" sz="1800" dirty="0"/>
          </a:p>
        </p:txBody>
      </p:sp>
      <p:sp>
        <p:nvSpPr>
          <p:cNvPr id="16" name="Text 13"/>
          <p:cNvSpPr/>
          <p:nvPr/>
        </p:nvSpPr>
        <p:spPr>
          <a:xfrm>
            <a:off x="7452360" y="4974336"/>
            <a:ext cx="4160520" cy="320040"/>
          </a:xfrm>
          <a:prstGeom prst="rect">
            <a:avLst/>
          </a:prstGeom>
          <a:noFill/>
          <a:ln/>
        </p:spPr>
        <p:txBody>
          <a:bodyPr wrap="square" lIns="0" tIns="0" rIns="0" bIns="0" rtlCol="0" anchor="ctr"/>
          <a:lstStyle/>
          <a:p>
            <a:pPr algn="ctr" indent="0" marL="0">
              <a:buNone/>
            </a:pPr>
            <a:r>
              <a:rPr lang="en-US" sz="1400" dirty="0">
                <a:solidFill>
                  <a:srgbClr val="8A97A5"/>
                </a:solidFill>
                <a:latin typeface="Calibri" pitchFamily="34" charset="0"/>
                <a:ea typeface="Calibri" pitchFamily="34" charset="-122"/>
                <a:cs typeface="Calibri" pitchFamily="34" charset="-120"/>
              </a:rPr>
              <a:t>Recorded in organ-bath / myograph experiments</a:t>
            </a:r>
            <a:endParaRPr lang="en-US" sz="1400" dirty="0"/>
          </a:p>
        </p:txBody>
      </p:sp>
      <p:sp>
        <p:nvSpPr>
          <p:cNvPr id="17" name="Text 14"/>
          <p:cNvSpPr/>
          <p:nvPr/>
        </p:nvSpPr>
        <p:spPr>
          <a:xfrm>
            <a:off x="566928" y="6473952"/>
            <a:ext cx="10149840" cy="274320"/>
          </a:xfrm>
          <a:prstGeom prst="rect">
            <a:avLst/>
          </a:prstGeom>
          <a:noFill/>
          <a:ln/>
        </p:spPr>
        <p:txBody>
          <a:bodyPr wrap="square" lIns="0" tIns="0" rIns="0" bIns="0" rtlCol="0" anchor="ctr"/>
          <a:lstStyle/>
          <a:p>
            <a:pPr indent="0" marL="0">
              <a:buNone/>
            </a:pPr>
            <a:r>
              <a:rPr lang="en-US" sz="1050" i="1" dirty="0">
                <a:solidFill>
                  <a:srgbClr val="8A97A5"/>
                </a:solidFill>
                <a:latin typeface="Calibri" pitchFamily="34" charset="0"/>
                <a:ea typeface="Calibri" pitchFamily="34" charset="-122"/>
                <a:cs typeface="Calibri" pitchFamily="34" charset="-120"/>
              </a:rPr>
              <a:t>Mechanism of Action of Pharmacological Agents: A Deep Learning Prediction Model Using Smooth Muscle Contractility Signals</a:t>
            </a:r>
            <a:endParaRPr lang="en-US" sz="1050" dirty="0"/>
          </a:p>
        </p:txBody>
      </p:sp>
      <p:sp>
        <p:nvSpPr>
          <p:cNvPr id="18" name="Text 15"/>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50" dirty="0">
                <a:solidFill>
                  <a:srgbClr val="8A97A5"/>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indent="0" marL="0">
              <a:buNone/>
            </a:pPr>
            <a:r>
              <a:rPr lang="en-US" sz="1700" b="1" spc="300" kern="0" dirty="0">
                <a:solidFill>
                  <a:srgbClr val="2E75B6"/>
                </a:solidFill>
                <a:latin typeface="Trebuchet MS" pitchFamily="34" charset="0"/>
                <a:ea typeface="Trebuchet MS" pitchFamily="34" charset="-122"/>
                <a:cs typeface="Trebuchet MS" pitchFamily="34" charset="-120"/>
              </a:rPr>
              <a:t>THE PROBLEM</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indent="0" marL="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Three barriers to scalable MoA analysis</a:t>
            </a:r>
            <a:endParaRPr lang="en-US" sz="3500" dirty="0"/>
          </a:p>
        </p:txBody>
      </p:sp>
      <p:sp>
        <p:nvSpPr>
          <p:cNvPr id="4" name="Shape 2"/>
          <p:cNvSpPr/>
          <p:nvPr/>
        </p:nvSpPr>
        <p:spPr>
          <a:xfrm>
            <a:off x="566928" y="1965960"/>
            <a:ext cx="3432048" cy="3977640"/>
          </a:xfrm>
          <a:prstGeom prst="roundRect">
            <a:avLst>
              <a:gd name="adj" fmla="val 2131"/>
            </a:avLst>
          </a:prstGeom>
          <a:solidFill>
            <a:srgbClr val="F4F6F8"/>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5" name="Shape 3"/>
          <p:cNvSpPr/>
          <p:nvPr/>
        </p:nvSpPr>
        <p:spPr>
          <a:xfrm>
            <a:off x="932688" y="2286000"/>
            <a:ext cx="777240" cy="777240"/>
          </a:xfrm>
          <a:prstGeom prst="ellipse">
            <a:avLst/>
          </a:prstGeom>
          <a:solidFill>
            <a:srgbClr val="16385C"/>
          </a:solidFill>
          <a:ln/>
        </p:spPr>
      </p:sp>
      <p:sp>
        <p:nvSpPr>
          <p:cNvPr id="6" name="Text 4"/>
          <p:cNvSpPr/>
          <p:nvPr/>
        </p:nvSpPr>
        <p:spPr>
          <a:xfrm>
            <a:off x="932688" y="2286000"/>
            <a:ext cx="77724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1</a:t>
            </a:r>
            <a:endParaRPr lang="en-US" sz="3200" dirty="0"/>
          </a:p>
        </p:txBody>
      </p:sp>
      <p:sp>
        <p:nvSpPr>
          <p:cNvPr id="7" name="Text 5"/>
          <p:cNvSpPr/>
          <p:nvPr/>
        </p:nvSpPr>
        <p:spPr>
          <a:xfrm>
            <a:off x="932688" y="3200400"/>
            <a:ext cx="2791968" cy="960120"/>
          </a:xfrm>
          <a:prstGeom prst="rect">
            <a:avLst/>
          </a:prstGeom>
          <a:noFill/>
          <a:ln/>
        </p:spPr>
        <p:txBody>
          <a:bodyPr wrap="square" lIns="0" tIns="0" rIns="0" bIns="0" rtlCol="0" anchor="t"/>
          <a:lstStyle/>
          <a:p>
            <a:pPr indent="0" marL="0">
              <a:lnSpc>
                <a:spcPct val="100000"/>
              </a:lnSpc>
              <a:buNone/>
            </a:pPr>
            <a:r>
              <a:rPr lang="en-US" sz="2200" b="1" dirty="0">
                <a:solidFill>
                  <a:srgbClr val="16385C"/>
                </a:solidFill>
                <a:latin typeface="Trebuchet MS" pitchFamily="34" charset="0"/>
                <a:ea typeface="Trebuchet MS" pitchFamily="34" charset="-122"/>
                <a:cs typeface="Trebuchet MS" pitchFamily="34" charset="-120"/>
              </a:rPr>
              <a:t>Manual interpretation</a:t>
            </a:r>
            <a:endParaRPr lang="en-US" sz="2200" dirty="0"/>
          </a:p>
        </p:txBody>
      </p:sp>
      <p:sp>
        <p:nvSpPr>
          <p:cNvPr id="8" name="Text 6"/>
          <p:cNvSpPr/>
          <p:nvPr/>
        </p:nvSpPr>
        <p:spPr>
          <a:xfrm>
            <a:off x="932688" y="4315968"/>
            <a:ext cx="2791968" cy="1554480"/>
          </a:xfrm>
          <a:prstGeom prst="rect">
            <a:avLst/>
          </a:prstGeom>
          <a:noFill/>
          <a:ln/>
        </p:spPr>
        <p:txBody>
          <a:bodyPr wrap="square" lIns="0" tIns="0" rIns="0" bIns="0" rtlCol="0" anchor="t"/>
          <a:lstStyle/>
          <a:p>
            <a:pPr indent="0" marL="0">
              <a:lnSpc>
                <a:spcPct val="106000"/>
              </a:lnSpc>
              <a:buNone/>
            </a:pPr>
            <a:r>
              <a:rPr lang="en-US" sz="2100" dirty="0">
                <a:solidFill>
                  <a:srgbClr val="232A31"/>
                </a:solidFill>
                <a:latin typeface="Calibri" pitchFamily="34" charset="0"/>
                <a:ea typeface="Calibri" pitchFamily="34" charset="-122"/>
                <a:cs typeface="Calibri" pitchFamily="34" charset="-120"/>
              </a:rPr>
              <a:t>Reading signals by eye is subjective, so results differ between observers and laboratories.</a:t>
            </a:r>
            <a:endParaRPr lang="en-US" sz="2100" dirty="0"/>
          </a:p>
        </p:txBody>
      </p:sp>
      <p:sp>
        <p:nvSpPr>
          <p:cNvPr id="9" name="Shape 7"/>
          <p:cNvSpPr/>
          <p:nvPr/>
        </p:nvSpPr>
        <p:spPr>
          <a:xfrm>
            <a:off x="4364736" y="1965960"/>
            <a:ext cx="3432048" cy="3977640"/>
          </a:xfrm>
          <a:prstGeom prst="roundRect">
            <a:avLst>
              <a:gd name="adj" fmla="val 2131"/>
            </a:avLst>
          </a:prstGeom>
          <a:solidFill>
            <a:srgbClr val="F4F6F8"/>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10" name="Shape 8"/>
          <p:cNvSpPr/>
          <p:nvPr/>
        </p:nvSpPr>
        <p:spPr>
          <a:xfrm>
            <a:off x="4730496" y="2286000"/>
            <a:ext cx="777240" cy="777240"/>
          </a:xfrm>
          <a:prstGeom prst="ellipse">
            <a:avLst/>
          </a:prstGeom>
          <a:solidFill>
            <a:srgbClr val="16385C"/>
          </a:solidFill>
          <a:ln/>
        </p:spPr>
      </p:sp>
      <p:sp>
        <p:nvSpPr>
          <p:cNvPr id="11" name="Text 9"/>
          <p:cNvSpPr/>
          <p:nvPr/>
        </p:nvSpPr>
        <p:spPr>
          <a:xfrm>
            <a:off x="4730496" y="2286000"/>
            <a:ext cx="77724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2</a:t>
            </a:r>
            <a:endParaRPr lang="en-US" sz="3200" dirty="0"/>
          </a:p>
        </p:txBody>
      </p:sp>
      <p:sp>
        <p:nvSpPr>
          <p:cNvPr id="12" name="Text 10"/>
          <p:cNvSpPr/>
          <p:nvPr/>
        </p:nvSpPr>
        <p:spPr>
          <a:xfrm>
            <a:off x="4730496" y="3200400"/>
            <a:ext cx="2791968" cy="960120"/>
          </a:xfrm>
          <a:prstGeom prst="rect">
            <a:avLst/>
          </a:prstGeom>
          <a:noFill/>
          <a:ln/>
        </p:spPr>
        <p:txBody>
          <a:bodyPr wrap="square" lIns="0" tIns="0" rIns="0" bIns="0" rtlCol="0" anchor="t"/>
          <a:lstStyle/>
          <a:p>
            <a:pPr indent="0" marL="0">
              <a:lnSpc>
                <a:spcPct val="100000"/>
              </a:lnSpc>
              <a:buNone/>
            </a:pPr>
            <a:r>
              <a:rPr lang="en-US" sz="2200" b="1" dirty="0">
                <a:solidFill>
                  <a:srgbClr val="16385C"/>
                </a:solidFill>
                <a:latin typeface="Trebuchet MS" pitchFamily="34" charset="0"/>
                <a:ea typeface="Trebuchet MS" pitchFamily="34" charset="-122"/>
                <a:cs typeface="Trebuchet MS" pitchFamily="34" charset="-120"/>
              </a:rPr>
              <a:t>No standardised data</a:t>
            </a:r>
            <a:endParaRPr lang="en-US" sz="2200" dirty="0"/>
          </a:p>
        </p:txBody>
      </p:sp>
      <p:sp>
        <p:nvSpPr>
          <p:cNvPr id="13" name="Text 11"/>
          <p:cNvSpPr/>
          <p:nvPr/>
        </p:nvSpPr>
        <p:spPr>
          <a:xfrm>
            <a:off x="4730496" y="4315968"/>
            <a:ext cx="2791968" cy="1554480"/>
          </a:xfrm>
          <a:prstGeom prst="rect">
            <a:avLst/>
          </a:prstGeom>
          <a:noFill/>
          <a:ln/>
        </p:spPr>
        <p:txBody>
          <a:bodyPr wrap="square" lIns="0" tIns="0" rIns="0" bIns="0" rtlCol="0" anchor="t"/>
          <a:lstStyle/>
          <a:p>
            <a:pPr indent="0" marL="0">
              <a:lnSpc>
                <a:spcPct val="106000"/>
              </a:lnSpc>
              <a:buNone/>
            </a:pPr>
            <a:r>
              <a:rPr lang="en-US" sz="2100" dirty="0">
                <a:solidFill>
                  <a:srgbClr val="232A31"/>
                </a:solidFill>
                <a:latin typeface="Calibri" pitchFamily="34" charset="0"/>
                <a:ea typeface="Calibri" pitchFamily="34" charset="-122"/>
                <a:cs typeface="Calibri" pitchFamily="34" charset="-120"/>
              </a:rPr>
              <a:t>Most existing studies are manual and descriptive, and no shared benchmark dataset is available.</a:t>
            </a:r>
            <a:endParaRPr lang="en-US" sz="2100" dirty="0"/>
          </a:p>
        </p:txBody>
      </p:sp>
      <p:sp>
        <p:nvSpPr>
          <p:cNvPr id="14" name="Shape 12"/>
          <p:cNvSpPr/>
          <p:nvPr/>
        </p:nvSpPr>
        <p:spPr>
          <a:xfrm>
            <a:off x="8162544" y="1965960"/>
            <a:ext cx="3432048" cy="3977640"/>
          </a:xfrm>
          <a:prstGeom prst="roundRect">
            <a:avLst>
              <a:gd name="adj" fmla="val 2131"/>
            </a:avLst>
          </a:prstGeom>
          <a:solidFill>
            <a:srgbClr val="F4F6F8"/>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15" name="Shape 13"/>
          <p:cNvSpPr/>
          <p:nvPr/>
        </p:nvSpPr>
        <p:spPr>
          <a:xfrm>
            <a:off x="8528304" y="2286000"/>
            <a:ext cx="777240" cy="777240"/>
          </a:xfrm>
          <a:prstGeom prst="ellipse">
            <a:avLst/>
          </a:prstGeom>
          <a:solidFill>
            <a:srgbClr val="16385C"/>
          </a:solidFill>
          <a:ln/>
        </p:spPr>
      </p:sp>
      <p:sp>
        <p:nvSpPr>
          <p:cNvPr id="16" name="Text 14"/>
          <p:cNvSpPr/>
          <p:nvPr/>
        </p:nvSpPr>
        <p:spPr>
          <a:xfrm>
            <a:off x="8528304" y="2286000"/>
            <a:ext cx="777240" cy="777240"/>
          </a:xfrm>
          <a:prstGeom prst="rect">
            <a:avLst/>
          </a:prstGeom>
          <a:noFill/>
          <a:ln/>
        </p:spPr>
        <p:txBody>
          <a:bodyPr wrap="square" lIns="0" tIns="0" rIns="0" bIns="0" rtlCol="0" anchor="ctr"/>
          <a:lstStyle/>
          <a:p>
            <a:pPr algn="ctr" indent="0" marL="0">
              <a:buNone/>
            </a:pPr>
            <a:r>
              <a:rPr lang="en-US" sz="3200" b="1" dirty="0">
                <a:solidFill>
                  <a:srgbClr val="FFFFFF"/>
                </a:solidFill>
                <a:latin typeface="Trebuchet MS" pitchFamily="34" charset="0"/>
                <a:ea typeface="Trebuchet MS" pitchFamily="34" charset="-122"/>
                <a:cs typeface="Trebuchet MS" pitchFamily="34" charset="-120"/>
              </a:rPr>
              <a:t>3</a:t>
            </a:r>
            <a:endParaRPr lang="en-US" sz="3200" dirty="0"/>
          </a:p>
        </p:txBody>
      </p:sp>
      <p:sp>
        <p:nvSpPr>
          <p:cNvPr id="17" name="Text 15"/>
          <p:cNvSpPr/>
          <p:nvPr/>
        </p:nvSpPr>
        <p:spPr>
          <a:xfrm>
            <a:off x="8528304" y="3200400"/>
            <a:ext cx="2791968" cy="960120"/>
          </a:xfrm>
          <a:prstGeom prst="rect">
            <a:avLst/>
          </a:prstGeom>
          <a:noFill/>
          <a:ln/>
        </p:spPr>
        <p:txBody>
          <a:bodyPr wrap="square" lIns="0" tIns="0" rIns="0" bIns="0" rtlCol="0" anchor="t"/>
          <a:lstStyle/>
          <a:p>
            <a:pPr indent="0" marL="0">
              <a:lnSpc>
                <a:spcPct val="100000"/>
              </a:lnSpc>
              <a:buNone/>
            </a:pPr>
            <a:r>
              <a:rPr lang="en-US" sz="2200" b="1" dirty="0">
                <a:solidFill>
                  <a:srgbClr val="16385C"/>
                </a:solidFill>
                <a:latin typeface="Trebuchet MS" pitchFamily="34" charset="0"/>
                <a:ea typeface="Trebuchet MS" pitchFamily="34" charset="-122"/>
                <a:cs typeface="Trebuchet MS" pitchFamily="34" charset="-120"/>
              </a:rPr>
              <a:t>Little deep learning</a:t>
            </a:r>
            <a:endParaRPr lang="en-US" sz="2200" dirty="0"/>
          </a:p>
        </p:txBody>
      </p:sp>
      <p:sp>
        <p:nvSpPr>
          <p:cNvPr id="18" name="Text 16"/>
          <p:cNvSpPr/>
          <p:nvPr/>
        </p:nvSpPr>
        <p:spPr>
          <a:xfrm>
            <a:off x="8528304" y="4315968"/>
            <a:ext cx="2791968" cy="1554480"/>
          </a:xfrm>
          <a:prstGeom prst="rect">
            <a:avLst/>
          </a:prstGeom>
          <a:noFill/>
          <a:ln/>
        </p:spPr>
        <p:txBody>
          <a:bodyPr wrap="square" lIns="0" tIns="0" rIns="0" bIns="0" rtlCol="0" anchor="t"/>
          <a:lstStyle/>
          <a:p>
            <a:pPr indent="0" marL="0">
              <a:lnSpc>
                <a:spcPct val="106000"/>
              </a:lnSpc>
              <a:buNone/>
            </a:pPr>
            <a:r>
              <a:rPr lang="en-US" sz="2100" dirty="0">
                <a:solidFill>
                  <a:srgbClr val="232A31"/>
                </a:solidFill>
                <a:latin typeface="Calibri" pitchFamily="34" charset="0"/>
                <a:ea typeface="Calibri" pitchFamily="34" charset="-122"/>
                <a:cs typeface="Calibri" pitchFamily="34" charset="-120"/>
              </a:rPr>
              <a:t>Deep learning works well on many biomedical signals, but has rarely been applied to contractility data.</a:t>
            </a:r>
            <a:endParaRPr lang="en-US" sz="2100" dirty="0"/>
          </a:p>
        </p:txBody>
      </p:sp>
      <p:sp>
        <p:nvSpPr>
          <p:cNvPr id="19" name="Text 17"/>
          <p:cNvSpPr/>
          <p:nvPr/>
        </p:nvSpPr>
        <p:spPr>
          <a:xfrm>
            <a:off x="566928" y="6473952"/>
            <a:ext cx="10149840" cy="274320"/>
          </a:xfrm>
          <a:prstGeom prst="rect">
            <a:avLst/>
          </a:prstGeom>
          <a:noFill/>
          <a:ln/>
        </p:spPr>
        <p:txBody>
          <a:bodyPr wrap="square" lIns="0" tIns="0" rIns="0" bIns="0" rtlCol="0" anchor="ctr"/>
          <a:lstStyle/>
          <a:p>
            <a:pPr indent="0" marL="0">
              <a:buNone/>
            </a:pPr>
            <a:r>
              <a:rPr lang="en-US" sz="1050" i="1" dirty="0">
                <a:solidFill>
                  <a:srgbClr val="8A97A5"/>
                </a:solidFill>
                <a:latin typeface="Calibri" pitchFamily="34" charset="0"/>
                <a:ea typeface="Calibri" pitchFamily="34" charset="-122"/>
                <a:cs typeface="Calibri" pitchFamily="34" charset="-120"/>
              </a:rPr>
              <a:t>Mechanism of Action of Pharmacological Agents: A Deep Learning Prediction Model Using Smooth Muscle Contractility Signals</a:t>
            </a:r>
            <a:endParaRPr lang="en-US" sz="1050" dirty="0"/>
          </a:p>
        </p:txBody>
      </p:sp>
      <p:sp>
        <p:nvSpPr>
          <p:cNvPr id="20" name="Text 1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50" dirty="0">
                <a:solidFill>
                  <a:srgbClr val="8A97A5"/>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indent="0" marL="0">
              <a:buNone/>
            </a:pPr>
            <a:r>
              <a:rPr lang="en-US" sz="1700" b="1" spc="300" kern="0" dirty="0">
                <a:solidFill>
                  <a:srgbClr val="2E75B6"/>
                </a:solidFill>
                <a:latin typeface="Trebuchet MS" pitchFamily="34" charset="0"/>
                <a:ea typeface="Trebuchet MS" pitchFamily="34" charset="-122"/>
                <a:cs typeface="Trebuchet MS" pitchFamily="34" charset="-120"/>
              </a:rPr>
              <a:t>CONTRIBUTIONS</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indent="0" marL="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What this work delivers</a:t>
            </a:r>
            <a:endParaRPr lang="en-US" sz="3500" dirty="0"/>
          </a:p>
        </p:txBody>
      </p:sp>
      <p:sp>
        <p:nvSpPr>
          <p:cNvPr id="4" name="Shape 2"/>
          <p:cNvSpPr/>
          <p:nvPr/>
        </p:nvSpPr>
        <p:spPr>
          <a:xfrm>
            <a:off x="566928" y="2011680"/>
            <a:ext cx="5394960" cy="3931920"/>
          </a:xfrm>
          <a:prstGeom prst="roundRect">
            <a:avLst>
              <a:gd name="adj" fmla="val 1860"/>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5" name="Text 3"/>
          <p:cNvSpPr/>
          <p:nvPr/>
        </p:nvSpPr>
        <p:spPr>
          <a:xfrm>
            <a:off x="978408" y="2286000"/>
            <a:ext cx="1828800" cy="731520"/>
          </a:xfrm>
          <a:prstGeom prst="rect">
            <a:avLst/>
          </a:prstGeom>
          <a:noFill/>
          <a:ln/>
        </p:spPr>
        <p:txBody>
          <a:bodyPr wrap="square" lIns="0" tIns="0" rIns="0" bIns="0" rtlCol="0" anchor="ctr"/>
          <a:lstStyle/>
          <a:p>
            <a:pPr indent="0" marL="0">
              <a:buNone/>
            </a:pPr>
            <a:r>
              <a:rPr lang="en-US" sz="4000" b="1" dirty="0">
                <a:solidFill>
                  <a:srgbClr val="6F9BD1"/>
                </a:solidFill>
                <a:latin typeface="Trebuchet MS" pitchFamily="34" charset="0"/>
                <a:ea typeface="Trebuchet MS" pitchFamily="34" charset="-122"/>
                <a:cs typeface="Trebuchet MS" pitchFamily="34" charset="-120"/>
              </a:rPr>
              <a:t>01</a:t>
            </a:r>
            <a:endParaRPr lang="en-US" sz="4000" dirty="0"/>
          </a:p>
        </p:txBody>
      </p:sp>
      <p:sp>
        <p:nvSpPr>
          <p:cNvPr id="6" name="Text 4"/>
          <p:cNvSpPr/>
          <p:nvPr/>
        </p:nvSpPr>
        <p:spPr>
          <a:xfrm>
            <a:off x="978408" y="3108960"/>
            <a:ext cx="4572000" cy="640080"/>
          </a:xfrm>
          <a:prstGeom prst="rect">
            <a:avLst/>
          </a:prstGeom>
          <a:noFill/>
          <a:ln/>
        </p:spPr>
        <p:txBody>
          <a:bodyPr wrap="square" lIns="0" tIns="0" rIns="0" bIns="0" rtlCol="0" anchor="ctr"/>
          <a:lstStyle/>
          <a:p>
            <a:pPr indent="0" marL="0">
              <a:buNone/>
            </a:pPr>
            <a:r>
              <a:rPr lang="en-US" sz="2500" b="1" dirty="0">
                <a:solidFill>
                  <a:srgbClr val="16385C"/>
                </a:solidFill>
                <a:latin typeface="Trebuchet MS" pitchFamily="34" charset="0"/>
                <a:ea typeface="Trebuchet MS" pitchFamily="34" charset="-122"/>
                <a:cs typeface="Trebuchet MS" pitchFamily="34" charset="-120"/>
              </a:rPr>
              <a:t>A curated 1D dataset</a:t>
            </a:r>
            <a:endParaRPr lang="en-US" sz="2500" dirty="0"/>
          </a:p>
        </p:txBody>
      </p:sp>
      <p:sp>
        <p:nvSpPr>
          <p:cNvPr id="7" name="Text 5"/>
          <p:cNvSpPr/>
          <p:nvPr/>
        </p:nvSpPr>
        <p:spPr>
          <a:xfrm>
            <a:off x="978408" y="3840480"/>
            <a:ext cx="4663440" cy="1920240"/>
          </a:xfrm>
          <a:prstGeom prst="rect">
            <a:avLst/>
          </a:prstGeom>
          <a:noFill/>
          <a:ln/>
        </p:spPr>
        <p:txBody>
          <a:bodyPr wrap="square" lIns="0" tIns="0" rIns="0" bIns="0" rtlCol="0" anchor="ctr"/>
          <a:lstStyle/>
          <a:p>
            <a:pPr marL="342900" indent="-342900">
              <a:lnSpc>
                <a:spcPct val="104000"/>
              </a:lnSpc>
              <a:spcAft>
                <a:spcPts val="1100"/>
              </a:spcAft>
              <a:buSzPct val="100000"/>
              <a:buChar char="•"/>
            </a:pPr>
            <a:r>
              <a:rPr lang="en-US" sz="2100" dirty="0">
                <a:solidFill>
                  <a:srgbClr val="232A31"/>
                </a:solidFill>
                <a:latin typeface="Calibri" pitchFamily="34" charset="0"/>
                <a:ea typeface="Calibri" pitchFamily="34" charset="-122"/>
                <a:cs typeface="Calibri" pitchFamily="34" charset="-120"/>
              </a:rPr>
              <a:t>We curated 578 digitised contractility signals.</a:t>
            </a:r>
            <a:endParaRPr lang="en-US" sz="2100" dirty="0"/>
          </a:p>
          <a:p>
            <a:pPr marL="342900" indent="-342900">
              <a:lnSpc>
                <a:spcPct val="104000"/>
              </a:lnSpc>
              <a:spcAft>
                <a:spcPts val="1100"/>
              </a:spcAft>
              <a:buSzPct val="100000"/>
              <a:buChar char="•"/>
            </a:pPr>
            <a:r>
              <a:rPr lang="en-US" sz="2100" dirty="0">
                <a:solidFill>
                  <a:srgbClr val="232A31"/>
                </a:solidFill>
                <a:latin typeface="Calibri" pitchFamily="34" charset="0"/>
                <a:ea typeface="Calibri" pitchFamily="34" charset="-122"/>
                <a:cs typeface="Calibri" pitchFamily="34" charset="-120"/>
              </a:rPr>
              <a:t>They span four agents and four mechanisms.</a:t>
            </a:r>
            <a:endParaRPr lang="en-US" sz="2100" dirty="0"/>
          </a:p>
          <a:p>
            <a:pPr marL="342900" indent="-342900">
              <a:lnSpc>
                <a:spcPct val="104000"/>
              </a:lnSpc>
              <a:spcAft>
                <a:spcPts val="1100"/>
              </a:spcAft>
              <a:buSzPct val="100000"/>
              <a:buChar char="•"/>
            </a:pPr>
            <a:r>
              <a:rPr lang="en-US" sz="2100" dirty="0">
                <a:solidFill>
                  <a:srgbClr val="232A31"/>
                </a:solidFill>
                <a:latin typeface="Calibri" pitchFamily="34" charset="0"/>
                <a:ea typeface="Calibri" pitchFamily="34" charset="-122"/>
                <a:cs typeface="Calibri" pitchFamily="34" charset="-120"/>
              </a:rPr>
              <a:t>The dataset is standardised and publicly released.</a:t>
            </a:r>
            <a:endParaRPr lang="en-US" sz="2100" dirty="0"/>
          </a:p>
        </p:txBody>
      </p:sp>
      <p:sp>
        <p:nvSpPr>
          <p:cNvPr id="8" name="Shape 6"/>
          <p:cNvSpPr/>
          <p:nvPr/>
        </p:nvSpPr>
        <p:spPr>
          <a:xfrm>
            <a:off x="6327648" y="2011680"/>
            <a:ext cx="5394960" cy="3931920"/>
          </a:xfrm>
          <a:prstGeom prst="roundRect">
            <a:avLst>
              <a:gd name="adj" fmla="val 1860"/>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9" name="Text 7"/>
          <p:cNvSpPr/>
          <p:nvPr/>
        </p:nvSpPr>
        <p:spPr>
          <a:xfrm>
            <a:off x="6739128" y="2286000"/>
            <a:ext cx="1828800" cy="731520"/>
          </a:xfrm>
          <a:prstGeom prst="rect">
            <a:avLst/>
          </a:prstGeom>
          <a:noFill/>
          <a:ln/>
        </p:spPr>
        <p:txBody>
          <a:bodyPr wrap="square" lIns="0" tIns="0" rIns="0" bIns="0" rtlCol="0" anchor="ctr"/>
          <a:lstStyle/>
          <a:p>
            <a:pPr indent="0" marL="0">
              <a:buNone/>
            </a:pPr>
            <a:r>
              <a:rPr lang="en-US" sz="4000" b="1" dirty="0">
                <a:solidFill>
                  <a:srgbClr val="C0504D"/>
                </a:solidFill>
                <a:latin typeface="Trebuchet MS" pitchFamily="34" charset="0"/>
                <a:ea typeface="Trebuchet MS" pitchFamily="34" charset="-122"/>
                <a:cs typeface="Trebuchet MS" pitchFamily="34" charset="-120"/>
              </a:rPr>
              <a:t>02</a:t>
            </a:r>
            <a:endParaRPr lang="en-US" sz="4000" dirty="0"/>
          </a:p>
        </p:txBody>
      </p:sp>
      <p:sp>
        <p:nvSpPr>
          <p:cNvPr id="10" name="Text 8"/>
          <p:cNvSpPr/>
          <p:nvPr/>
        </p:nvSpPr>
        <p:spPr>
          <a:xfrm>
            <a:off x="6739128" y="3108960"/>
            <a:ext cx="4572000" cy="640080"/>
          </a:xfrm>
          <a:prstGeom prst="rect">
            <a:avLst/>
          </a:prstGeom>
          <a:noFill/>
          <a:ln/>
        </p:spPr>
        <p:txBody>
          <a:bodyPr wrap="square" lIns="0" tIns="0" rIns="0" bIns="0" rtlCol="0" anchor="ctr"/>
          <a:lstStyle/>
          <a:p>
            <a:pPr indent="0" marL="0">
              <a:buNone/>
            </a:pPr>
            <a:r>
              <a:rPr lang="en-US" sz="2500" b="1" dirty="0">
                <a:solidFill>
                  <a:srgbClr val="16385C"/>
                </a:solidFill>
                <a:latin typeface="Trebuchet MS" pitchFamily="34" charset="0"/>
                <a:ea typeface="Trebuchet MS" pitchFamily="34" charset="-122"/>
                <a:cs typeface="Trebuchet MS" pitchFamily="34" charset="-120"/>
              </a:rPr>
              <a:t>A hybrid deep model</a:t>
            </a:r>
            <a:endParaRPr lang="en-US" sz="2500" dirty="0"/>
          </a:p>
        </p:txBody>
      </p:sp>
      <p:sp>
        <p:nvSpPr>
          <p:cNvPr id="11" name="Text 9"/>
          <p:cNvSpPr/>
          <p:nvPr/>
        </p:nvSpPr>
        <p:spPr>
          <a:xfrm>
            <a:off x="6739128" y="3840480"/>
            <a:ext cx="4663440" cy="1920240"/>
          </a:xfrm>
          <a:prstGeom prst="rect">
            <a:avLst/>
          </a:prstGeom>
          <a:noFill/>
          <a:ln/>
        </p:spPr>
        <p:txBody>
          <a:bodyPr wrap="square" lIns="0" tIns="0" rIns="0" bIns="0" rtlCol="0" anchor="ctr"/>
          <a:lstStyle/>
          <a:p>
            <a:pPr marL="342900" indent="-342900">
              <a:lnSpc>
                <a:spcPct val="104000"/>
              </a:lnSpc>
              <a:spcAft>
                <a:spcPts val="1100"/>
              </a:spcAft>
              <a:buSzPct val="100000"/>
              <a:buChar char="•"/>
            </a:pPr>
            <a:r>
              <a:rPr lang="en-US" sz="2100" dirty="0">
                <a:solidFill>
                  <a:srgbClr val="232A31"/>
                </a:solidFill>
                <a:latin typeface="Calibri" pitchFamily="34" charset="0"/>
                <a:ea typeface="Calibri" pitchFamily="34" charset="-122"/>
                <a:cs typeface="Calibri" pitchFamily="34" charset="-120"/>
              </a:rPr>
              <a:t>A 1D CNN extracts local features and a Transformer adds global context.</a:t>
            </a:r>
            <a:endParaRPr lang="en-US" sz="2100" dirty="0"/>
          </a:p>
          <a:p>
            <a:pPr marL="342900" indent="-342900">
              <a:lnSpc>
                <a:spcPct val="104000"/>
              </a:lnSpc>
              <a:spcAft>
                <a:spcPts val="1100"/>
              </a:spcAft>
              <a:buSzPct val="100000"/>
              <a:buChar char="•"/>
            </a:pPr>
            <a:r>
              <a:rPr lang="en-US" sz="2100" dirty="0">
                <a:solidFill>
                  <a:srgbClr val="232A31"/>
                </a:solidFill>
                <a:latin typeface="Calibri" pitchFamily="34" charset="0"/>
                <a:ea typeface="Calibri" pitchFamily="34" charset="-122"/>
                <a:cs typeface="Calibri" pitchFamily="34" charset="-120"/>
              </a:rPr>
              <a:t>The model is trained end-to-end on raw signals.</a:t>
            </a:r>
            <a:endParaRPr lang="en-US" sz="2100" dirty="0"/>
          </a:p>
          <a:p>
            <a:pPr marL="342900" indent="-342900">
              <a:lnSpc>
                <a:spcPct val="104000"/>
              </a:lnSpc>
              <a:spcAft>
                <a:spcPts val="1100"/>
              </a:spcAft>
              <a:buSzPct val="100000"/>
              <a:buChar char="•"/>
            </a:pPr>
            <a:r>
              <a:rPr lang="en-US" sz="2100" dirty="0">
                <a:solidFill>
                  <a:srgbClr val="232A31"/>
                </a:solidFill>
                <a:latin typeface="Calibri" pitchFamily="34" charset="0"/>
                <a:ea typeface="Calibri" pitchFamily="34" charset="-122"/>
                <a:cs typeface="Calibri" pitchFamily="34" charset="-120"/>
              </a:rPr>
              <a:t>It requires no manual feature engineering.</a:t>
            </a:r>
            <a:endParaRPr lang="en-US" sz="2100" dirty="0"/>
          </a:p>
        </p:txBody>
      </p:sp>
      <p:sp>
        <p:nvSpPr>
          <p:cNvPr id="12" name="Text 10"/>
          <p:cNvSpPr/>
          <p:nvPr/>
        </p:nvSpPr>
        <p:spPr>
          <a:xfrm>
            <a:off x="566928" y="6473952"/>
            <a:ext cx="10149840" cy="274320"/>
          </a:xfrm>
          <a:prstGeom prst="rect">
            <a:avLst/>
          </a:prstGeom>
          <a:noFill/>
          <a:ln/>
        </p:spPr>
        <p:txBody>
          <a:bodyPr wrap="square" lIns="0" tIns="0" rIns="0" bIns="0" rtlCol="0" anchor="ctr"/>
          <a:lstStyle/>
          <a:p>
            <a:pPr indent="0" marL="0">
              <a:buNone/>
            </a:pPr>
            <a:r>
              <a:rPr lang="en-US" sz="1050" i="1" dirty="0">
                <a:solidFill>
                  <a:srgbClr val="8A97A5"/>
                </a:solidFill>
                <a:latin typeface="Calibri" pitchFamily="34" charset="0"/>
                <a:ea typeface="Calibri" pitchFamily="34" charset="-122"/>
                <a:cs typeface="Calibri" pitchFamily="34" charset="-120"/>
              </a:rPr>
              <a:t>Mechanism of Action of Pharmacological Agents: A Deep Learning Prediction Model Using Smooth Muscle Contractility Signals</a:t>
            </a:r>
            <a:endParaRPr lang="en-US" sz="1050" dirty="0"/>
          </a:p>
        </p:txBody>
      </p:sp>
      <p:sp>
        <p:nvSpPr>
          <p:cNvPr id="13" name="Text 1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50" dirty="0">
                <a:solidFill>
                  <a:srgbClr val="8A97A5"/>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indent="0" marL="0">
              <a:buNone/>
            </a:pPr>
            <a:r>
              <a:rPr lang="en-US" sz="1700" b="1" spc="300" kern="0" dirty="0">
                <a:solidFill>
                  <a:srgbClr val="2E75B6"/>
                </a:solidFill>
                <a:latin typeface="Trebuchet MS" pitchFamily="34" charset="0"/>
                <a:ea typeface="Trebuchet MS" pitchFamily="34" charset="-122"/>
                <a:cs typeface="Trebuchet MS" pitchFamily="34" charset="-120"/>
              </a:rPr>
              <a:t>DATASET</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indent="0" marL="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A curated contractility signal dataset</a:t>
            </a:r>
            <a:endParaRPr lang="en-US" sz="3500" dirty="0"/>
          </a:p>
        </p:txBody>
      </p:sp>
      <p:sp>
        <p:nvSpPr>
          <p:cNvPr id="4" name="Text 2"/>
          <p:cNvSpPr/>
          <p:nvPr/>
        </p:nvSpPr>
        <p:spPr>
          <a:xfrm>
            <a:off x="566928" y="2103120"/>
            <a:ext cx="6126480" cy="3840480"/>
          </a:xfrm>
          <a:prstGeom prst="rect">
            <a:avLst/>
          </a:prstGeom>
          <a:noFill/>
          <a:ln/>
        </p:spPr>
        <p:txBody>
          <a:bodyPr wrap="square" lIns="0" tIns="0" rIns="0" bIns="0" rtlCol="0" anchor="ctr"/>
          <a:lstStyle/>
          <a:p>
            <a:pPr indent="0" marL="0">
              <a:lnSpc>
                <a:spcPct val="104000"/>
              </a:lnSpc>
              <a:spcAft>
                <a:spcPts val="1400"/>
              </a:spcAft>
              <a:buNone/>
            </a:pPr>
            <a:r>
              <a:rPr lang="en-US" sz="2500" b="1" dirty="0">
                <a:solidFill>
                  <a:srgbClr val="16385C"/>
                </a:solidFill>
                <a:latin typeface="Calibri" pitchFamily="34" charset="0"/>
                <a:ea typeface="Calibri" pitchFamily="34" charset="-122"/>
                <a:cs typeface="Calibri" pitchFamily="34" charset="-120"/>
              </a:rPr>
              <a:t>How the dataset was built</a:t>
            </a:r>
            <a:endParaRPr lang="en-US" sz="2100" dirty="0"/>
          </a:p>
          <a:p>
            <a:pPr marL="342900" indent="-342900">
              <a:lnSpc>
                <a:spcPct val="104000"/>
              </a:lnSpc>
              <a:spcAft>
                <a:spcPts val="1400"/>
              </a:spcAft>
              <a:buSzPct val="100000"/>
              <a:buChar char="•"/>
            </a:pPr>
            <a:r>
              <a:rPr lang="en-US" sz="2100" dirty="0">
                <a:solidFill>
                  <a:srgbClr val="232A31"/>
                </a:solidFill>
                <a:latin typeface="Calibri" pitchFamily="34" charset="0"/>
                <a:ea typeface="Calibri" pitchFamily="34" charset="-122"/>
                <a:cs typeface="Calibri" pitchFamily="34" charset="-120"/>
              </a:rPr>
              <a:t>Tracheal and bladder tissues were isolated from 50 Balb/c mice.</a:t>
            </a:r>
            <a:endParaRPr lang="en-US" sz="2100" dirty="0"/>
          </a:p>
          <a:p>
            <a:pPr marL="342900" indent="-342900">
              <a:lnSpc>
                <a:spcPct val="104000"/>
              </a:lnSpc>
              <a:spcAft>
                <a:spcPts val="1400"/>
              </a:spcAft>
              <a:buSzPct val="100000"/>
              <a:buChar char="•"/>
            </a:pPr>
            <a:r>
              <a:rPr lang="en-US" sz="2100" dirty="0">
                <a:solidFill>
                  <a:srgbClr val="232A31"/>
                </a:solidFill>
                <a:latin typeface="Calibri" pitchFamily="34" charset="0"/>
                <a:ea typeface="Calibri" pitchFamily="34" charset="-122"/>
                <a:cs typeface="Calibri" pitchFamily="34" charset="-120"/>
              </a:rPr>
              <a:t>Contractile force was recorded in an organ bath or DMT myograph.</a:t>
            </a:r>
            <a:endParaRPr lang="en-US" sz="2100" dirty="0"/>
          </a:p>
          <a:p>
            <a:pPr marL="342900" indent="-342900">
              <a:lnSpc>
                <a:spcPct val="104000"/>
              </a:lnSpc>
              <a:spcAft>
                <a:spcPts val="1400"/>
              </a:spcAft>
              <a:buSzPct val="100000"/>
              <a:buChar char="•"/>
            </a:pPr>
            <a:r>
              <a:rPr lang="en-US" sz="2100" dirty="0">
                <a:solidFill>
                  <a:srgbClr val="232A31"/>
                </a:solidFill>
                <a:latin typeface="Calibri" pitchFamily="34" charset="0"/>
                <a:ea typeface="Calibri" pitchFamily="34" charset="-122"/>
                <a:cs typeface="Calibri" pitchFamily="34" charset="-120"/>
              </a:rPr>
              <a:t>Tissues were stimulated with KCl, carbachol, serotonin and histamine.</a:t>
            </a:r>
            <a:endParaRPr lang="en-US" sz="2100" dirty="0"/>
          </a:p>
          <a:p>
            <a:pPr marL="342900" indent="-342900">
              <a:lnSpc>
                <a:spcPct val="104000"/>
              </a:lnSpc>
              <a:spcAft>
                <a:spcPts val="1400"/>
              </a:spcAft>
              <a:buSzPct val="100000"/>
              <a:buChar char="•"/>
            </a:pPr>
            <a:r>
              <a:rPr lang="en-US" sz="2100" i="1" dirty="0">
                <a:solidFill>
                  <a:srgbClr val="2E75B6"/>
                </a:solidFill>
                <a:latin typeface="Calibri" pitchFamily="34" charset="0"/>
                <a:ea typeface="Calibri" pitchFamily="34" charset="-122"/>
                <a:cs typeface="Calibri" pitchFamily="34" charset="-120"/>
              </a:rPr>
              <a:t>Signals were exported from LabChart 8 and released on Hugging Face.</a:t>
            </a:r>
            <a:endParaRPr lang="en-US" sz="2100" dirty="0"/>
          </a:p>
        </p:txBody>
      </p:sp>
      <p:sp>
        <p:nvSpPr>
          <p:cNvPr id="5" name="Shape 3"/>
          <p:cNvSpPr/>
          <p:nvPr/>
        </p:nvSpPr>
        <p:spPr>
          <a:xfrm>
            <a:off x="7040880" y="1874520"/>
            <a:ext cx="4572000" cy="4069080"/>
          </a:xfrm>
          <a:prstGeom prst="roundRect">
            <a:avLst>
              <a:gd name="adj" fmla="val 1798"/>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pic>
        <p:nvPicPr>
          <p:cNvPr id="6" name="Image 0" descr="/sessions/pensive-beautiful-ramanujan/mnt/outputs/assets/chart_dataset.png">    </p:cNvPr>
          <p:cNvPicPr>
            <a:picLocks noChangeAspect="1"/>
          </p:cNvPicPr>
          <p:nvPr/>
        </p:nvPicPr>
        <p:blipFill>
          <a:blip r:embed="rId1"/>
          <a:srcRect l="0" r="0" t="0" b="0"/>
          <a:stretch/>
        </p:blipFill>
        <p:spPr>
          <a:xfrm>
            <a:off x="7269480" y="2148840"/>
            <a:ext cx="4114800" cy="3520440"/>
          </a:xfrm>
          <a:prstGeom prst="rect">
            <a:avLst/>
          </a:prstGeom>
        </p:spPr>
      </p:pic>
      <p:sp>
        <p:nvSpPr>
          <p:cNvPr id="7" name="Text 4"/>
          <p:cNvSpPr/>
          <p:nvPr/>
        </p:nvSpPr>
        <p:spPr>
          <a:xfrm>
            <a:off x="566928" y="6473952"/>
            <a:ext cx="10149840" cy="274320"/>
          </a:xfrm>
          <a:prstGeom prst="rect">
            <a:avLst/>
          </a:prstGeom>
          <a:noFill/>
          <a:ln/>
        </p:spPr>
        <p:txBody>
          <a:bodyPr wrap="square" lIns="0" tIns="0" rIns="0" bIns="0" rtlCol="0" anchor="ctr"/>
          <a:lstStyle/>
          <a:p>
            <a:pPr indent="0" marL="0">
              <a:buNone/>
            </a:pPr>
            <a:r>
              <a:rPr lang="en-US" sz="1050" i="1" dirty="0">
                <a:solidFill>
                  <a:srgbClr val="8A97A5"/>
                </a:solidFill>
                <a:latin typeface="Calibri" pitchFamily="34" charset="0"/>
                <a:ea typeface="Calibri" pitchFamily="34" charset="-122"/>
                <a:cs typeface="Calibri" pitchFamily="34" charset="-120"/>
              </a:rPr>
              <a:t>Mechanism of Action of Pharmacological Agents: A Deep Learning Prediction Model Using Smooth Muscle Contractility Signals</a:t>
            </a:r>
            <a:endParaRPr lang="en-US" sz="1050" dirty="0"/>
          </a:p>
        </p:txBody>
      </p:sp>
      <p:sp>
        <p:nvSpPr>
          <p:cNvPr id="8" name="Text 5"/>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50" dirty="0">
                <a:solidFill>
                  <a:srgbClr val="8A97A5"/>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indent="0" marL="0">
              <a:buNone/>
            </a:pPr>
            <a:r>
              <a:rPr lang="en-US" sz="1700" b="1" spc="300" kern="0" dirty="0">
                <a:solidFill>
                  <a:srgbClr val="2E75B6"/>
                </a:solidFill>
                <a:latin typeface="Trebuchet MS" pitchFamily="34" charset="0"/>
                <a:ea typeface="Trebuchet MS" pitchFamily="34" charset="-122"/>
                <a:cs typeface="Trebuchet MS" pitchFamily="34" charset="-120"/>
              </a:rPr>
              <a:t>DATASET</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indent="0" marL="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Four agents, four signal signatures</a:t>
            </a:r>
            <a:endParaRPr lang="en-US" sz="3500" dirty="0"/>
          </a:p>
        </p:txBody>
      </p:sp>
      <p:sp>
        <p:nvSpPr>
          <p:cNvPr id="4" name="Shape 2"/>
          <p:cNvSpPr/>
          <p:nvPr/>
        </p:nvSpPr>
        <p:spPr>
          <a:xfrm>
            <a:off x="566928" y="1874520"/>
            <a:ext cx="5440680" cy="1920240"/>
          </a:xfrm>
          <a:prstGeom prst="roundRect">
            <a:avLst>
              <a:gd name="adj" fmla="val 3810"/>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pic>
        <p:nvPicPr>
          <p:cNvPr id="5" name="Image 0" descr="/sessions/pensive-beautiful-ramanujan/mnt/outputs/assets/sig_kcl.png">    </p:cNvPr>
          <p:cNvPicPr>
            <a:picLocks noChangeAspect="1"/>
          </p:cNvPicPr>
          <p:nvPr/>
        </p:nvPicPr>
        <p:blipFill>
          <a:blip r:embed="rId1"/>
          <a:srcRect l="0" r="0" t="0" b="0"/>
          <a:stretch/>
        </p:blipFill>
        <p:spPr>
          <a:xfrm>
            <a:off x="749808" y="2093976"/>
            <a:ext cx="2377440" cy="1243584"/>
          </a:xfrm>
          <a:prstGeom prst="rect">
            <a:avLst/>
          </a:prstGeom>
        </p:spPr>
      </p:pic>
      <p:sp>
        <p:nvSpPr>
          <p:cNvPr id="6" name="Text 3"/>
          <p:cNvSpPr/>
          <p:nvPr/>
        </p:nvSpPr>
        <p:spPr>
          <a:xfrm>
            <a:off x="3264408" y="2130552"/>
            <a:ext cx="2606040" cy="457200"/>
          </a:xfrm>
          <a:prstGeom prst="rect">
            <a:avLst/>
          </a:prstGeom>
          <a:noFill/>
          <a:ln/>
        </p:spPr>
        <p:txBody>
          <a:bodyPr wrap="square" lIns="0" tIns="0" rIns="0" bIns="0" rtlCol="0" anchor="ctr"/>
          <a:lstStyle/>
          <a:p>
            <a:pPr indent="0" marL="0">
              <a:buNone/>
            </a:pPr>
            <a:r>
              <a:rPr lang="en-US" sz="2100" b="1" dirty="0">
                <a:solidFill>
                  <a:srgbClr val="16385C"/>
                </a:solidFill>
                <a:latin typeface="Trebuchet MS" pitchFamily="34" charset="0"/>
                <a:ea typeface="Trebuchet MS" pitchFamily="34" charset="-122"/>
                <a:cs typeface="Trebuchet MS" pitchFamily="34" charset="-120"/>
              </a:rPr>
              <a:t>KCl</a:t>
            </a:r>
            <a:endParaRPr lang="en-US" sz="2100" dirty="0"/>
          </a:p>
        </p:txBody>
      </p:sp>
      <p:sp>
        <p:nvSpPr>
          <p:cNvPr id="7" name="Text 4"/>
          <p:cNvSpPr/>
          <p:nvPr/>
        </p:nvSpPr>
        <p:spPr>
          <a:xfrm>
            <a:off x="3264408" y="2606040"/>
            <a:ext cx="2606040" cy="777240"/>
          </a:xfrm>
          <a:prstGeom prst="rect">
            <a:avLst/>
          </a:prstGeom>
          <a:noFill/>
          <a:ln/>
        </p:spPr>
        <p:txBody>
          <a:bodyPr wrap="square" lIns="0" tIns="0" rIns="0" bIns="0" rtlCol="0" anchor="t"/>
          <a:lstStyle/>
          <a:p>
            <a:pPr indent="0" marL="0">
              <a:buNone/>
            </a:pPr>
            <a:r>
              <a:rPr lang="en-US" sz="1700" dirty="0">
                <a:solidFill>
                  <a:srgbClr val="232A31"/>
                </a:solidFill>
                <a:latin typeface="Calibri" pitchFamily="34" charset="0"/>
                <a:ea typeface="Calibri" pitchFamily="34" charset="-122"/>
                <a:cs typeface="Calibri" pitchFamily="34" charset="-120"/>
              </a:rPr>
              <a:t>Calcium channel modulation</a:t>
            </a:r>
            <a:endParaRPr lang="en-US" sz="1700" dirty="0"/>
          </a:p>
        </p:txBody>
      </p:sp>
      <p:sp>
        <p:nvSpPr>
          <p:cNvPr id="8" name="Text 5"/>
          <p:cNvSpPr/>
          <p:nvPr/>
        </p:nvSpPr>
        <p:spPr>
          <a:xfrm>
            <a:off x="3264408" y="3282696"/>
            <a:ext cx="2606040" cy="365760"/>
          </a:xfrm>
          <a:prstGeom prst="rect">
            <a:avLst/>
          </a:prstGeom>
          <a:noFill/>
          <a:ln/>
        </p:spPr>
        <p:txBody>
          <a:bodyPr wrap="square" lIns="0" tIns="0" rIns="0" bIns="0" rtlCol="0" anchor="ctr"/>
          <a:lstStyle/>
          <a:p>
            <a:pPr indent="0" marL="0">
              <a:buNone/>
            </a:pPr>
            <a:r>
              <a:rPr lang="en-US" sz="1400" i="1" dirty="0">
                <a:solidFill>
                  <a:srgbClr val="8A97A5"/>
                </a:solidFill>
                <a:latin typeface="Calibri" pitchFamily="34" charset="0"/>
                <a:ea typeface="Calibri" pitchFamily="34" charset="-122"/>
                <a:cs typeface="Calibri" pitchFamily="34" charset="-120"/>
              </a:rPr>
              <a:t>237 signals</a:t>
            </a:r>
            <a:endParaRPr lang="en-US" sz="1400" dirty="0"/>
          </a:p>
        </p:txBody>
      </p:sp>
      <p:sp>
        <p:nvSpPr>
          <p:cNvPr id="9" name="Shape 6"/>
          <p:cNvSpPr/>
          <p:nvPr/>
        </p:nvSpPr>
        <p:spPr>
          <a:xfrm>
            <a:off x="6373368" y="1874520"/>
            <a:ext cx="5440680" cy="1920240"/>
          </a:xfrm>
          <a:prstGeom prst="roundRect">
            <a:avLst>
              <a:gd name="adj" fmla="val 3810"/>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pic>
        <p:nvPicPr>
          <p:cNvPr id="10" name="Image 1" descr="/sessions/pensive-beautiful-ramanujan/mnt/outputs/assets/sig_cch.png">    </p:cNvPr>
          <p:cNvPicPr>
            <a:picLocks noChangeAspect="1"/>
          </p:cNvPicPr>
          <p:nvPr/>
        </p:nvPicPr>
        <p:blipFill>
          <a:blip r:embed="rId2"/>
          <a:srcRect l="0" r="0" t="0" b="0"/>
          <a:stretch/>
        </p:blipFill>
        <p:spPr>
          <a:xfrm>
            <a:off x="6556248" y="2093976"/>
            <a:ext cx="2377440" cy="1243584"/>
          </a:xfrm>
          <a:prstGeom prst="rect">
            <a:avLst/>
          </a:prstGeom>
        </p:spPr>
      </p:pic>
      <p:sp>
        <p:nvSpPr>
          <p:cNvPr id="11" name="Text 7"/>
          <p:cNvSpPr/>
          <p:nvPr/>
        </p:nvSpPr>
        <p:spPr>
          <a:xfrm>
            <a:off x="9070848" y="2130552"/>
            <a:ext cx="2606040" cy="457200"/>
          </a:xfrm>
          <a:prstGeom prst="rect">
            <a:avLst/>
          </a:prstGeom>
          <a:noFill/>
          <a:ln/>
        </p:spPr>
        <p:txBody>
          <a:bodyPr wrap="square" lIns="0" tIns="0" rIns="0" bIns="0" rtlCol="0" anchor="ctr"/>
          <a:lstStyle/>
          <a:p>
            <a:pPr indent="0" marL="0">
              <a:buNone/>
            </a:pPr>
            <a:r>
              <a:rPr lang="en-US" sz="2100" b="1" dirty="0">
                <a:solidFill>
                  <a:srgbClr val="16385C"/>
                </a:solidFill>
                <a:latin typeface="Trebuchet MS" pitchFamily="34" charset="0"/>
                <a:ea typeface="Trebuchet MS" pitchFamily="34" charset="-122"/>
                <a:cs typeface="Trebuchet MS" pitchFamily="34" charset="-120"/>
              </a:rPr>
              <a:t>Carbachol (CCh)</a:t>
            </a:r>
            <a:endParaRPr lang="en-US" sz="2100" dirty="0"/>
          </a:p>
        </p:txBody>
      </p:sp>
      <p:sp>
        <p:nvSpPr>
          <p:cNvPr id="12" name="Text 8"/>
          <p:cNvSpPr/>
          <p:nvPr/>
        </p:nvSpPr>
        <p:spPr>
          <a:xfrm>
            <a:off x="9070848" y="2606040"/>
            <a:ext cx="2606040" cy="777240"/>
          </a:xfrm>
          <a:prstGeom prst="rect">
            <a:avLst/>
          </a:prstGeom>
          <a:noFill/>
          <a:ln/>
        </p:spPr>
        <p:txBody>
          <a:bodyPr wrap="square" lIns="0" tIns="0" rIns="0" bIns="0" rtlCol="0" anchor="t"/>
          <a:lstStyle/>
          <a:p>
            <a:pPr indent="0" marL="0">
              <a:buNone/>
            </a:pPr>
            <a:r>
              <a:rPr lang="en-US" sz="1700" dirty="0">
                <a:solidFill>
                  <a:srgbClr val="232A31"/>
                </a:solidFill>
                <a:latin typeface="Calibri" pitchFamily="34" charset="0"/>
                <a:ea typeface="Calibri" pitchFamily="34" charset="-122"/>
                <a:cs typeface="Calibri" pitchFamily="34" charset="-120"/>
              </a:rPr>
              <a:t>Muscarinic receptor activation</a:t>
            </a:r>
            <a:endParaRPr lang="en-US" sz="1700" dirty="0"/>
          </a:p>
        </p:txBody>
      </p:sp>
      <p:sp>
        <p:nvSpPr>
          <p:cNvPr id="13" name="Text 9"/>
          <p:cNvSpPr/>
          <p:nvPr/>
        </p:nvSpPr>
        <p:spPr>
          <a:xfrm>
            <a:off x="9070848" y="3282696"/>
            <a:ext cx="2606040" cy="365760"/>
          </a:xfrm>
          <a:prstGeom prst="rect">
            <a:avLst/>
          </a:prstGeom>
          <a:noFill/>
          <a:ln/>
        </p:spPr>
        <p:txBody>
          <a:bodyPr wrap="square" lIns="0" tIns="0" rIns="0" bIns="0" rtlCol="0" anchor="ctr"/>
          <a:lstStyle/>
          <a:p>
            <a:pPr indent="0" marL="0">
              <a:buNone/>
            </a:pPr>
            <a:r>
              <a:rPr lang="en-US" sz="1400" i="1" dirty="0">
                <a:solidFill>
                  <a:srgbClr val="8A97A5"/>
                </a:solidFill>
                <a:latin typeface="Calibri" pitchFamily="34" charset="0"/>
                <a:ea typeface="Calibri" pitchFamily="34" charset="-122"/>
                <a:cs typeface="Calibri" pitchFamily="34" charset="-120"/>
              </a:rPr>
              <a:t>179 signals</a:t>
            </a:r>
            <a:endParaRPr lang="en-US" sz="1400" dirty="0"/>
          </a:p>
        </p:txBody>
      </p:sp>
      <p:sp>
        <p:nvSpPr>
          <p:cNvPr id="14" name="Shape 10"/>
          <p:cNvSpPr/>
          <p:nvPr/>
        </p:nvSpPr>
        <p:spPr>
          <a:xfrm>
            <a:off x="566928" y="4087368"/>
            <a:ext cx="5440680" cy="1920240"/>
          </a:xfrm>
          <a:prstGeom prst="roundRect">
            <a:avLst>
              <a:gd name="adj" fmla="val 3810"/>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pic>
        <p:nvPicPr>
          <p:cNvPr id="15" name="Image 2" descr="/sessions/pensive-beautiful-ramanujan/mnt/outputs/assets/sig_ser.png">    </p:cNvPr>
          <p:cNvPicPr>
            <a:picLocks noChangeAspect="1"/>
          </p:cNvPicPr>
          <p:nvPr/>
        </p:nvPicPr>
        <p:blipFill>
          <a:blip r:embed="rId3"/>
          <a:srcRect l="0" r="0" t="0" b="0"/>
          <a:stretch/>
        </p:blipFill>
        <p:spPr>
          <a:xfrm>
            <a:off x="749808" y="4306824"/>
            <a:ext cx="2377440" cy="1243584"/>
          </a:xfrm>
          <a:prstGeom prst="rect">
            <a:avLst/>
          </a:prstGeom>
        </p:spPr>
      </p:pic>
      <p:sp>
        <p:nvSpPr>
          <p:cNvPr id="16" name="Text 11"/>
          <p:cNvSpPr/>
          <p:nvPr/>
        </p:nvSpPr>
        <p:spPr>
          <a:xfrm>
            <a:off x="3264408" y="4343400"/>
            <a:ext cx="2606040" cy="457200"/>
          </a:xfrm>
          <a:prstGeom prst="rect">
            <a:avLst/>
          </a:prstGeom>
          <a:noFill/>
          <a:ln/>
        </p:spPr>
        <p:txBody>
          <a:bodyPr wrap="square" lIns="0" tIns="0" rIns="0" bIns="0" rtlCol="0" anchor="ctr"/>
          <a:lstStyle/>
          <a:p>
            <a:pPr indent="0" marL="0">
              <a:buNone/>
            </a:pPr>
            <a:r>
              <a:rPr lang="en-US" sz="2100" b="1" dirty="0">
                <a:solidFill>
                  <a:srgbClr val="16385C"/>
                </a:solidFill>
                <a:latin typeface="Trebuchet MS" pitchFamily="34" charset="0"/>
                <a:ea typeface="Trebuchet MS" pitchFamily="34" charset="-122"/>
                <a:cs typeface="Trebuchet MS" pitchFamily="34" charset="-120"/>
              </a:rPr>
              <a:t>Serotonin (SER)</a:t>
            </a:r>
            <a:endParaRPr lang="en-US" sz="2100" dirty="0"/>
          </a:p>
        </p:txBody>
      </p:sp>
      <p:sp>
        <p:nvSpPr>
          <p:cNvPr id="17" name="Text 12"/>
          <p:cNvSpPr/>
          <p:nvPr/>
        </p:nvSpPr>
        <p:spPr>
          <a:xfrm>
            <a:off x="3264408" y="4818888"/>
            <a:ext cx="2606040" cy="777240"/>
          </a:xfrm>
          <a:prstGeom prst="rect">
            <a:avLst/>
          </a:prstGeom>
          <a:noFill/>
          <a:ln/>
        </p:spPr>
        <p:txBody>
          <a:bodyPr wrap="square" lIns="0" tIns="0" rIns="0" bIns="0" rtlCol="0" anchor="t"/>
          <a:lstStyle/>
          <a:p>
            <a:pPr indent="0" marL="0">
              <a:buNone/>
            </a:pPr>
            <a:r>
              <a:rPr lang="en-US" sz="1700" dirty="0">
                <a:solidFill>
                  <a:srgbClr val="232A31"/>
                </a:solidFill>
                <a:latin typeface="Calibri" pitchFamily="34" charset="0"/>
                <a:ea typeface="Calibri" pitchFamily="34" charset="-122"/>
                <a:cs typeface="Calibri" pitchFamily="34" charset="-120"/>
              </a:rPr>
              <a:t>Serotonergic receptor pathway</a:t>
            </a:r>
            <a:endParaRPr lang="en-US" sz="1700" dirty="0"/>
          </a:p>
        </p:txBody>
      </p:sp>
      <p:sp>
        <p:nvSpPr>
          <p:cNvPr id="18" name="Text 13"/>
          <p:cNvSpPr/>
          <p:nvPr/>
        </p:nvSpPr>
        <p:spPr>
          <a:xfrm>
            <a:off x="3264408" y="5495544"/>
            <a:ext cx="2606040" cy="365760"/>
          </a:xfrm>
          <a:prstGeom prst="rect">
            <a:avLst/>
          </a:prstGeom>
          <a:noFill/>
          <a:ln/>
        </p:spPr>
        <p:txBody>
          <a:bodyPr wrap="square" lIns="0" tIns="0" rIns="0" bIns="0" rtlCol="0" anchor="ctr"/>
          <a:lstStyle/>
          <a:p>
            <a:pPr indent="0" marL="0">
              <a:buNone/>
            </a:pPr>
            <a:r>
              <a:rPr lang="en-US" sz="1400" i="1" dirty="0">
                <a:solidFill>
                  <a:srgbClr val="8A97A5"/>
                </a:solidFill>
                <a:latin typeface="Calibri" pitchFamily="34" charset="0"/>
                <a:ea typeface="Calibri" pitchFamily="34" charset="-122"/>
                <a:cs typeface="Calibri" pitchFamily="34" charset="-120"/>
              </a:rPr>
              <a:t>86 signals</a:t>
            </a:r>
            <a:endParaRPr lang="en-US" sz="1400" dirty="0"/>
          </a:p>
        </p:txBody>
      </p:sp>
      <p:sp>
        <p:nvSpPr>
          <p:cNvPr id="19" name="Shape 14"/>
          <p:cNvSpPr/>
          <p:nvPr/>
        </p:nvSpPr>
        <p:spPr>
          <a:xfrm>
            <a:off x="6373368" y="4087368"/>
            <a:ext cx="5440680" cy="1920240"/>
          </a:xfrm>
          <a:prstGeom prst="roundRect">
            <a:avLst>
              <a:gd name="adj" fmla="val 3810"/>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pic>
        <p:nvPicPr>
          <p:cNvPr id="20" name="Image 3" descr="/sessions/pensive-beautiful-ramanujan/mnt/outputs/assets/sig_his.png">    </p:cNvPr>
          <p:cNvPicPr>
            <a:picLocks noChangeAspect="1"/>
          </p:cNvPicPr>
          <p:nvPr/>
        </p:nvPicPr>
        <p:blipFill>
          <a:blip r:embed="rId4"/>
          <a:srcRect l="0" r="0" t="0" b="0"/>
          <a:stretch/>
        </p:blipFill>
        <p:spPr>
          <a:xfrm>
            <a:off x="6556248" y="4306824"/>
            <a:ext cx="2377440" cy="1243584"/>
          </a:xfrm>
          <a:prstGeom prst="rect">
            <a:avLst/>
          </a:prstGeom>
        </p:spPr>
      </p:pic>
      <p:sp>
        <p:nvSpPr>
          <p:cNvPr id="21" name="Text 15"/>
          <p:cNvSpPr/>
          <p:nvPr/>
        </p:nvSpPr>
        <p:spPr>
          <a:xfrm>
            <a:off x="9070848" y="4343400"/>
            <a:ext cx="2606040" cy="457200"/>
          </a:xfrm>
          <a:prstGeom prst="rect">
            <a:avLst/>
          </a:prstGeom>
          <a:noFill/>
          <a:ln/>
        </p:spPr>
        <p:txBody>
          <a:bodyPr wrap="square" lIns="0" tIns="0" rIns="0" bIns="0" rtlCol="0" anchor="ctr"/>
          <a:lstStyle/>
          <a:p>
            <a:pPr indent="0" marL="0">
              <a:buNone/>
            </a:pPr>
            <a:r>
              <a:rPr lang="en-US" sz="2100" b="1" dirty="0">
                <a:solidFill>
                  <a:srgbClr val="16385C"/>
                </a:solidFill>
                <a:latin typeface="Trebuchet MS" pitchFamily="34" charset="0"/>
                <a:ea typeface="Trebuchet MS" pitchFamily="34" charset="-122"/>
                <a:cs typeface="Trebuchet MS" pitchFamily="34" charset="-120"/>
              </a:rPr>
              <a:t>Histamine (HIS)</a:t>
            </a:r>
            <a:endParaRPr lang="en-US" sz="2100" dirty="0"/>
          </a:p>
        </p:txBody>
      </p:sp>
      <p:sp>
        <p:nvSpPr>
          <p:cNvPr id="22" name="Text 16"/>
          <p:cNvSpPr/>
          <p:nvPr/>
        </p:nvSpPr>
        <p:spPr>
          <a:xfrm>
            <a:off x="9070848" y="4818888"/>
            <a:ext cx="2606040" cy="777240"/>
          </a:xfrm>
          <a:prstGeom prst="rect">
            <a:avLst/>
          </a:prstGeom>
          <a:noFill/>
          <a:ln/>
        </p:spPr>
        <p:txBody>
          <a:bodyPr wrap="square" lIns="0" tIns="0" rIns="0" bIns="0" rtlCol="0" anchor="t"/>
          <a:lstStyle/>
          <a:p>
            <a:pPr indent="0" marL="0">
              <a:buNone/>
            </a:pPr>
            <a:r>
              <a:rPr lang="en-US" sz="1700" dirty="0">
                <a:solidFill>
                  <a:srgbClr val="232A31"/>
                </a:solidFill>
                <a:latin typeface="Calibri" pitchFamily="34" charset="0"/>
                <a:ea typeface="Calibri" pitchFamily="34" charset="-122"/>
                <a:cs typeface="Calibri" pitchFamily="34" charset="-120"/>
              </a:rPr>
              <a:t>Histaminergic receptor pathway</a:t>
            </a:r>
            <a:endParaRPr lang="en-US" sz="1700" dirty="0"/>
          </a:p>
        </p:txBody>
      </p:sp>
      <p:sp>
        <p:nvSpPr>
          <p:cNvPr id="23" name="Text 17"/>
          <p:cNvSpPr/>
          <p:nvPr/>
        </p:nvSpPr>
        <p:spPr>
          <a:xfrm>
            <a:off x="9070848" y="5495544"/>
            <a:ext cx="2606040" cy="365760"/>
          </a:xfrm>
          <a:prstGeom prst="rect">
            <a:avLst/>
          </a:prstGeom>
          <a:noFill/>
          <a:ln/>
        </p:spPr>
        <p:txBody>
          <a:bodyPr wrap="square" lIns="0" tIns="0" rIns="0" bIns="0" rtlCol="0" anchor="ctr"/>
          <a:lstStyle/>
          <a:p>
            <a:pPr indent="0" marL="0">
              <a:buNone/>
            </a:pPr>
            <a:r>
              <a:rPr lang="en-US" sz="1400" i="1" dirty="0">
                <a:solidFill>
                  <a:srgbClr val="8A97A5"/>
                </a:solidFill>
                <a:latin typeface="Calibri" pitchFamily="34" charset="0"/>
                <a:ea typeface="Calibri" pitchFamily="34" charset="-122"/>
                <a:cs typeface="Calibri" pitchFamily="34" charset="-120"/>
              </a:rPr>
              <a:t>76 signals</a:t>
            </a:r>
            <a:endParaRPr lang="en-US" sz="1400" dirty="0"/>
          </a:p>
        </p:txBody>
      </p:sp>
      <p:sp>
        <p:nvSpPr>
          <p:cNvPr id="24" name="Text 18"/>
          <p:cNvSpPr/>
          <p:nvPr/>
        </p:nvSpPr>
        <p:spPr>
          <a:xfrm>
            <a:off x="566928" y="6473952"/>
            <a:ext cx="10149840" cy="274320"/>
          </a:xfrm>
          <a:prstGeom prst="rect">
            <a:avLst/>
          </a:prstGeom>
          <a:noFill/>
          <a:ln/>
        </p:spPr>
        <p:txBody>
          <a:bodyPr wrap="square" lIns="0" tIns="0" rIns="0" bIns="0" rtlCol="0" anchor="ctr"/>
          <a:lstStyle/>
          <a:p>
            <a:pPr indent="0" marL="0">
              <a:buNone/>
            </a:pPr>
            <a:r>
              <a:rPr lang="en-US" sz="1050" i="1" dirty="0">
                <a:solidFill>
                  <a:srgbClr val="8A97A5"/>
                </a:solidFill>
                <a:latin typeface="Calibri" pitchFamily="34" charset="0"/>
                <a:ea typeface="Calibri" pitchFamily="34" charset="-122"/>
                <a:cs typeface="Calibri" pitchFamily="34" charset="-120"/>
              </a:rPr>
              <a:t>Mechanism of Action of Pharmacological Agents: A Deep Learning Prediction Model Using Smooth Muscle Contractility Signals</a:t>
            </a:r>
            <a:endParaRPr lang="en-US" sz="1050" dirty="0"/>
          </a:p>
        </p:txBody>
      </p:sp>
      <p:sp>
        <p:nvSpPr>
          <p:cNvPr id="25" name="Text 1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50" dirty="0">
                <a:solidFill>
                  <a:srgbClr val="8A97A5"/>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indent="0" marL="0">
              <a:buNone/>
            </a:pPr>
            <a:r>
              <a:rPr lang="en-US" sz="1700" b="1" spc="300" kern="0" dirty="0">
                <a:solidFill>
                  <a:srgbClr val="2E75B6"/>
                </a:solidFill>
                <a:latin typeface="Trebuchet MS" pitchFamily="34" charset="0"/>
                <a:ea typeface="Trebuchet MS" pitchFamily="34" charset="-122"/>
                <a:cs typeface="Trebuchet MS" pitchFamily="34" charset="-120"/>
              </a:rPr>
              <a:t>PROPOSED METHOD</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indent="0" marL="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A hybrid CNN–Transformer pipeline</a:t>
            </a:r>
            <a:endParaRPr lang="en-US" sz="3500" dirty="0"/>
          </a:p>
        </p:txBody>
      </p:sp>
      <p:sp>
        <p:nvSpPr>
          <p:cNvPr id="4" name="Shape 2"/>
          <p:cNvSpPr/>
          <p:nvPr/>
        </p:nvSpPr>
        <p:spPr>
          <a:xfrm>
            <a:off x="566928" y="1828800"/>
            <a:ext cx="1912925" cy="1188720"/>
          </a:xfrm>
          <a:prstGeom prst="roundRect">
            <a:avLst>
              <a:gd name="adj" fmla="val 6154"/>
            </a:avLst>
          </a:prstGeom>
          <a:solidFill>
            <a:srgbClr val="6F9BD1"/>
          </a:solidFill>
          <a:ln w="12700">
            <a:solidFill>
              <a:srgbClr val="6F9BD1"/>
            </a:solidFill>
            <a:prstDash val="solid"/>
          </a:ln>
          <a:effectLst>
            <a:outerShdw sx="100000" sy="100000" kx="0" ky="0" algn="bl" rotWithShape="0" blurRad="88900" dist="38100" dir="8100000">
              <a:srgbClr val="8AA0B5">
                <a:alpha val="28000"/>
              </a:srgbClr>
            </a:outerShdw>
          </a:effectLst>
        </p:spPr>
      </p:sp>
      <p:sp>
        <p:nvSpPr>
          <p:cNvPr id="5" name="Text 3"/>
          <p:cNvSpPr/>
          <p:nvPr/>
        </p:nvSpPr>
        <p:spPr>
          <a:xfrm>
            <a:off x="612648" y="1920240"/>
            <a:ext cx="1821485" cy="1005840"/>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Trebuchet MS" pitchFamily="34" charset="0"/>
                <a:ea typeface="Trebuchet MS" pitchFamily="34" charset="-122"/>
                <a:cs typeface="Trebuchet MS" pitchFamily="34" charset="-120"/>
              </a:rPr>
              <a:t>Input signal</a:t>
            </a:r>
            <a:endParaRPr lang="en-US" sz="1800" dirty="0"/>
          </a:p>
        </p:txBody>
      </p:sp>
      <p:sp>
        <p:nvSpPr>
          <p:cNvPr id="6" name="Text 4"/>
          <p:cNvSpPr/>
          <p:nvPr/>
        </p:nvSpPr>
        <p:spPr>
          <a:xfrm>
            <a:off x="512064" y="3163824"/>
            <a:ext cx="2022653" cy="2743200"/>
          </a:xfrm>
          <a:prstGeom prst="rect">
            <a:avLst/>
          </a:prstGeom>
          <a:noFill/>
          <a:ln/>
        </p:spPr>
        <p:txBody>
          <a:bodyPr wrap="square" lIns="0" tIns="0" rIns="0" bIns="0" rtlCol="0" anchor="t"/>
          <a:lstStyle/>
          <a:p>
            <a:pPr algn="ctr" indent="0" marL="0">
              <a:lnSpc>
                <a:spcPct val="105000"/>
              </a:lnSpc>
              <a:buNone/>
            </a:pPr>
            <a:r>
              <a:rPr lang="en-US" sz="1250" dirty="0">
                <a:solidFill>
                  <a:srgbClr val="232A31"/>
                </a:solidFill>
                <a:latin typeface="Calibri" pitchFamily="34" charset="0"/>
                <a:ea typeface="Calibri" pitchFamily="34" charset="-122"/>
                <a:cs typeface="Calibri" pitchFamily="34" charset="-120"/>
              </a:rPr>
              <a:t>Each raw trace is normalised and resampled to a fixed length of 10,000 samples. This keeps every input the same size and preserves its temporal structure.</a:t>
            </a:r>
            <a:endParaRPr lang="en-US" sz="1250" dirty="0"/>
          </a:p>
        </p:txBody>
      </p:sp>
      <p:sp>
        <p:nvSpPr>
          <p:cNvPr id="7" name="Text 5"/>
          <p:cNvSpPr/>
          <p:nvPr/>
        </p:nvSpPr>
        <p:spPr>
          <a:xfrm>
            <a:off x="2434133" y="1828800"/>
            <a:ext cx="457200" cy="1188720"/>
          </a:xfrm>
          <a:prstGeom prst="rect">
            <a:avLst/>
          </a:prstGeom>
          <a:noFill/>
          <a:ln/>
        </p:spPr>
        <p:txBody>
          <a:bodyPr wrap="square" lIns="0" tIns="0" rIns="0" bIns="0" rtlCol="0" anchor="ctr"/>
          <a:lstStyle/>
          <a:p>
            <a:pPr algn="ctr" indent="0" marL="0">
              <a:buNone/>
            </a:pPr>
            <a:r>
              <a:rPr lang="en-US" sz="2200" b="1" dirty="0">
                <a:solidFill>
                  <a:srgbClr val="8A97A5"/>
                </a:solidFill>
                <a:latin typeface="Trebuchet MS" pitchFamily="34" charset="0"/>
                <a:ea typeface="Trebuchet MS" pitchFamily="34" charset="-122"/>
                <a:cs typeface="Trebuchet MS" pitchFamily="34" charset="-120"/>
              </a:rPr>
              <a:t>→</a:t>
            </a:r>
            <a:endParaRPr lang="en-US" sz="2200" dirty="0"/>
          </a:p>
        </p:txBody>
      </p:sp>
      <p:sp>
        <p:nvSpPr>
          <p:cNvPr id="8" name="Shape 6"/>
          <p:cNvSpPr/>
          <p:nvPr/>
        </p:nvSpPr>
        <p:spPr>
          <a:xfrm>
            <a:off x="2845613" y="1828800"/>
            <a:ext cx="1912925" cy="1188720"/>
          </a:xfrm>
          <a:prstGeom prst="roundRect">
            <a:avLst>
              <a:gd name="adj" fmla="val 6154"/>
            </a:avLst>
          </a:prstGeom>
          <a:solidFill>
            <a:srgbClr val="16385C"/>
          </a:solidFill>
          <a:ln w="12700">
            <a:solidFill>
              <a:srgbClr val="16385C"/>
            </a:solidFill>
            <a:prstDash val="solid"/>
          </a:ln>
          <a:effectLst>
            <a:outerShdw sx="100000" sy="100000" kx="0" ky="0" algn="bl" rotWithShape="0" blurRad="88900" dist="38100" dir="8100000">
              <a:srgbClr val="8AA0B5">
                <a:alpha val="28000"/>
              </a:srgbClr>
            </a:outerShdw>
          </a:effectLst>
        </p:spPr>
      </p:sp>
      <p:sp>
        <p:nvSpPr>
          <p:cNvPr id="9" name="Text 7"/>
          <p:cNvSpPr/>
          <p:nvPr/>
        </p:nvSpPr>
        <p:spPr>
          <a:xfrm>
            <a:off x="2891333" y="1920240"/>
            <a:ext cx="1821485" cy="1005840"/>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Trebuchet MS" pitchFamily="34" charset="0"/>
                <a:ea typeface="Trebuchet MS" pitchFamily="34" charset="-122"/>
                <a:cs typeface="Trebuchet MS" pitchFamily="34" charset="-120"/>
              </a:rPr>
              <a:t>1D Conv</a:t>
            </a:r>
            <a:endParaRPr lang="en-US" sz="1800" dirty="0"/>
          </a:p>
          <a:p>
            <a:pPr algn="ctr" indent="0" marL="0">
              <a:lnSpc>
                <a:spcPct val="100000"/>
              </a:lnSpc>
              <a:buNone/>
            </a:pPr>
            <a:r>
              <a:rPr lang="en-US" sz="1800" b="1" dirty="0">
                <a:solidFill>
                  <a:srgbClr val="FFFFFF"/>
                </a:solidFill>
                <a:latin typeface="Trebuchet MS" pitchFamily="34" charset="0"/>
                <a:ea typeface="Trebuchet MS" pitchFamily="34" charset="-122"/>
                <a:cs typeface="Trebuchet MS" pitchFamily="34" charset="-120"/>
              </a:rPr>
              <a:t>encoder</a:t>
            </a:r>
            <a:endParaRPr lang="en-US" sz="1800" dirty="0"/>
          </a:p>
        </p:txBody>
      </p:sp>
      <p:sp>
        <p:nvSpPr>
          <p:cNvPr id="10" name="Text 8"/>
          <p:cNvSpPr/>
          <p:nvPr/>
        </p:nvSpPr>
        <p:spPr>
          <a:xfrm>
            <a:off x="2790749" y="3163824"/>
            <a:ext cx="2022653" cy="2743200"/>
          </a:xfrm>
          <a:prstGeom prst="rect">
            <a:avLst/>
          </a:prstGeom>
          <a:noFill/>
          <a:ln/>
        </p:spPr>
        <p:txBody>
          <a:bodyPr wrap="square" lIns="0" tIns="0" rIns="0" bIns="0" rtlCol="0" anchor="t"/>
          <a:lstStyle/>
          <a:p>
            <a:pPr algn="ctr" indent="0" marL="0">
              <a:lnSpc>
                <a:spcPct val="105000"/>
              </a:lnSpc>
              <a:buNone/>
            </a:pPr>
            <a:r>
              <a:rPr lang="en-US" sz="1250" dirty="0">
                <a:solidFill>
                  <a:srgbClr val="232A31"/>
                </a:solidFill>
                <a:latin typeface="Calibri" pitchFamily="34" charset="0"/>
                <a:ea typeface="Calibri" pitchFamily="34" charset="-122"/>
                <a:cs typeface="Calibri" pitchFamily="34" charset="-120"/>
              </a:rPr>
              <a:t>Three Conv1D layers with batch-norm and GELU extract local waveform features. The channels grow from 1 to 768 as the signal is progressively downsampled.</a:t>
            </a:r>
            <a:endParaRPr lang="en-US" sz="1250" dirty="0"/>
          </a:p>
        </p:txBody>
      </p:sp>
      <p:sp>
        <p:nvSpPr>
          <p:cNvPr id="11" name="Text 9"/>
          <p:cNvSpPr/>
          <p:nvPr/>
        </p:nvSpPr>
        <p:spPr>
          <a:xfrm>
            <a:off x="4712818" y="1828800"/>
            <a:ext cx="457200" cy="1188720"/>
          </a:xfrm>
          <a:prstGeom prst="rect">
            <a:avLst/>
          </a:prstGeom>
          <a:noFill/>
          <a:ln/>
        </p:spPr>
        <p:txBody>
          <a:bodyPr wrap="square" lIns="0" tIns="0" rIns="0" bIns="0" rtlCol="0" anchor="ctr"/>
          <a:lstStyle/>
          <a:p>
            <a:pPr algn="ctr" indent="0" marL="0">
              <a:buNone/>
            </a:pPr>
            <a:r>
              <a:rPr lang="en-US" sz="2200" b="1" dirty="0">
                <a:solidFill>
                  <a:srgbClr val="8A97A5"/>
                </a:solidFill>
                <a:latin typeface="Trebuchet MS" pitchFamily="34" charset="0"/>
                <a:ea typeface="Trebuchet MS" pitchFamily="34" charset="-122"/>
                <a:cs typeface="Trebuchet MS" pitchFamily="34" charset="-120"/>
              </a:rPr>
              <a:t>→</a:t>
            </a:r>
            <a:endParaRPr lang="en-US" sz="2200" dirty="0"/>
          </a:p>
        </p:txBody>
      </p:sp>
      <p:sp>
        <p:nvSpPr>
          <p:cNvPr id="12" name="Shape 10"/>
          <p:cNvSpPr/>
          <p:nvPr/>
        </p:nvSpPr>
        <p:spPr>
          <a:xfrm>
            <a:off x="5124298" y="1828800"/>
            <a:ext cx="1912925" cy="1188720"/>
          </a:xfrm>
          <a:prstGeom prst="roundRect">
            <a:avLst>
              <a:gd name="adj" fmla="val 6154"/>
            </a:avLst>
          </a:prstGeom>
          <a:solidFill>
            <a:srgbClr val="2E75B6"/>
          </a:solidFill>
          <a:ln w="12700">
            <a:solidFill>
              <a:srgbClr val="2E75B6"/>
            </a:solidFill>
            <a:prstDash val="solid"/>
          </a:ln>
          <a:effectLst>
            <a:outerShdw sx="100000" sy="100000" kx="0" ky="0" algn="bl" rotWithShape="0" blurRad="88900" dist="38100" dir="8100000">
              <a:srgbClr val="8AA0B5">
                <a:alpha val="28000"/>
              </a:srgbClr>
            </a:outerShdw>
          </a:effectLst>
        </p:spPr>
      </p:sp>
      <p:sp>
        <p:nvSpPr>
          <p:cNvPr id="13" name="Text 11"/>
          <p:cNvSpPr/>
          <p:nvPr/>
        </p:nvSpPr>
        <p:spPr>
          <a:xfrm>
            <a:off x="5170018" y="1920240"/>
            <a:ext cx="1821485" cy="1005840"/>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Trebuchet MS" pitchFamily="34" charset="0"/>
                <a:ea typeface="Trebuchet MS" pitchFamily="34" charset="-122"/>
                <a:cs typeface="Trebuchet MS" pitchFamily="34" charset="-120"/>
              </a:rPr>
              <a:t>Embedding &amp;</a:t>
            </a:r>
            <a:endParaRPr lang="en-US" sz="1800" dirty="0"/>
          </a:p>
          <a:p>
            <a:pPr algn="ctr" indent="0" marL="0">
              <a:lnSpc>
                <a:spcPct val="100000"/>
              </a:lnSpc>
              <a:buNone/>
            </a:pPr>
            <a:r>
              <a:rPr lang="en-US" sz="1800" b="1" dirty="0">
                <a:solidFill>
                  <a:srgbClr val="FFFFFF"/>
                </a:solidFill>
                <a:latin typeface="Trebuchet MS" pitchFamily="34" charset="0"/>
                <a:ea typeface="Trebuchet MS" pitchFamily="34" charset="-122"/>
                <a:cs typeface="Trebuchet MS" pitchFamily="34" charset="-120"/>
              </a:rPr>
              <a:t>Tokenization</a:t>
            </a:r>
            <a:endParaRPr lang="en-US" sz="1800" dirty="0"/>
          </a:p>
        </p:txBody>
      </p:sp>
      <p:sp>
        <p:nvSpPr>
          <p:cNvPr id="14" name="Text 12"/>
          <p:cNvSpPr/>
          <p:nvPr/>
        </p:nvSpPr>
        <p:spPr>
          <a:xfrm>
            <a:off x="5069434" y="3163824"/>
            <a:ext cx="2022653" cy="2743200"/>
          </a:xfrm>
          <a:prstGeom prst="rect">
            <a:avLst/>
          </a:prstGeom>
          <a:noFill/>
          <a:ln/>
        </p:spPr>
        <p:txBody>
          <a:bodyPr wrap="square" lIns="0" tIns="0" rIns="0" bIns="0" rtlCol="0" anchor="t"/>
          <a:lstStyle/>
          <a:p>
            <a:pPr algn="ctr" indent="0" marL="0">
              <a:lnSpc>
                <a:spcPct val="105000"/>
              </a:lnSpc>
              <a:buNone/>
            </a:pPr>
            <a:r>
              <a:rPr lang="en-US" sz="1250" dirty="0">
                <a:solidFill>
                  <a:srgbClr val="232A31"/>
                </a:solidFill>
                <a:latin typeface="Calibri" pitchFamily="34" charset="0"/>
                <a:ea typeface="Calibri" pitchFamily="34" charset="-122"/>
                <a:cs typeface="Calibri" pitchFamily="34" charset="-120"/>
              </a:rPr>
              <a:t>The feature map is reshaped into a sequence of tokens. A learnable class token and positional embeddings are added to preserve temporal order.</a:t>
            </a:r>
            <a:endParaRPr lang="en-US" sz="1250" dirty="0"/>
          </a:p>
        </p:txBody>
      </p:sp>
      <p:sp>
        <p:nvSpPr>
          <p:cNvPr id="15" name="Text 13"/>
          <p:cNvSpPr/>
          <p:nvPr/>
        </p:nvSpPr>
        <p:spPr>
          <a:xfrm>
            <a:off x="6991502" y="1828800"/>
            <a:ext cx="457200" cy="1188720"/>
          </a:xfrm>
          <a:prstGeom prst="rect">
            <a:avLst/>
          </a:prstGeom>
          <a:noFill/>
          <a:ln/>
        </p:spPr>
        <p:txBody>
          <a:bodyPr wrap="square" lIns="0" tIns="0" rIns="0" bIns="0" rtlCol="0" anchor="ctr"/>
          <a:lstStyle/>
          <a:p>
            <a:pPr algn="ctr" indent="0" marL="0">
              <a:buNone/>
            </a:pPr>
            <a:r>
              <a:rPr lang="en-US" sz="2200" b="1" dirty="0">
                <a:solidFill>
                  <a:srgbClr val="8A97A5"/>
                </a:solidFill>
                <a:latin typeface="Trebuchet MS" pitchFamily="34" charset="0"/>
                <a:ea typeface="Trebuchet MS" pitchFamily="34" charset="-122"/>
                <a:cs typeface="Trebuchet MS" pitchFamily="34" charset="-120"/>
              </a:rPr>
              <a:t>→</a:t>
            </a:r>
            <a:endParaRPr lang="en-US" sz="2200" dirty="0"/>
          </a:p>
        </p:txBody>
      </p:sp>
      <p:sp>
        <p:nvSpPr>
          <p:cNvPr id="16" name="Shape 14"/>
          <p:cNvSpPr/>
          <p:nvPr/>
        </p:nvSpPr>
        <p:spPr>
          <a:xfrm>
            <a:off x="7402982" y="1828800"/>
            <a:ext cx="1912925" cy="1188720"/>
          </a:xfrm>
          <a:prstGeom prst="roundRect">
            <a:avLst>
              <a:gd name="adj" fmla="val 6154"/>
            </a:avLst>
          </a:prstGeom>
          <a:solidFill>
            <a:srgbClr val="16385C"/>
          </a:solidFill>
          <a:ln w="12700">
            <a:solidFill>
              <a:srgbClr val="16385C"/>
            </a:solidFill>
            <a:prstDash val="solid"/>
          </a:ln>
          <a:effectLst>
            <a:outerShdw sx="100000" sy="100000" kx="0" ky="0" algn="bl" rotWithShape="0" blurRad="88900" dist="38100" dir="8100000">
              <a:srgbClr val="8AA0B5">
                <a:alpha val="28000"/>
              </a:srgbClr>
            </a:outerShdw>
          </a:effectLst>
        </p:spPr>
      </p:sp>
      <p:sp>
        <p:nvSpPr>
          <p:cNvPr id="17" name="Text 15"/>
          <p:cNvSpPr/>
          <p:nvPr/>
        </p:nvSpPr>
        <p:spPr>
          <a:xfrm>
            <a:off x="7448702" y="1920240"/>
            <a:ext cx="1821485" cy="1005840"/>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Trebuchet MS" pitchFamily="34" charset="0"/>
                <a:ea typeface="Trebuchet MS" pitchFamily="34" charset="-122"/>
                <a:cs typeface="Trebuchet MS" pitchFamily="34" charset="-120"/>
              </a:rPr>
              <a:t>Transformer</a:t>
            </a:r>
            <a:endParaRPr lang="en-US" sz="1800" dirty="0"/>
          </a:p>
          <a:p>
            <a:pPr algn="ctr" indent="0" marL="0">
              <a:lnSpc>
                <a:spcPct val="100000"/>
              </a:lnSpc>
              <a:buNone/>
            </a:pPr>
            <a:r>
              <a:rPr lang="en-US" sz="1800" b="1" dirty="0">
                <a:solidFill>
                  <a:srgbClr val="FFFFFF"/>
                </a:solidFill>
                <a:latin typeface="Trebuchet MS" pitchFamily="34" charset="0"/>
                <a:ea typeface="Trebuchet MS" pitchFamily="34" charset="-122"/>
                <a:cs typeface="Trebuchet MS" pitchFamily="34" charset="-120"/>
              </a:rPr>
              <a:t>× 5</a:t>
            </a:r>
            <a:endParaRPr lang="en-US" sz="1800" dirty="0"/>
          </a:p>
        </p:txBody>
      </p:sp>
      <p:sp>
        <p:nvSpPr>
          <p:cNvPr id="18" name="Text 16"/>
          <p:cNvSpPr/>
          <p:nvPr/>
        </p:nvSpPr>
        <p:spPr>
          <a:xfrm>
            <a:off x="7348118" y="3163824"/>
            <a:ext cx="2022653" cy="2743200"/>
          </a:xfrm>
          <a:prstGeom prst="rect">
            <a:avLst/>
          </a:prstGeom>
          <a:noFill/>
          <a:ln/>
        </p:spPr>
        <p:txBody>
          <a:bodyPr wrap="square" lIns="0" tIns="0" rIns="0" bIns="0" rtlCol="0" anchor="t"/>
          <a:lstStyle/>
          <a:p>
            <a:pPr algn="ctr" indent="0" marL="0">
              <a:lnSpc>
                <a:spcPct val="105000"/>
              </a:lnSpc>
              <a:buNone/>
            </a:pPr>
            <a:r>
              <a:rPr lang="en-US" sz="1250" dirty="0">
                <a:solidFill>
                  <a:srgbClr val="232A31"/>
                </a:solidFill>
                <a:latin typeface="Calibri" pitchFamily="34" charset="0"/>
                <a:ea typeface="Calibri" pitchFamily="34" charset="-122"/>
                <a:cs typeface="Calibri" pitchFamily="34" charset="-120"/>
              </a:rPr>
              <a:t>Five pre-norm self-attention blocks (8 heads, d=768) capture long-range dependencies. A 768→3072→768 feed-forward network follows each attention layer.</a:t>
            </a:r>
            <a:endParaRPr lang="en-US" sz="1250" dirty="0"/>
          </a:p>
        </p:txBody>
      </p:sp>
      <p:sp>
        <p:nvSpPr>
          <p:cNvPr id="19" name="Text 17"/>
          <p:cNvSpPr/>
          <p:nvPr/>
        </p:nvSpPr>
        <p:spPr>
          <a:xfrm>
            <a:off x="9270187" y="1828800"/>
            <a:ext cx="457200" cy="1188720"/>
          </a:xfrm>
          <a:prstGeom prst="rect">
            <a:avLst/>
          </a:prstGeom>
          <a:noFill/>
          <a:ln/>
        </p:spPr>
        <p:txBody>
          <a:bodyPr wrap="square" lIns="0" tIns="0" rIns="0" bIns="0" rtlCol="0" anchor="ctr"/>
          <a:lstStyle/>
          <a:p>
            <a:pPr algn="ctr" indent="0" marL="0">
              <a:buNone/>
            </a:pPr>
            <a:r>
              <a:rPr lang="en-US" sz="2200" b="1" dirty="0">
                <a:solidFill>
                  <a:srgbClr val="8A97A5"/>
                </a:solidFill>
                <a:latin typeface="Trebuchet MS" pitchFamily="34" charset="0"/>
                <a:ea typeface="Trebuchet MS" pitchFamily="34" charset="-122"/>
                <a:cs typeface="Trebuchet MS" pitchFamily="34" charset="-120"/>
              </a:rPr>
              <a:t>→</a:t>
            </a:r>
            <a:endParaRPr lang="en-US" sz="2200" dirty="0"/>
          </a:p>
        </p:txBody>
      </p:sp>
      <p:sp>
        <p:nvSpPr>
          <p:cNvPr id="20" name="Shape 18"/>
          <p:cNvSpPr/>
          <p:nvPr/>
        </p:nvSpPr>
        <p:spPr>
          <a:xfrm>
            <a:off x="9681667" y="1828800"/>
            <a:ext cx="1912925" cy="1188720"/>
          </a:xfrm>
          <a:prstGeom prst="roundRect">
            <a:avLst>
              <a:gd name="adj" fmla="val 6154"/>
            </a:avLst>
          </a:prstGeom>
          <a:solidFill>
            <a:srgbClr val="C0504D"/>
          </a:solidFill>
          <a:ln w="12700">
            <a:solidFill>
              <a:srgbClr val="C0504D"/>
            </a:solidFill>
            <a:prstDash val="solid"/>
          </a:ln>
          <a:effectLst>
            <a:outerShdw sx="100000" sy="100000" kx="0" ky="0" algn="bl" rotWithShape="0" blurRad="88900" dist="38100" dir="8100000">
              <a:srgbClr val="8AA0B5">
                <a:alpha val="28000"/>
              </a:srgbClr>
            </a:outerShdw>
          </a:effectLst>
        </p:spPr>
      </p:sp>
      <p:sp>
        <p:nvSpPr>
          <p:cNvPr id="21" name="Text 19"/>
          <p:cNvSpPr/>
          <p:nvPr/>
        </p:nvSpPr>
        <p:spPr>
          <a:xfrm>
            <a:off x="9727387" y="1920240"/>
            <a:ext cx="1821485" cy="1005840"/>
          </a:xfrm>
          <a:prstGeom prst="rect">
            <a:avLst/>
          </a:prstGeom>
          <a:noFill/>
          <a:ln/>
        </p:spPr>
        <p:txBody>
          <a:bodyPr wrap="square" lIns="0" tIns="0" rIns="0" bIns="0" rtlCol="0" anchor="ctr"/>
          <a:lstStyle/>
          <a:p>
            <a:pPr algn="ctr" indent="0" marL="0">
              <a:lnSpc>
                <a:spcPct val="100000"/>
              </a:lnSpc>
              <a:buNone/>
            </a:pPr>
            <a:r>
              <a:rPr lang="en-US" sz="1800" b="1" dirty="0">
                <a:solidFill>
                  <a:srgbClr val="FFFFFF"/>
                </a:solidFill>
                <a:latin typeface="Trebuchet MS" pitchFamily="34" charset="0"/>
                <a:ea typeface="Trebuchet MS" pitchFamily="34" charset="-122"/>
                <a:cs typeface="Trebuchet MS" pitchFamily="34" charset="-120"/>
              </a:rPr>
              <a:t>Classifier</a:t>
            </a:r>
            <a:endParaRPr lang="en-US" sz="1800" dirty="0"/>
          </a:p>
        </p:txBody>
      </p:sp>
      <p:sp>
        <p:nvSpPr>
          <p:cNvPr id="22" name="Text 20"/>
          <p:cNvSpPr/>
          <p:nvPr/>
        </p:nvSpPr>
        <p:spPr>
          <a:xfrm>
            <a:off x="9626803" y="3163824"/>
            <a:ext cx="2022653" cy="2743200"/>
          </a:xfrm>
          <a:prstGeom prst="rect">
            <a:avLst/>
          </a:prstGeom>
          <a:noFill/>
          <a:ln/>
        </p:spPr>
        <p:txBody>
          <a:bodyPr wrap="square" lIns="0" tIns="0" rIns="0" bIns="0" rtlCol="0" anchor="t"/>
          <a:lstStyle/>
          <a:p>
            <a:pPr algn="ctr" indent="0" marL="0">
              <a:lnSpc>
                <a:spcPct val="105000"/>
              </a:lnSpc>
              <a:buNone/>
            </a:pPr>
            <a:r>
              <a:rPr lang="en-US" sz="1250" dirty="0">
                <a:solidFill>
                  <a:srgbClr val="232A31"/>
                </a:solidFill>
                <a:latin typeface="Calibri" pitchFamily="34" charset="0"/>
                <a:ea typeface="Calibri" pitchFamily="34" charset="-122"/>
                <a:cs typeface="Calibri" pitchFamily="34" charset="-120"/>
              </a:rPr>
              <a:t>Only the class token is carried forward for prediction. A layer-norm and linear layer then map it to one of the four mechanism classes.</a:t>
            </a:r>
            <a:endParaRPr lang="en-US" sz="1250" dirty="0"/>
          </a:p>
        </p:txBody>
      </p:sp>
      <p:sp>
        <p:nvSpPr>
          <p:cNvPr id="23" name="Text 21"/>
          <p:cNvSpPr/>
          <p:nvPr/>
        </p:nvSpPr>
        <p:spPr>
          <a:xfrm>
            <a:off x="566928" y="5943600"/>
            <a:ext cx="11027664" cy="411480"/>
          </a:xfrm>
          <a:prstGeom prst="rect">
            <a:avLst/>
          </a:prstGeom>
          <a:noFill/>
          <a:ln/>
        </p:spPr>
        <p:txBody>
          <a:bodyPr wrap="square" lIns="0" tIns="0" rIns="0" bIns="0" rtlCol="0" anchor="ctr"/>
          <a:lstStyle/>
          <a:p>
            <a:pPr algn="ctr" indent="0" marL="0">
              <a:buNone/>
            </a:pPr>
            <a:r>
              <a:rPr lang="en-US" sz="1400" b="1" dirty="0">
                <a:solidFill>
                  <a:srgbClr val="16385C"/>
                </a:solidFill>
                <a:latin typeface="Calibri" pitchFamily="34" charset="0"/>
                <a:ea typeface="Calibri" pitchFamily="34" charset="-122"/>
                <a:cs typeface="Calibri" pitchFamily="34" charset="-120"/>
              </a:rPr>
              <a:t>Output classes:   </a:t>
            </a:r>
            <a:pPr algn="ctr" indent="0" marL="0">
              <a:buNone/>
            </a:pPr>
            <a:r>
              <a:rPr lang="en-US" sz="1400" dirty="0">
                <a:solidFill>
                  <a:srgbClr val="232A31"/>
                </a:solidFill>
                <a:latin typeface="Calibri" pitchFamily="34" charset="0"/>
                <a:ea typeface="Calibri" pitchFamily="34" charset="-122"/>
                <a:cs typeface="Calibri" pitchFamily="34" charset="-120"/>
              </a:rPr>
              <a:t>Calcium channel modulation  ·  Muscarinic  ·  Serotonergic  ·  Histaminergic receptor pathway</a:t>
            </a:r>
            <a:endParaRPr lang="en-US" sz="1400" dirty="0"/>
          </a:p>
        </p:txBody>
      </p:sp>
      <p:sp>
        <p:nvSpPr>
          <p:cNvPr id="24" name="Text 22"/>
          <p:cNvSpPr/>
          <p:nvPr/>
        </p:nvSpPr>
        <p:spPr>
          <a:xfrm>
            <a:off x="566928" y="6473952"/>
            <a:ext cx="10149840" cy="274320"/>
          </a:xfrm>
          <a:prstGeom prst="rect">
            <a:avLst/>
          </a:prstGeom>
          <a:noFill/>
          <a:ln/>
        </p:spPr>
        <p:txBody>
          <a:bodyPr wrap="square" lIns="0" tIns="0" rIns="0" bIns="0" rtlCol="0" anchor="ctr"/>
          <a:lstStyle/>
          <a:p>
            <a:pPr indent="0" marL="0">
              <a:buNone/>
            </a:pPr>
            <a:r>
              <a:rPr lang="en-US" sz="1050" i="1" dirty="0">
                <a:solidFill>
                  <a:srgbClr val="8A97A5"/>
                </a:solidFill>
                <a:latin typeface="Calibri" pitchFamily="34" charset="0"/>
                <a:ea typeface="Calibri" pitchFamily="34" charset="-122"/>
                <a:cs typeface="Calibri" pitchFamily="34" charset="-120"/>
              </a:rPr>
              <a:t>Mechanism of Action of Pharmacological Agents: A Deep Learning Prediction Model Using Smooth Muscle Contractility Signals</a:t>
            </a:r>
            <a:endParaRPr lang="en-US" sz="1050" dirty="0"/>
          </a:p>
        </p:txBody>
      </p:sp>
      <p:sp>
        <p:nvSpPr>
          <p:cNvPr id="25" name="Text 2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50" dirty="0">
                <a:solidFill>
                  <a:srgbClr val="8A97A5"/>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indent="0" marL="0">
              <a:buNone/>
            </a:pPr>
            <a:r>
              <a:rPr lang="en-US" sz="1700" b="1" spc="300" kern="0" dirty="0">
                <a:solidFill>
                  <a:srgbClr val="2E75B6"/>
                </a:solidFill>
                <a:latin typeface="Trebuchet MS" pitchFamily="34" charset="0"/>
                <a:ea typeface="Trebuchet MS" pitchFamily="34" charset="-122"/>
                <a:cs typeface="Trebuchet MS" pitchFamily="34" charset="-120"/>
              </a:rPr>
              <a:t>EXPERIMENTS</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indent="0" marL="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Training &amp; evaluation protocol</a:t>
            </a:r>
            <a:endParaRPr lang="en-US" sz="3500" dirty="0"/>
          </a:p>
        </p:txBody>
      </p:sp>
      <p:sp>
        <p:nvSpPr>
          <p:cNvPr id="4" name="Shape 2"/>
          <p:cNvSpPr/>
          <p:nvPr/>
        </p:nvSpPr>
        <p:spPr>
          <a:xfrm>
            <a:off x="566928" y="2011680"/>
            <a:ext cx="2482596" cy="2468880"/>
          </a:xfrm>
          <a:prstGeom prst="roundRect">
            <a:avLst>
              <a:gd name="adj" fmla="val 2963"/>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5" name="Text 3"/>
          <p:cNvSpPr/>
          <p:nvPr/>
        </p:nvSpPr>
        <p:spPr>
          <a:xfrm>
            <a:off x="658368" y="2359152"/>
            <a:ext cx="2299716" cy="731520"/>
          </a:xfrm>
          <a:prstGeom prst="rect">
            <a:avLst/>
          </a:prstGeom>
          <a:noFill/>
          <a:ln/>
        </p:spPr>
        <p:txBody>
          <a:bodyPr wrap="square" lIns="0" tIns="0" rIns="0" bIns="0" rtlCol="0" anchor="ctr"/>
          <a:lstStyle/>
          <a:p>
            <a:pPr algn="ctr" indent="0" marL="0">
              <a:buNone/>
            </a:pPr>
            <a:r>
              <a:rPr lang="en-US" sz="3100" b="1" dirty="0">
                <a:solidFill>
                  <a:srgbClr val="2E75B6"/>
                </a:solidFill>
                <a:latin typeface="Trebuchet MS" pitchFamily="34" charset="0"/>
                <a:ea typeface="Trebuchet MS" pitchFamily="34" charset="-122"/>
                <a:cs typeface="Trebuchet MS" pitchFamily="34" charset="-120"/>
              </a:rPr>
              <a:t>5-fold</a:t>
            </a:r>
            <a:endParaRPr lang="en-US" sz="3100" dirty="0"/>
          </a:p>
        </p:txBody>
      </p:sp>
      <p:sp>
        <p:nvSpPr>
          <p:cNvPr id="6" name="Text 4"/>
          <p:cNvSpPr/>
          <p:nvPr/>
        </p:nvSpPr>
        <p:spPr>
          <a:xfrm>
            <a:off x="658368" y="3246120"/>
            <a:ext cx="2299716" cy="1097280"/>
          </a:xfrm>
          <a:prstGeom prst="rect">
            <a:avLst/>
          </a:prstGeom>
          <a:noFill/>
          <a:ln/>
        </p:spPr>
        <p:txBody>
          <a:bodyPr wrap="square" lIns="0" tIns="0" rIns="0" bIns="0" rtlCol="0" anchor="t"/>
          <a:lstStyle/>
          <a:p>
            <a:pPr algn="ctr" indent="0" marL="0">
              <a:lnSpc>
                <a:spcPct val="105000"/>
              </a:lnSpc>
              <a:buNone/>
            </a:pPr>
            <a:r>
              <a:rPr lang="en-US" sz="1700" dirty="0">
                <a:solidFill>
                  <a:srgbClr val="232A31"/>
                </a:solidFill>
                <a:latin typeface="Calibri" pitchFamily="34" charset="0"/>
                <a:ea typeface="Calibri" pitchFamily="34" charset="-122"/>
                <a:cs typeface="Calibri" pitchFamily="34" charset="-120"/>
              </a:rPr>
              <a:t>Stratified cross-validation</a:t>
            </a:r>
            <a:endParaRPr lang="en-US" sz="1700" dirty="0"/>
          </a:p>
          <a:p>
            <a:pPr algn="ctr" indent="0" marL="0">
              <a:lnSpc>
                <a:spcPct val="105000"/>
              </a:lnSpc>
              <a:buNone/>
            </a:pPr>
            <a:r>
              <a:rPr lang="en-US" sz="1700" dirty="0">
                <a:solidFill>
                  <a:srgbClr val="232A31"/>
                </a:solidFill>
                <a:latin typeface="Calibri" pitchFamily="34" charset="0"/>
                <a:ea typeface="Calibri" pitchFamily="34" charset="-122"/>
                <a:cs typeface="Calibri" pitchFamily="34" charset="-120"/>
              </a:rPr>
              <a:t>80 / 20 split · seed 42</a:t>
            </a:r>
            <a:endParaRPr lang="en-US" sz="1700" dirty="0"/>
          </a:p>
        </p:txBody>
      </p:sp>
      <p:sp>
        <p:nvSpPr>
          <p:cNvPr id="7" name="Shape 5"/>
          <p:cNvSpPr/>
          <p:nvPr/>
        </p:nvSpPr>
        <p:spPr>
          <a:xfrm>
            <a:off x="3415284" y="2011680"/>
            <a:ext cx="2482596" cy="2468880"/>
          </a:xfrm>
          <a:prstGeom prst="roundRect">
            <a:avLst>
              <a:gd name="adj" fmla="val 2963"/>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8" name="Text 6"/>
          <p:cNvSpPr/>
          <p:nvPr/>
        </p:nvSpPr>
        <p:spPr>
          <a:xfrm>
            <a:off x="3506724" y="2359152"/>
            <a:ext cx="2299716" cy="731520"/>
          </a:xfrm>
          <a:prstGeom prst="rect">
            <a:avLst/>
          </a:prstGeom>
          <a:noFill/>
          <a:ln/>
        </p:spPr>
        <p:txBody>
          <a:bodyPr wrap="square" lIns="0" tIns="0" rIns="0" bIns="0" rtlCol="0" anchor="ctr"/>
          <a:lstStyle/>
          <a:p>
            <a:pPr algn="ctr" indent="0" marL="0">
              <a:buNone/>
            </a:pPr>
            <a:r>
              <a:rPr lang="en-US" sz="3100" b="1" dirty="0">
                <a:solidFill>
                  <a:srgbClr val="2E75B6"/>
                </a:solidFill>
                <a:latin typeface="Trebuchet MS" pitchFamily="34" charset="0"/>
                <a:ea typeface="Trebuchet MS" pitchFamily="34" charset="-122"/>
                <a:cs typeface="Trebuchet MS" pitchFamily="34" charset="-120"/>
              </a:rPr>
              <a:t>Adam</a:t>
            </a:r>
            <a:endParaRPr lang="en-US" sz="3100" dirty="0"/>
          </a:p>
        </p:txBody>
      </p:sp>
      <p:sp>
        <p:nvSpPr>
          <p:cNvPr id="9" name="Text 7"/>
          <p:cNvSpPr/>
          <p:nvPr/>
        </p:nvSpPr>
        <p:spPr>
          <a:xfrm>
            <a:off x="3506724" y="3246120"/>
            <a:ext cx="2299716" cy="1097280"/>
          </a:xfrm>
          <a:prstGeom prst="rect">
            <a:avLst/>
          </a:prstGeom>
          <a:noFill/>
          <a:ln/>
        </p:spPr>
        <p:txBody>
          <a:bodyPr wrap="square" lIns="0" tIns="0" rIns="0" bIns="0" rtlCol="0" anchor="t"/>
          <a:lstStyle/>
          <a:p>
            <a:pPr algn="ctr" indent="0" marL="0">
              <a:lnSpc>
                <a:spcPct val="105000"/>
              </a:lnSpc>
              <a:buNone/>
            </a:pPr>
            <a:r>
              <a:rPr lang="en-US" sz="1700" dirty="0">
                <a:solidFill>
                  <a:srgbClr val="232A31"/>
                </a:solidFill>
                <a:latin typeface="Calibri" pitchFamily="34" charset="0"/>
                <a:ea typeface="Calibri" pitchFamily="34" charset="-122"/>
                <a:cs typeface="Calibri" pitchFamily="34" charset="-120"/>
              </a:rPr>
              <a:t>lr 1e-5 · batch 16</a:t>
            </a:r>
            <a:endParaRPr lang="en-US" sz="1700" dirty="0"/>
          </a:p>
          <a:p>
            <a:pPr algn="ctr" indent="0" marL="0">
              <a:lnSpc>
                <a:spcPct val="105000"/>
              </a:lnSpc>
              <a:buNone/>
            </a:pPr>
            <a:r>
              <a:rPr lang="en-US" sz="1700" dirty="0">
                <a:solidFill>
                  <a:srgbClr val="232A31"/>
                </a:solidFill>
                <a:latin typeface="Calibri" pitchFamily="34" charset="0"/>
                <a:ea typeface="Calibri" pitchFamily="34" charset="-122"/>
                <a:cs typeface="Calibri" pitchFamily="34" charset="-120"/>
              </a:rPr>
              <a:t>50 epochs</a:t>
            </a:r>
            <a:endParaRPr lang="en-US" sz="1700" dirty="0"/>
          </a:p>
        </p:txBody>
      </p:sp>
      <p:sp>
        <p:nvSpPr>
          <p:cNvPr id="10" name="Shape 8"/>
          <p:cNvSpPr/>
          <p:nvPr/>
        </p:nvSpPr>
        <p:spPr>
          <a:xfrm>
            <a:off x="6263640" y="2011680"/>
            <a:ext cx="2482596" cy="2468880"/>
          </a:xfrm>
          <a:prstGeom prst="roundRect">
            <a:avLst>
              <a:gd name="adj" fmla="val 2963"/>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11" name="Text 9"/>
          <p:cNvSpPr/>
          <p:nvPr/>
        </p:nvSpPr>
        <p:spPr>
          <a:xfrm>
            <a:off x="6355080" y="2359152"/>
            <a:ext cx="2299716" cy="731520"/>
          </a:xfrm>
          <a:prstGeom prst="rect">
            <a:avLst/>
          </a:prstGeom>
          <a:noFill/>
          <a:ln/>
        </p:spPr>
        <p:txBody>
          <a:bodyPr wrap="square" lIns="0" tIns="0" rIns="0" bIns="0" rtlCol="0" anchor="ctr"/>
          <a:lstStyle/>
          <a:p>
            <a:pPr algn="ctr" indent="0" marL="0">
              <a:buNone/>
            </a:pPr>
            <a:r>
              <a:rPr lang="en-US" sz="3100" b="1" dirty="0">
                <a:solidFill>
                  <a:srgbClr val="2E75B6"/>
                </a:solidFill>
                <a:latin typeface="Trebuchet MS" pitchFamily="34" charset="0"/>
                <a:ea typeface="Trebuchet MS" pitchFamily="34" charset="-122"/>
                <a:cs typeface="Trebuchet MS" pitchFamily="34" charset="-120"/>
              </a:rPr>
              <a:t>4 metrics</a:t>
            </a:r>
            <a:endParaRPr lang="en-US" sz="3100" dirty="0"/>
          </a:p>
        </p:txBody>
      </p:sp>
      <p:sp>
        <p:nvSpPr>
          <p:cNvPr id="12" name="Text 10"/>
          <p:cNvSpPr/>
          <p:nvPr/>
        </p:nvSpPr>
        <p:spPr>
          <a:xfrm>
            <a:off x="6355080" y="3246120"/>
            <a:ext cx="2299716" cy="1097280"/>
          </a:xfrm>
          <a:prstGeom prst="rect">
            <a:avLst/>
          </a:prstGeom>
          <a:noFill/>
          <a:ln/>
        </p:spPr>
        <p:txBody>
          <a:bodyPr wrap="square" lIns="0" tIns="0" rIns="0" bIns="0" rtlCol="0" anchor="t"/>
          <a:lstStyle/>
          <a:p>
            <a:pPr algn="ctr" indent="0" marL="0">
              <a:lnSpc>
                <a:spcPct val="105000"/>
              </a:lnSpc>
              <a:buNone/>
            </a:pPr>
            <a:r>
              <a:rPr lang="en-US" sz="1700" dirty="0">
                <a:solidFill>
                  <a:srgbClr val="232A31"/>
                </a:solidFill>
                <a:latin typeface="Calibri" pitchFamily="34" charset="0"/>
                <a:ea typeface="Calibri" pitchFamily="34" charset="-122"/>
                <a:cs typeface="Calibri" pitchFamily="34" charset="-120"/>
              </a:rPr>
              <a:t>Accuracy · Precision</a:t>
            </a:r>
            <a:endParaRPr lang="en-US" sz="1700" dirty="0"/>
          </a:p>
          <a:p>
            <a:pPr algn="ctr" indent="0" marL="0">
              <a:lnSpc>
                <a:spcPct val="105000"/>
              </a:lnSpc>
              <a:buNone/>
            </a:pPr>
            <a:r>
              <a:rPr lang="en-US" sz="1700" dirty="0">
                <a:solidFill>
                  <a:srgbClr val="232A31"/>
                </a:solidFill>
                <a:latin typeface="Calibri" pitchFamily="34" charset="0"/>
                <a:ea typeface="Calibri" pitchFamily="34" charset="-122"/>
                <a:cs typeface="Calibri" pitchFamily="34" charset="-120"/>
              </a:rPr>
              <a:t>Sensitivity · F1</a:t>
            </a:r>
            <a:endParaRPr lang="en-US" sz="1700" dirty="0"/>
          </a:p>
        </p:txBody>
      </p:sp>
      <p:sp>
        <p:nvSpPr>
          <p:cNvPr id="13" name="Shape 11"/>
          <p:cNvSpPr/>
          <p:nvPr/>
        </p:nvSpPr>
        <p:spPr>
          <a:xfrm>
            <a:off x="9111996" y="2011680"/>
            <a:ext cx="2482596" cy="2468880"/>
          </a:xfrm>
          <a:prstGeom prst="roundRect">
            <a:avLst>
              <a:gd name="adj" fmla="val 2963"/>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14" name="Text 12"/>
          <p:cNvSpPr/>
          <p:nvPr/>
        </p:nvSpPr>
        <p:spPr>
          <a:xfrm>
            <a:off x="9203436" y="2359152"/>
            <a:ext cx="2299716" cy="731520"/>
          </a:xfrm>
          <a:prstGeom prst="rect">
            <a:avLst/>
          </a:prstGeom>
          <a:noFill/>
          <a:ln/>
        </p:spPr>
        <p:txBody>
          <a:bodyPr wrap="square" lIns="0" tIns="0" rIns="0" bIns="0" rtlCol="0" anchor="ctr"/>
          <a:lstStyle/>
          <a:p>
            <a:pPr algn="ctr" indent="0" marL="0">
              <a:buNone/>
            </a:pPr>
            <a:r>
              <a:rPr lang="en-US" sz="3100" b="1" dirty="0">
                <a:solidFill>
                  <a:srgbClr val="2E75B6"/>
                </a:solidFill>
                <a:latin typeface="Trebuchet MS" pitchFamily="34" charset="0"/>
                <a:ea typeface="Trebuchet MS" pitchFamily="34" charset="-122"/>
                <a:cs typeface="Trebuchet MS" pitchFamily="34" charset="-120"/>
              </a:rPr>
              <a:t>RTX 3060</a:t>
            </a:r>
            <a:endParaRPr lang="en-US" sz="3100" dirty="0"/>
          </a:p>
        </p:txBody>
      </p:sp>
      <p:sp>
        <p:nvSpPr>
          <p:cNvPr id="15" name="Text 13"/>
          <p:cNvSpPr/>
          <p:nvPr/>
        </p:nvSpPr>
        <p:spPr>
          <a:xfrm>
            <a:off x="9203436" y="3246120"/>
            <a:ext cx="2299716" cy="1097280"/>
          </a:xfrm>
          <a:prstGeom prst="rect">
            <a:avLst/>
          </a:prstGeom>
          <a:noFill/>
          <a:ln/>
        </p:spPr>
        <p:txBody>
          <a:bodyPr wrap="square" lIns="0" tIns="0" rIns="0" bIns="0" rtlCol="0" anchor="t"/>
          <a:lstStyle/>
          <a:p>
            <a:pPr algn="ctr" indent="0" marL="0">
              <a:lnSpc>
                <a:spcPct val="105000"/>
              </a:lnSpc>
              <a:buNone/>
            </a:pPr>
            <a:r>
              <a:rPr lang="en-US" sz="1700" dirty="0">
                <a:solidFill>
                  <a:srgbClr val="232A31"/>
                </a:solidFill>
                <a:latin typeface="Calibri" pitchFamily="34" charset="0"/>
                <a:ea typeface="Calibri" pitchFamily="34" charset="-122"/>
                <a:cs typeface="Calibri" pitchFamily="34" charset="-120"/>
              </a:rPr>
              <a:t>PyTorch</a:t>
            </a:r>
            <a:endParaRPr lang="en-US" sz="1700" dirty="0"/>
          </a:p>
          <a:p>
            <a:pPr algn="ctr" indent="0" marL="0">
              <a:lnSpc>
                <a:spcPct val="105000"/>
              </a:lnSpc>
              <a:buNone/>
            </a:pPr>
            <a:r>
              <a:rPr lang="en-US" sz="1700" dirty="0">
                <a:solidFill>
                  <a:srgbClr val="232A31"/>
                </a:solidFill>
                <a:latin typeface="Calibri" pitchFamily="34" charset="0"/>
                <a:ea typeface="Calibri" pitchFamily="34" charset="-122"/>
                <a:cs typeface="Calibri" pitchFamily="34" charset="-120"/>
              </a:rPr>
              <a:t>Ubuntu 22.04</a:t>
            </a:r>
            <a:endParaRPr lang="en-US" sz="1700" dirty="0"/>
          </a:p>
        </p:txBody>
      </p:sp>
      <p:sp>
        <p:nvSpPr>
          <p:cNvPr id="16" name="Shape 14"/>
          <p:cNvSpPr/>
          <p:nvPr/>
        </p:nvSpPr>
        <p:spPr>
          <a:xfrm>
            <a:off x="566928" y="4846320"/>
            <a:ext cx="11027664" cy="1143000"/>
          </a:xfrm>
          <a:prstGeom prst="roundRect">
            <a:avLst>
              <a:gd name="adj" fmla="val 6400"/>
            </a:avLst>
          </a:prstGeom>
          <a:solidFill>
            <a:srgbClr val="16385C"/>
          </a:solidFill>
          <a:ln/>
        </p:spPr>
      </p:sp>
      <p:sp>
        <p:nvSpPr>
          <p:cNvPr id="17" name="Text 15"/>
          <p:cNvSpPr/>
          <p:nvPr/>
        </p:nvSpPr>
        <p:spPr>
          <a:xfrm>
            <a:off x="841248" y="4846320"/>
            <a:ext cx="10479024" cy="1143000"/>
          </a:xfrm>
          <a:prstGeom prst="rect">
            <a:avLst/>
          </a:prstGeom>
          <a:noFill/>
          <a:ln/>
        </p:spPr>
        <p:txBody>
          <a:bodyPr wrap="square" lIns="0" tIns="0" rIns="0" bIns="0" rtlCol="0" anchor="ctr"/>
          <a:lstStyle/>
          <a:p>
            <a:pPr algn="ctr" indent="0" marL="0">
              <a:buNone/>
            </a:pPr>
            <a:r>
              <a:rPr lang="en-US" sz="2200" dirty="0">
                <a:solidFill>
                  <a:srgbClr val="CADCFC"/>
                </a:solidFill>
                <a:latin typeface="Calibri" pitchFamily="34" charset="0"/>
                <a:ea typeface="Calibri" pitchFamily="34" charset="-122"/>
                <a:cs typeface="Calibri" pitchFamily="34" charset="-120"/>
              </a:rPr>
              <a:t>Benchmarked against  </a:t>
            </a:r>
            <a:pPr algn="ctr" indent="0" marL="0">
              <a:buNone/>
            </a:pPr>
            <a:r>
              <a:rPr lang="en-US" sz="2200" b="1" dirty="0">
                <a:solidFill>
                  <a:srgbClr val="FFFFFF"/>
                </a:solidFill>
                <a:latin typeface="Calibri" pitchFamily="34" charset="0"/>
                <a:ea typeface="Calibri" pitchFamily="34" charset="-122"/>
                <a:cs typeface="Calibri" pitchFamily="34" charset="-120"/>
              </a:rPr>
              <a:t>4 classical ML</a:t>
            </a:r>
            <a:pPr algn="ctr" indent="0" marL="0">
              <a:buNone/>
            </a:pPr>
            <a:r>
              <a:rPr lang="en-US" sz="2200" dirty="0">
                <a:solidFill>
                  <a:srgbClr val="CADCFC"/>
                </a:solidFill>
                <a:latin typeface="Calibri" pitchFamily="34" charset="0"/>
                <a:ea typeface="Calibri" pitchFamily="34" charset="-122"/>
                <a:cs typeface="Calibri" pitchFamily="34" charset="-120"/>
              </a:rPr>
              <a:t>  and  </a:t>
            </a:r>
            <a:pPr algn="ctr" indent="0" marL="0">
              <a:buNone/>
            </a:pPr>
            <a:r>
              <a:rPr lang="en-US" sz="2200" b="1" dirty="0">
                <a:solidFill>
                  <a:srgbClr val="FFFFFF"/>
                </a:solidFill>
                <a:latin typeface="Calibri" pitchFamily="34" charset="0"/>
                <a:ea typeface="Calibri" pitchFamily="34" charset="-122"/>
                <a:cs typeface="Calibri" pitchFamily="34" charset="-120"/>
              </a:rPr>
              <a:t>6 deep models</a:t>
            </a:r>
            <a:pPr algn="ctr" indent="0" marL="0">
              <a:buNone/>
            </a:pPr>
            <a:r>
              <a:rPr lang="en-US" sz="2200" dirty="0">
                <a:solidFill>
                  <a:srgbClr val="CADCFC"/>
                </a:solidFill>
                <a:latin typeface="Calibri" pitchFamily="34" charset="0"/>
                <a:ea typeface="Calibri" pitchFamily="34" charset="-122"/>
                <a:cs typeface="Calibri" pitchFamily="34" charset="-120"/>
              </a:rPr>
              <a:t>  (ResNet, Inception, EfficientNet, MobileNet, ConvNeXt, Swin)</a:t>
            </a:r>
            <a:endParaRPr lang="en-US" sz="2200" dirty="0"/>
          </a:p>
        </p:txBody>
      </p:sp>
      <p:sp>
        <p:nvSpPr>
          <p:cNvPr id="18" name="Text 16"/>
          <p:cNvSpPr/>
          <p:nvPr/>
        </p:nvSpPr>
        <p:spPr>
          <a:xfrm>
            <a:off x="566928" y="6473952"/>
            <a:ext cx="10149840" cy="274320"/>
          </a:xfrm>
          <a:prstGeom prst="rect">
            <a:avLst/>
          </a:prstGeom>
          <a:noFill/>
          <a:ln/>
        </p:spPr>
        <p:txBody>
          <a:bodyPr wrap="square" lIns="0" tIns="0" rIns="0" bIns="0" rtlCol="0" anchor="ctr"/>
          <a:lstStyle/>
          <a:p>
            <a:pPr indent="0" marL="0">
              <a:buNone/>
            </a:pPr>
            <a:r>
              <a:rPr lang="en-US" sz="1050" i="1" dirty="0">
                <a:solidFill>
                  <a:srgbClr val="8A97A5"/>
                </a:solidFill>
                <a:latin typeface="Calibri" pitchFamily="34" charset="0"/>
                <a:ea typeface="Calibri" pitchFamily="34" charset="-122"/>
                <a:cs typeface="Calibri" pitchFamily="34" charset="-120"/>
              </a:rPr>
              <a:t>Mechanism of Action of Pharmacological Agents: A Deep Learning Prediction Model Using Smooth Muscle Contractility Signals</a:t>
            </a:r>
            <a:endParaRPr lang="en-US" sz="1050" dirty="0"/>
          </a:p>
        </p:txBody>
      </p:sp>
      <p:sp>
        <p:nvSpPr>
          <p:cNvPr id="19" name="Text 1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50" dirty="0">
                <a:solidFill>
                  <a:srgbClr val="8A97A5"/>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indent="0" marL="0">
              <a:buNone/>
            </a:pPr>
            <a:r>
              <a:rPr lang="en-US" sz="1700" b="1" spc="300" kern="0" dirty="0">
                <a:solidFill>
                  <a:srgbClr val="2E75B6"/>
                </a:solidFill>
                <a:latin typeface="Trebuchet MS" pitchFamily="34" charset="0"/>
                <a:ea typeface="Trebuchet MS" pitchFamily="34" charset="-122"/>
                <a:cs typeface="Trebuchet MS" pitchFamily="34" charset="-120"/>
              </a:rPr>
              <a:t>RESULTS</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indent="0" marL="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Best-in-class across every metric</a:t>
            </a:r>
            <a:endParaRPr lang="en-US" sz="3500" dirty="0"/>
          </a:p>
        </p:txBody>
      </p:sp>
      <p:sp>
        <p:nvSpPr>
          <p:cNvPr id="4" name="Shape 2"/>
          <p:cNvSpPr/>
          <p:nvPr/>
        </p:nvSpPr>
        <p:spPr>
          <a:xfrm>
            <a:off x="566928" y="2011680"/>
            <a:ext cx="2194560" cy="1463040"/>
          </a:xfrm>
          <a:prstGeom prst="roundRect">
            <a:avLst>
              <a:gd name="adj" fmla="val 5000"/>
            </a:avLst>
          </a:prstGeom>
          <a:solidFill>
            <a:srgbClr val="F4F6F8"/>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5" name="Text 3"/>
          <p:cNvSpPr/>
          <p:nvPr/>
        </p:nvSpPr>
        <p:spPr>
          <a:xfrm>
            <a:off x="566928" y="2194560"/>
            <a:ext cx="2194560" cy="731520"/>
          </a:xfrm>
          <a:prstGeom prst="rect">
            <a:avLst/>
          </a:prstGeom>
          <a:noFill/>
          <a:ln/>
        </p:spPr>
        <p:txBody>
          <a:bodyPr wrap="square" lIns="0" tIns="0" rIns="0" bIns="0" rtlCol="0" anchor="ctr"/>
          <a:lstStyle/>
          <a:p>
            <a:pPr algn="ctr" indent="0" marL="0">
              <a:buNone/>
            </a:pPr>
            <a:r>
              <a:rPr lang="en-US" sz="3700" b="1" dirty="0">
                <a:solidFill>
                  <a:srgbClr val="16385C"/>
                </a:solidFill>
                <a:latin typeface="Trebuchet MS" pitchFamily="34" charset="0"/>
                <a:ea typeface="Trebuchet MS" pitchFamily="34" charset="-122"/>
                <a:cs typeface="Trebuchet MS" pitchFamily="34" charset="-120"/>
              </a:rPr>
              <a:t>0.8046</a:t>
            </a:r>
            <a:endParaRPr lang="en-US" sz="3700" dirty="0"/>
          </a:p>
        </p:txBody>
      </p:sp>
      <p:sp>
        <p:nvSpPr>
          <p:cNvPr id="6" name="Text 4"/>
          <p:cNvSpPr/>
          <p:nvPr/>
        </p:nvSpPr>
        <p:spPr>
          <a:xfrm>
            <a:off x="566928" y="2971800"/>
            <a:ext cx="2194560" cy="411480"/>
          </a:xfrm>
          <a:prstGeom prst="rect">
            <a:avLst/>
          </a:prstGeom>
          <a:noFill/>
          <a:ln/>
        </p:spPr>
        <p:txBody>
          <a:bodyPr wrap="square" lIns="0" tIns="0" rIns="0" bIns="0" rtlCol="0" anchor="ctr"/>
          <a:lstStyle/>
          <a:p>
            <a:pPr algn="ctr" indent="0" marL="0">
              <a:buNone/>
            </a:pPr>
            <a:r>
              <a:rPr lang="en-US" sz="1600" dirty="0">
                <a:solidFill>
                  <a:srgbClr val="8A97A5"/>
                </a:solidFill>
                <a:latin typeface="Calibri" pitchFamily="34" charset="0"/>
                <a:ea typeface="Calibri" pitchFamily="34" charset="-122"/>
                <a:cs typeface="Calibri" pitchFamily="34" charset="-120"/>
              </a:rPr>
              <a:t>Accuracy</a:t>
            </a:r>
            <a:endParaRPr lang="en-US" sz="1600" dirty="0"/>
          </a:p>
        </p:txBody>
      </p:sp>
      <p:sp>
        <p:nvSpPr>
          <p:cNvPr id="7" name="Shape 5"/>
          <p:cNvSpPr/>
          <p:nvPr/>
        </p:nvSpPr>
        <p:spPr>
          <a:xfrm>
            <a:off x="2944368" y="2011680"/>
            <a:ext cx="2194560" cy="1463040"/>
          </a:xfrm>
          <a:prstGeom prst="roundRect">
            <a:avLst>
              <a:gd name="adj" fmla="val 5000"/>
            </a:avLst>
          </a:prstGeom>
          <a:solidFill>
            <a:srgbClr val="F4F6F8"/>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8" name="Text 6"/>
          <p:cNvSpPr/>
          <p:nvPr/>
        </p:nvSpPr>
        <p:spPr>
          <a:xfrm>
            <a:off x="2944368" y="2194560"/>
            <a:ext cx="2194560" cy="731520"/>
          </a:xfrm>
          <a:prstGeom prst="rect">
            <a:avLst/>
          </a:prstGeom>
          <a:noFill/>
          <a:ln/>
        </p:spPr>
        <p:txBody>
          <a:bodyPr wrap="square" lIns="0" tIns="0" rIns="0" bIns="0" rtlCol="0" anchor="ctr"/>
          <a:lstStyle/>
          <a:p>
            <a:pPr algn="ctr" indent="0" marL="0">
              <a:buNone/>
            </a:pPr>
            <a:r>
              <a:rPr lang="en-US" sz="3700" b="1" dirty="0">
                <a:solidFill>
                  <a:srgbClr val="16385C"/>
                </a:solidFill>
                <a:latin typeface="Trebuchet MS" pitchFamily="34" charset="0"/>
                <a:ea typeface="Trebuchet MS" pitchFamily="34" charset="-122"/>
                <a:cs typeface="Trebuchet MS" pitchFamily="34" charset="-120"/>
              </a:rPr>
              <a:t>0.8097</a:t>
            </a:r>
            <a:endParaRPr lang="en-US" sz="3700" dirty="0"/>
          </a:p>
        </p:txBody>
      </p:sp>
      <p:sp>
        <p:nvSpPr>
          <p:cNvPr id="9" name="Text 7"/>
          <p:cNvSpPr/>
          <p:nvPr/>
        </p:nvSpPr>
        <p:spPr>
          <a:xfrm>
            <a:off x="2944368" y="2971800"/>
            <a:ext cx="2194560" cy="411480"/>
          </a:xfrm>
          <a:prstGeom prst="rect">
            <a:avLst/>
          </a:prstGeom>
          <a:noFill/>
          <a:ln/>
        </p:spPr>
        <p:txBody>
          <a:bodyPr wrap="square" lIns="0" tIns="0" rIns="0" bIns="0" rtlCol="0" anchor="ctr"/>
          <a:lstStyle/>
          <a:p>
            <a:pPr algn="ctr" indent="0" marL="0">
              <a:buNone/>
            </a:pPr>
            <a:r>
              <a:rPr lang="en-US" sz="1600" dirty="0">
                <a:solidFill>
                  <a:srgbClr val="8A97A5"/>
                </a:solidFill>
                <a:latin typeface="Calibri" pitchFamily="34" charset="0"/>
                <a:ea typeface="Calibri" pitchFamily="34" charset="-122"/>
                <a:cs typeface="Calibri" pitchFamily="34" charset="-120"/>
              </a:rPr>
              <a:t>Precision</a:t>
            </a:r>
            <a:endParaRPr lang="en-US" sz="1600" dirty="0"/>
          </a:p>
        </p:txBody>
      </p:sp>
      <p:sp>
        <p:nvSpPr>
          <p:cNvPr id="10" name="Shape 8"/>
          <p:cNvSpPr/>
          <p:nvPr/>
        </p:nvSpPr>
        <p:spPr>
          <a:xfrm>
            <a:off x="566928" y="3657600"/>
            <a:ext cx="2194560" cy="1463040"/>
          </a:xfrm>
          <a:prstGeom prst="roundRect">
            <a:avLst>
              <a:gd name="adj" fmla="val 5000"/>
            </a:avLst>
          </a:prstGeom>
          <a:solidFill>
            <a:srgbClr val="F4F6F8"/>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11" name="Text 9"/>
          <p:cNvSpPr/>
          <p:nvPr/>
        </p:nvSpPr>
        <p:spPr>
          <a:xfrm>
            <a:off x="566928" y="3840480"/>
            <a:ext cx="2194560" cy="731520"/>
          </a:xfrm>
          <a:prstGeom prst="rect">
            <a:avLst/>
          </a:prstGeom>
          <a:noFill/>
          <a:ln/>
        </p:spPr>
        <p:txBody>
          <a:bodyPr wrap="square" lIns="0" tIns="0" rIns="0" bIns="0" rtlCol="0" anchor="ctr"/>
          <a:lstStyle/>
          <a:p>
            <a:pPr algn="ctr" indent="0" marL="0">
              <a:buNone/>
            </a:pPr>
            <a:r>
              <a:rPr lang="en-US" sz="3700" b="1" dirty="0">
                <a:solidFill>
                  <a:srgbClr val="16385C"/>
                </a:solidFill>
                <a:latin typeface="Trebuchet MS" pitchFamily="34" charset="0"/>
                <a:ea typeface="Trebuchet MS" pitchFamily="34" charset="-122"/>
                <a:cs typeface="Trebuchet MS" pitchFamily="34" charset="-120"/>
              </a:rPr>
              <a:t>0.7651</a:t>
            </a:r>
            <a:endParaRPr lang="en-US" sz="3700" dirty="0"/>
          </a:p>
        </p:txBody>
      </p:sp>
      <p:sp>
        <p:nvSpPr>
          <p:cNvPr id="12" name="Text 10"/>
          <p:cNvSpPr/>
          <p:nvPr/>
        </p:nvSpPr>
        <p:spPr>
          <a:xfrm>
            <a:off x="566928" y="4617720"/>
            <a:ext cx="2194560" cy="411480"/>
          </a:xfrm>
          <a:prstGeom prst="rect">
            <a:avLst/>
          </a:prstGeom>
          <a:noFill/>
          <a:ln/>
        </p:spPr>
        <p:txBody>
          <a:bodyPr wrap="square" lIns="0" tIns="0" rIns="0" bIns="0" rtlCol="0" anchor="ctr"/>
          <a:lstStyle/>
          <a:p>
            <a:pPr algn="ctr" indent="0" marL="0">
              <a:buNone/>
            </a:pPr>
            <a:r>
              <a:rPr lang="en-US" sz="1600" dirty="0">
                <a:solidFill>
                  <a:srgbClr val="8A97A5"/>
                </a:solidFill>
                <a:latin typeface="Calibri" pitchFamily="34" charset="0"/>
                <a:ea typeface="Calibri" pitchFamily="34" charset="-122"/>
                <a:cs typeface="Calibri" pitchFamily="34" charset="-120"/>
              </a:rPr>
              <a:t>Sensitivity</a:t>
            </a:r>
            <a:endParaRPr lang="en-US" sz="1600" dirty="0"/>
          </a:p>
        </p:txBody>
      </p:sp>
      <p:sp>
        <p:nvSpPr>
          <p:cNvPr id="13" name="Shape 11"/>
          <p:cNvSpPr/>
          <p:nvPr/>
        </p:nvSpPr>
        <p:spPr>
          <a:xfrm>
            <a:off x="2944368" y="3657600"/>
            <a:ext cx="2194560" cy="1463040"/>
          </a:xfrm>
          <a:prstGeom prst="roundRect">
            <a:avLst>
              <a:gd name="adj" fmla="val 5000"/>
            </a:avLst>
          </a:prstGeom>
          <a:solidFill>
            <a:srgbClr val="F4F6F8"/>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14" name="Text 12"/>
          <p:cNvSpPr/>
          <p:nvPr/>
        </p:nvSpPr>
        <p:spPr>
          <a:xfrm>
            <a:off x="2944368" y="3840480"/>
            <a:ext cx="2194560" cy="731520"/>
          </a:xfrm>
          <a:prstGeom prst="rect">
            <a:avLst/>
          </a:prstGeom>
          <a:noFill/>
          <a:ln/>
        </p:spPr>
        <p:txBody>
          <a:bodyPr wrap="square" lIns="0" tIns="0" rIns="0" bIns="0" rtlCol="0" anchor="ctr"/>
          <a:lstStyle/>
          <a:p>
            <a:pPr algn="ctr" indent="0" marL="0">
              <a:buNone/>
            </a:pPr>
            <a:r>
              <a:rPr lang="en-US" sz="3700" b="1" dirty="0">
                <a:solidFill>
                  <a:srgbClr val="16385C"/>
                </a:solidFill>
                <a:latin typeface="Trebuchet MS" pitchFamily="34" charset="0"/>
                <a:ea typeface="Trebuchet MS" pitchFamily="34" charset="-122"/>
                <a:cs typeface="Trebuchet MS" pitchFamily="34" charset="-120"/>
              </a:rPr>
              <a:t>0.7763</a:t>
            </a:r>
            <a:endParaRPr lang="en-US" sz="3700" dirty="0"/>
          </a:p>
        </p:txBody>
      </p:sp>
      <p:sp>
        <p:nvSpPr>
          <p:cNvPr id="15" name="Text 13"/>
          <p:cNvSpPr/>
          <p:nvPr/>
        </p:nvSpPr>
        <p:spPr>
          <a:xfrm>
            <a:off x="2944368" y="4617720"/>
            <a:ext cx="2194560" cy="411480"/>
          </a:xfrm>
          <a:prstGeom prst="rect">
            <a:avLst/>
          </a:prstGeom>
          <a:noFill/>
          <a:ln/>
        </p:spPr>
        <p:txBody>
          <a:bodyPr wrap="square" lIns="0" tIns="0" rIns="0" bIns="0" rtlCol="0" anchor="ctr"/>
          <a:lstStyle/>
          <a:p>
            <a:pPr algn="ctr" indent="0" marL="0">
              <a:buNone/>
            </a:pPr>
            <a:r>
              <a:rPr lang="en-US" sz="1600" dirty="0">
                <a:solidFill>
                  <a:srgbClr val="8A97A5"/>
                </a:solidFill>
                <a:latin typeface="Calibri" pitchFamily="34" charset="0"/>
                <a:ea typeface="Calibri" pitchFamily="34" charset="-122"/>
                <a:cs typeface="Calibri" pitchFamily="34" charset="-120"/>
              </a:rPr>
              <a:t>F1-score</a:t>
            </a:r>
            <a:endParaRPr lang="en-US" sz="1600" dirty="0"/>
          </a:p>
        </p:txBody>
      </p:sp>
      <p:sp>
        <p:nvSpPr>
          <p:cNvPr id="16" name="Text 14"/>
          <p:cNvSpPr/>
          <p:nvPr/>
        </p:nvSpPr>
        <p:spPr>
          <a:xfrm>
            <a:off x="566928" y="5212080"/>
            <a:ext cx="4572000" cy="777240"/>
          </a:xfrm>
          <a:prstGeom prst="rect">
            <a:avLst/>
          </a:prstGeom>
          <a:noFill/>
          <a:ln/>
        </p:spPr>
        <p:txBody>
          <a:bodyPr wrap="square" lIns="0" tIns="0" rIns="0" bIns="0" rtlCol="0" anchor="t"/>
          <a:lstStyle/>
          <a:p>
            <a:pPr algn="ctr" indent="0" marL="0">
              <a:lnSpc>
                <a:spcPct val="105000"/>
              </a:lnSpc>
              <a:buNone/>
            </a:pPr>
            <a:r>
              <a:rPr lang="en-US" sz="1600" dirty="0">
                <a:solidFill>
                  <a:srgbClr val="232A31"/>
                </a:solidFill>
                <a:latin typeface="Calibri" pitchFamily="34" charset="0"/>
                <a:ea typeface="Calibri" pitchFamily="34" charset="-122"/>
                <a:cs typeface="Calibri" pitchFamily="34" charset="-120"/>
              </a:rPr>
              <a:t>Our model beats the strongest baseline (ResNet) by about 3% in accuracy and precision.</a:t>
            </a:r>
            <a:endParaRPr lang="en-US" sz="1600" dirty="0"/>
          </a:p>
        </p:txBody>
      </p:sp>
      <p:sp>
        <p:nvSpPr>
          <p:cNvPr id="17" name="Shape 15"/>
          <p:cNvSpPr/>
          <p:nvPr/>
        </p:nvSpPr>
        <p:spPr>
          <a:xfrm>
            <a:off x="5257800" y="1874520"/>
            <a:ext cx="6355080" cy="4114800"/>
          </a:xfrm>
          <a:prstGeom prst="roundRect">
            <a:avLst>
              <a:gd name="adj" fmla="val 1778"/>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pic>
        <p:nvPicPr>
          <p:cNvPr id="18" name="Image 0" descr="/sessions/pensive-beautiful-ramanujan/mnt/outputs/assets/chart_accuracy.png">    </p:cNvPr>
          <p:cNvPicPr>
            <a:picLocks noChangeAspect="1"/>
          </p:cNvPicPr>
          <p:nvPr/>
        </p:nvPicPr>
        <p:blipFill>
          <a:blip r:embed="rId1"/>
          <a:srcRect l="0" r="0" t="0" b="0"/>
          <a:stretch/>
        </p:blipFill>
        <p:spPr>
          <a:xfrm>
            <a:off x="5486400" y="2103120"/>
            <a:ext cx="5897880" cy="3657600"/>
          </a:xfrm>
          <a:prstGeom prst="rect">
            <a:avLst/>
          </a:prstGeom>
        </p:spPr>
      </p:pic>
      <p:sp>
        <p:nvSpPr>
          <p:cNvPr id="19" name="Text 16"/>
          <p:cNvSpPr/>
          <p:nvPr/>
        </p:nvSpPr>
        <p:spPr>
          <a:xfrm>
            <a:off x="566928" y="6473952"/>
            <a:ext cx="10149840" cy="274320"/>
          </a:xfrm>
          <a:prstGeom prst="rect">
            <a:avLst/>
          </a:prstGeom>
          <a:noFill/>
          <a:ln/>
        </p:spPr>
        <p:txBody>
          <a:bodyPr wrap="square" lIns="0" tIns="0" rIns="0" bIns="0" rtlCol="0" anchor="ctr"/>
          <a:lstStyle/>
          <a:p>
            <a:pPr indent="0" marL="0">
              <a:buNone/>
            </a:pPr>
            <a:r>
              <a:rPr lang="en-US" sz="1050" i="1" dirty="0">
                <a:solidFill>
                  <a:srgbClr val="8A97A5"/>
                </a:solidFill>
                <a:latin typeface="Calibri" pitchFamily="34" charset="0"/>
                <a:ea typeface="Calibri" pitchFamily="34" charset="-122"/>
                <a:cs typeface="Calibri" pitchFamily="34" charset="-120"/>
              </a:rPr>
              <a:t>Mechanism of Action of Pharmacological Agents: A Deep Learning Prediction Model Using Smooth Muscle Contractility Signals</a:t>
            </a:r>
            <a:endParaRPr lang="en-US" sz="1050" dirty="0"/>
          </a:p>
        </p:txBody>
      </p:sp>
      <p:sp>
        <p:nvSpPr>
          <p:cNvPr id="20" name="Text 1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50" dirty="0">
                <a:solidFill>
                  <a:srgbClr val="8A97A5"/>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indent="0" marL="0">
              <a:buNone/>
            </a:pPr>
            <a:r>
              <a:rPr lang="en-US" sz="1700" b="1" spc="300" kern="0" dirty="0">
                <a:solidFill>
                  <a:srgbClr val="2E75B6"/>
                </a:solidFill>
                <a:latin typeface="Trebuchet MS" pitchFamily="34" charset="0"/>
                <a:ea typeface="Trebuchet MS" pitchFamily="34" charset="-122"/>
                <a:cs typeface="Trebuchet MS" pitchFamily="34" charset="-120"/>
              </a:rPr>
              <a:t>RESULTS</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indent="0" marL="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Full benchmark</a:t>
            </a:r>
            <a:endParaRPr lang="en-US" sz="3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234440" y="1783080"/>
          <a:ext cx="9692640" cy="914400"/>
        </p:xfrm>
        <a:graphic>
          <a:graphicData uri="http://schemas.openxmlformats.org/drawingml/2006/table">
            <a:tbl>
              <a:tblPr/>
              <a:tblGrid>
                <a:gridCol w="2743200"/>
                <a:gridCol w="1737360"/>
                <a:gridCol w="1737360"/>
                <a:gridCol w="1737360"/>
                <a:gridCol w="1737360"/>
              </a:tblGrid>
              <a:tr h="374904">
                <a:tc>
                  <a:txBody>
                    <a:bodyPr/>
                    <a:lstStyle/>
                    <a:p>
                      <a:pPr algn="l" indent="0" marL="0">
                        <a:buNone/>
                      </a:pPr>
                      <a:r>
                        <a:rPr lang="en-US" sz="1800" b="1" dirty="0">
                          <a:solidFill>
                            <a:srgbClr val="FFFFFF"/>
                          </a:solidFill>
                          <a:latin typeface="Trebuchet MS" pitchFamily="34" charset="0"/>
                          <a:ea typeface="Trebuchet MS" pitchFamily="34" charset="-122"/>
                          <a:cs typeface="Trebuchet MS" pitchFamily="34" charset="-120"/>
                        </a:rPr>
                        <a:t>Model</a:t>
                      </a:r>
                      <a:endParaRPr lang="en-US" sz="1800" dirty="0">
                        <a:latin typeface="Trebuchet MS" charset="0"/>
                        <a:ea typeface="Trebuchet MS" charset="0"/>
                        <a:cs typeface="Trebuchet MS"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c>
                  <a:txBody>
                    <a:bodyP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Accuracy</a:t>
                      </a:r>
                      <a:endParaRPr lang="en-US" sz="1800" dirty="0">
                        <a:latin typeface="Trebuchet MS" charset="0"/>
                        <a:ea typeface="Trebuchet MS" charset="0"/>
                        <a:cs typeface="Trebuchet MS"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c>
                  <a:txBody>
                    <a:bodyP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Precision</a:t>
                      </a:r>
                      <a:endParaRPr lang="en-US" sz="1800" dirty="0">
                        <a:latin typeface="Trebuchet MS" charset="0"/>
                        <a:ea typeface="Trebuchet MS" charset="0"/>
                        <a:cs typeface="Trebuchet MS"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c>
                  <a:txBody>
                    <a:bodyP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Sensitivity</a:t>
                      </a:r>
                      <a:endParaRPr lang="en-US" sz="1800" dirty="0">
                        <a:latin typeface="Trebuchet MS" charset="0"/>
                        <a:ea typeface="Trebuchet MS" charset="0"/>
                        <a:cs typeface="Trebuchet MS"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c>
                  <a:txBody>
                    <a:bodyPr/>
                    <a:lstStyle/>
                    <a:p>
                      <a:pPr algn="ctr" indent="0" marL="0">
                        <a:buNone/>
                      </a:pPr>
                      <a:r>
                        <a:rPr lang="en-US" sz="1800" b="1" dirty="0">
                          <a:solidFill>
                            <a:srgbClr val="FFFFFF"/>
                          </a:solidFill>
                          <a:latin typeface="Trebuchet MS" pitchFamily="34" charset="0"/>
                          <a:ea typeface="Trebuchet MS" pitchFamily="34" charset="-122"/>
                          <a:cs typeface="Trebuchet MS" pitchFamily="34" charset="-120"/>
                        </a:rPr>
                        <a:t>F1-score</a:t>
                      </a:r>
                      <a:endParaRPr lang="en-US" sz="1800" dirty="0">
                        <a:latin typeface="Trebuchet MS" charset="0"/>
                        <a:ea typeface="Trebuchet MS" charset="0"/>
                        <a:cs typeface="Trebuchet MS"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16385C"/>
                    </a:solidFill>
                  </a:tcPr>
                </a:tc>
              </a:tr>
              <a:tr h="374904">
                <a:tc>
                  <a:txBody>
                    <a:bodyPr/>
                    <a:lstStyle/>
                    <a:p>
                      <a:pPr algn="l" indent="0" marL="0">
                        <a:buNone/>
                      </a:pPr>
                      <a:r>
                        <a:rPr lang="en-US" sz="1700" b="1" dirty="0">
                          <a:solidFill>
                            <a:srgbClr val="232A31"/>
                          </a:solidFill>
                          <a:latin typeface="Calibri" pitchFamily="34" charset="0"/>
                          <a:ea typeface="Calibri" pitchFamily="34" charset="-122"/>
                          <a:cs typeface="Calibri" pitchFamily="34" charset="-120"/>
                        </a:rPr>
                        <a:t>k-NN</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0.6333</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0.6082</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0.5631</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0.5615</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r>
              <a:tr h="374904">
                <a:tc>
                  <a:txBody>
                    <a:bodyPr/>
                    <a:lstStyle/>
                    <a:p>
                      <a:pPr algn="l" indent="0" marL="0">
                        <a:buNone/>
                      </a:pPr>
                      <a:r>
                        <a:rPr lang="en-US" sz="1700" b="1" dirty="0">
                          <a:solidFill>
                            <a:srgbClr val="232A31"/>
                          </a:solidFill>
                          <a:latin typeface="Calibri" pitchFamily="34" charset="0"/>
                          <a:ea typeface="Calibri" pitchFamily="34" charset="-122"/>
                          <a:cs typeface="Calibri" pitchFamily="34" charset="-120"/>
                        </a:rPr>
                        <a:t>SVM</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0.7111</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0.7220</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0.6513</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0.6720</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r>
              <a:tr h="374904">
                <a:tc>
                  <a:txBody>
                    <a:bodyPr/>
                    <a:lstStyle/>
                    <a:p>
                      <a:pPr algn="l" indent="0" marL="0">
                        <a:buNone/>
                      </a:pPr>
                      <a:r>
                        <a:rPr lang="en-US" sz="1700" b="1" dirty="0">
                          <a:solidFill>
                            <a:srgbClr val="232A31"/>
                          </a:solidFill>
                          <a:latin typeface="Calibri" pitchFamily="34" charset="0"/>
                          <a:ea typeface="Calibri" pitchFamily="34" charset="-122"/>
                          <a:cs typeface="Calibri" pitchFamily="34" charset="-120"/>
                        </a:rPr>
                        <a:t>RF</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0.7249</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0.7108</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0.6775</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0.6830</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r>
              <a:tr h="374904">
                <a:tc>
                  <a:txBody>
                    <a:bodyPr/>
                    <a:lstStyle/>
                    <a:p>
                      <a:pPr algn="l" indent="0" marL="0">
                        <a:buNone/>
                      </a:pPr>
                      <a:r>
                        <a:rPr lang="en-US" sz="1700" b="1" dirty="0">
                          <a:solidFill>
                            <a:srgbClr val="232A31"/>
                          </a:solidFill>
                          <a:latin typeface="Calibri" pitchFamily="34" charset="0"/>
                          <a:ea typeface="Calibri" pitchFamily="34" charset="-122"/>
                          <a:cs typeface="Calibri" pitchFamily="34" charset="-120"/>
                        </a:rPr>
                        <a:t>ANN</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0.6972</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0.6783</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0.6287</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0.6359</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r>
              <a:tr h="374904">
                <a:tc>
                  <a:txBody>
                    <a:bodyPr/>
                    <a:lstStyle/>
                    <a:p>
                      <a:pPr algn="l" indent="0" marL="0">
                        <a:buNone/>
                      </a:pPr>
                      <a:r>
                        <a:rPr lang="en-US" sz="1700" b="1" dirty="0">
                          <a:solidFill>
                            <a:srgbClr val="232A31"/>
                          </a:solidFill>
                          <a:latin typeface="Calibri" pitchFamily="34" charset="0"/>
                          <a:ea typeface="Calibri" pitchFamily="34" charset="-122"/>
                          <a:cs typeface="Calibri" pitchFamily="34" charset="-120"/>
                        </a:rPr>
                        <a:t>ResNet</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DCE6F2"/>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0.7734</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DCE6F2"/>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0.7775</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DCE6F2"/>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0.7483</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DCE6F2"/>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0.7580</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DCE6F2"/>
                    </a:solidFill>
                  </a:tcPr>
                </a:tc>
              </a:tr>
              <a:tr h="374904">
                <a:tc>
                  <a:txBody>
                    <a:bodyPr/>
                    <a:lstStyle/>
                    <a:p>
                      <a:pPr algn="l" indent="0" marL="0">
                        <a:buNone/>
                      </a:pPr>
                      <a:r>
                        <a:rPr lang="en-US" sz="1700" b="1" dirty="0">
                          <a:solidFill>
                            <a:srgbClr val="232A31"/>
                          </a:solidFill>
                          <a:latin typeface="Calibri" pitchFamily="34" charset="0"/>
                          <a:ea typeface="Calibri" pitchFamily="34" charset="-122"/>
                          <a:cs typeface="Calibri" pitchFamily="34" charset="-120"/>
                        </a:rPr>
                        <a:t>Inception</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0.6056</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0.6568</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0.5452</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0.5628</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r>
              <a:tr h="374904">
                <a:tc>
                  <a:txBody>
                    <a:bodyPr/>
                    <a:lstStyle/>
                    <a:p>
                      <a:pPr algn="l" indent="0" marL="0">
                        <a:buNone/>
                      </a:pPr>
                      <a:r>
                        <a:rPr lang="en-US" sz="1700" b="1" dirty="0">
                          <a:solidFill>
                            <a:srgbClr val="232A31"/>
                          </a:solidFill>
                          <a:latin typeface="Calibri" pitchFamily="34" charset="0"/>
                          <a:ea typeface="Calibri" pitchFamily="34" charset="-122"/>
                          <a:cs typeface="Calibri" pitchFamily="34" charset="-120"/>
                        </a:rPr>
                        <a:t>EfficientNet</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0.7233</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0.7248</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0.6748</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0.6896</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r>
              <a:tr h="374904">
                <a:tc>
                  <a:txBody>
                    <a:bodyPr/>
                    <a:lstStyle/>
                    <a:p>
                      <a:pPr algn="l" indent="0" marL="0">
                        <a:buNone/>
                      </a:pPr>
                      <a:r>
                        <a:rPr lang="en-US" sz="1700" b="1" dirty="0">
                          <a:solidFill>
                            <a:srgbClr val="232A31"/>
                          </a:solidFill>
                          <a:latin typeface="Calibri" pitchFamily="34" charset="0"/>
                          <a:ea typeface="Calibri" pitchFamily="34" charset="-122"/>
                          <a:cs typeface="Calibri" pitchFamily="34" charset="-120"/>
                        </a:rPr>
                        <a:t>MobileNet</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0.6869</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0.7004</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0.6582</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0.6711</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r>
              <a:tr h="374904">
                <a:tc>
                  <a:txBody>
                    <a:bodyPr/>
                    <a:lstStyle/>
                    <a:p>
                      <a:pPr algn="l" indent="0" marL="0">
                        <a:buNone/>
                      </a:pPr>
                      <a:r>
                        <a:rPr lang="en-US" sz="1700" b="1" dirty="0">
                          <a:solidFill>
                            <a:srgbClr val="232A31"/>
                          </a:solidFill>
                          <a:latin typeface="Calibri" pitchFamily="34" charset="0"/>
                          <a:ea typeface="Calibri" pitchFamily="34" charset="-122"/>
                          <a:cs typeface="Calibri" pitchFamily="34" charset="-120"/>
                        </a:rPr>
                        <a:t>ConvNeXt</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0.5294</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0.5792</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0.4594</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0.4604</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r>
              <a:tr h="374904">
                <a:tc>
                  <a:txBody>
                    <a:bodyPr/>
                    <a:lstStyle/>
                    <a:p>
                      <a:pPr algn="l" indent="0" marL="0">
                        <a:buNone/>
                      </a:pPr>
                      <a:r>
                        <a:rPr lang="en-US" sz="1700" b="1" dirty="0">
                          <a:solidFill>
                            <a:srgbClr val="232A31"/>
                          </a:solidFill>
                          <a:latin typeface="Calibri" pitchFamily="34" charset="0"/>
                          <a:ea typeface="Calibri" pitchFamily="34" charset="-122"/>
                          <a:cs typeface="Calibri" pitchFamily="34" charset="-120"/>
                        </a:rPr>
                        <a:t>Swin</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0.5987</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0.6450</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0.5895</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c>
                  <a:txBody>
                    <a:bodyPr/>
                    <a:lstStyle/>
                    <a:p>
                      <a:pPr algn="ctr" indent="0" marL="0">
                        <a:buNone/>
                      </a:pPr>
                      <a:r>
                        <a:rPr lang="en-US" sz="1700" dirty="0">
                          <a:solidFill>
                            <a:srgbClr val="232A31"/>
                          </a:solidFill>
                          <a:latin typeface="Calibri" pitchFamily="34" charset="0"/>
                          <a:ea typeface="Calibri" pitchFamily="34" charset="-122"/>
                          <a:cs typeface="Calibri" pitchFamily="34" charset="-120"/>
                        </a:rPr>
                        <a:t>0.6008</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FFFFFF"/>
                    </a:solidFill>
                  </a:tcPr>
                </a:tc>
              </a:tr>
              <a:tr h="374904">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Proposed Model</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0.8046</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0.8097</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0.7651</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c>
                  <a:txBody>
                    <a:bodyPr/>
                    <a:lstStyle/>
                    <a:p>
                      <a:pPr algn="ctr" indent="0" marL="0">
                        <a:buNone/>
                      </a:pPr>
                      <a:r>
                        <a:rPr lang="en-US" sz="1700" b="1" dirty="0">
                          <a:solidFill>
                            <a:srgbClr val="FFFFFF"/>
                          </a:solidFill>
                          <a:latin typeface="Calibri" pitchFamily="34" charset="0"/>
                          <a:ea typeface="Calibri" pitchFamily="34" charset="-122"/>
                          <a:cs typeface="Calibri" pitchFamily="34" charset="-120"/>
                        </a:rPr>
                        <a:t>0.7763</a:t>
                      </a:r>
                      <a:endParaRPr lang="en-US" sz="1700" dirty="0">
                        <a:latin typeface="Calibri" charset="0"/>
                        <a:ea typeface="Calibri" charset="0"/>
                        <a:cs typeface="Calibri" charset="0"/>
                      </a:endParaRPr>
                    </a:p>
                  </a:txBody>
                  <a:tcPr marL="91440" marR="91440" marT="45720" marB="45720" anchor="ctr">
                    <a:lnL w="6350" cap="flat" cmpd="sng" algn="ctr">
                      <a:solidFill>
                        <a:srgbClr val="C9D4DE"/>
                      </a:solidFill>
                      <a:prstDash val="solid"/>
                      <a:round/>
                      <a:headEnd type="none" w="med" len="med"/>
                      <a:tailEnd type="none" w="med" len="med"/>
                    </a:lnL>
                    <a:lnR w="6350" cap="flat" cmpd="sng" algn="ctr">
                      <a:solidFill>
                        <a:srgbClr val="C9D4DE"/>
                      </a:solidFill>
                      <a:prstDash val="solid"/>
                      <a:round/>
                      <a:headEnd type="none" w="med" len="med"/>
                      <a:tailEnd type="none" w="med" len="med"/>
                    </a:lnR>
                    <a:lnT w="6350" cap="flat" cmpd="sng" algn="ctr">
                      <a:solidFill>
                        <a:srgbClr val="C9D4DE"/>
                      </a:solidFill>
                      <a:prstDash val="solid"/>
                      <a:round/>
                      <a:headEnd type="none" w="med" len="med"/>
                      <a:tailEnd type="none" w="med" len="med"/>
                    </a:lnT>
                    <a:lnB w="6350" cap="flat" cmpd="sng" algn="ctr">
                      <a:solidFill>
                        <a:srgbClr val="C9D4DE"/>
                      </a:solidFill>
                      <a:prstDash val="solid"/>
                      <a:round/>
                      <a:headEnd type="none" w="med" len="med"/>
                      <a:tailEnd type="none" w="med" len="med"/>
                    </a:lnB>
                    <a:solidFill>
                      <a:srgbClr val="C0504D"/>
                    </a:solidFill>
                  </a:tcPr>
                </a:tc>
              </a:tr>
            </a:tbl>
          </a:graphicData>
        </a:graphic>
      </p:graphicFrame>
      <p:sp>
        <p:nvSpPr>
          <p:cNvPr id="5" name="Text 2"/>
          <p:cNvSpPr/>
          <p:nvPr/>
        </p:nvSpPr>
        <p:spPr>
          <a:xfrm>
            <a:off x="566928" y="6473952"/>
            <a:ext cx="10149840" cy="274320"/>
          </a:xfrm>
          <a:prstGeom prst="rect">
            <a:avLst/>
          </a:prstGeom>
          <a:noFill/>
          <a:ln/>
        </p:spPr>
        <p:txBody>
          <a:bodyPr wrap="square" lIns="0" tIns="0" rIns="0" bIns="0" rtlCol="0" anchor="ctr"/>
          <a:lstStyle/>
          <a:p>
            <a:pPr indent="0" marL="0">
              <a:buNone/>
            </a:pPr>
            <a:r>
              <a:rPr lang="en-US" sz="1050" i="1" dirty="0">
                <a:solidFill>
                  <a:srgbClr val="8A97A5"/>
                </a:solidFill>
                <a:latin typeface="Calibri" pitchFamily="34" charset="0"/>
                <a:ea typeface="Calibri" pitchFamily="34" charset="-122"/>
                <a:cs typeface="Calibri" pitchFamily="34" charset="-120"/>
              </a:rPr>
              <a:t>Mechanism of Action of Pharmacological Agents: A Deep Learning Prediction Model Using Smooth Muscle Contractility Signals</a:t>
            </a:r>
            <a:endParaRPr lang="en-US" sz="1050" dirty="0"/>
          </a:p>
        </p:txBody>
      </p:sp>
      <p:sp>
        <p:nvSpPr>
          <p:cNvPr id="6" name="Text 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50" dirty="0">
                <a:solidFill>
                  <a:srgbClr val="8A97A5"/>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indent="0" marL="0">
              <a:buNone/>
            </a:pPr>
            <a:r>
              <a:rPr lang="en-US" sz="1700" b="1" spc="300" kern="0" dirty="0">
                <a:solidFill>
                  <a:srgbClr val="2E75B6"/>
                </a:solidFill>
                <a:latin typeface="Trebuchet MS" pitchFamily="34" charset="0"/>
                <a:ea typeface="Trebuchet MS" pitchFamily="34" charset="-122"/>
                <a:cs typeface="Trebuchet MS" pitchFamily="34" charset="-120"/>
              </a:rPr>
              <a:t>DISCUSSION</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indent="0" marL="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Why the hybrid design wins</a:t>
            </a:r>
            <a:endParaRPr lang="en-US" sz="3500" dirty="0"/>
          </a:p>
        </p:txBody>
      </p:sp>
      <p:sp>
        <p:nvSpPr>
          <p:cNvPr id="4" name="Text 2"/>
          <p:cNvSpPr/>
          <p:nvPr/>
        </p:nvSpPr>
        <p:spPr>
          <a:xfrm>
            <a:off x="566928" y="2057400"/>
            <a:ext cx="5669280" cy="3931920"/>
          </a:xfrm>
          <a:prstGeom prst="rect">
            <a:avLst/>
          </a:prstGeom>
          <a:noFill/>
          <a:ln/>
        </p:spPr>
        <p:txBody>
          <a:bodyPr wrap="square" lIns="0" tIns="0" rIns="0" bIns="0" rtlCol="0" anchor="ctr"/>
          <a:lstStyle/>
          <a:p>
            <a:pPr indent="0" marL="0">
              <a:lnSpc>
                <a:spcPct val="105000"/>
              </a:lnSpc>
              <a:spcAft>
                <a:spcPts val="1500"/>
              </a:spcAft>
              <a:buNone/>
            </a:pPr>
            <a:r>
              <a:rPr lang="en-US" sz="2500" b="1" dirty="0">
                <a:solidFill>
                  <a:srgbClr val="16385C"/>
                </a:solidFill>
                <a:latin typeface="Calibri" pitchFamily="34" charset="0"/>
                <a:ea typeface="Calibri" pitchFamily="34" charset="-122"/>
                <a:cs typeface="Calibri" pitchFamily="34" charset="-120"/>
              </a:rPr>
              <a:t>Local and global, together</a:t>
            </a:r>
            <a:endParaRPr lang="en-US" sz="2100" dirty="0"/>
          </a:p>
          <a:p>
            <a:pPr marL="342900" indent="-342900">
              <a:lnSpc>
                <a:spcPct val="105000"/>
              </a:lnSpc>
              <a:spcAft>
                <a:spcPts val="1500"/>
              </a:spcAft>
              <a:buSzPct val="100000"/>
              <a:buChar char="•"/>
            </a:pPr>
            <a:r>
              <a:rPr lang="en-US" sz="2100" dirty="0">
                <a:solidFill>
                  <a:srgbClr val="232A31"/>
                </a:solidFill>
                <a:latin typeface="Calibri" pitchFamily="34" charset="0"/>
                <a:ea typeface="Calibri" pitchFamily="34" charset="-122"/>
                <a:cs typeface="Calibri" pitchFamily="34" charset="-120"/>
              </a:rPr>
              <a:t>The convolutional encoder captures local waveform features.</a:t>
            </a:r>
            <a:endParaRPr lang="en-US" sz="2100" dirty="0"/>
          </a:p>
          <a:p>
            <a:pPr marL="342900" indent="-342900">
              <a:lnSpc>
                <a:spcPct val="105000"/>
              </a:lnSpc>
              <a:spcAft>
                <a:spcPts val="1500"/>
              </a:spcAft>
              <a:buSzPct val="100000"/>
              <a:buChar char="•"/>
            </a:pPr>
            <a:r>
              <a:rPr lang="en-US" sz="2100" dirty="0">
                <a:solidFill>
                  <a:srgbClr val="232A31"/>
                </a:solidFill>
                <a:latin typeface="Calibri" pitchFamily="34" charset="0"/>
                <a:ea typeface="Calibri" pitchFamily="34" charset="-122"/>
                <a:cs typeface="Calibri" pitchFamily="34" charset="-120"/>
              </a:rPr>
              <a:t>The Transformer captures long-range temporal context.</a:t>
            </a:r>
            <a:endParaRPr lang="en-US" sz="2100" dirty="0"/>
          </a:p>
          <a:p>
            <a:pPr marL="342900" indent="-342900">
              <a:lnSpc>
                <a:spcPct val="105000"/>
              </a:lnSpc>
              <a:spcAft>
                <a:spcPts val="1500"/>
              </a:spcAft>
              <a:buSzPct val="100000"/>
              <a:buChar char="•"/>
            </a:pPr>
            <a:r>
              <a:rPr lang="en-US" sz="2100" dirty="0">
                <a:solidFill>
                  <a:srgbClr val="232A31"/>
                </a:solidFill>
                <a:latin typeface="Calibri" pitchFamily="34" charset="0"/>
                <a:ea typeface="Calibri" pitchFamily="34" charset="-122"/>
                <a:cs typeface="Calibri" pitchFamily="34" charset="-120"/>
              </a:rPr>
              <a:t>Image models such as ConvNeXt and Swin do not transfer to 1D signals.</a:t>
            </a:r>
            <a:endParaRPr lang="en-US" sz="2100" dirty="0"/>
          </a:p>
          <a:p>
            <a:pPr marL="342900" indent="-342900">
              <a:lnSpc>
                <a:spcPct val="105000"/>
              </a:lnSpc>
              <a:spcAft>
                <a:spcPts val="1500"/>
              </a:spcAft>
              <a:buSzPct val="100000"/>
              <a:buChar char="•"/>
            </a:pPr>
            <a:r>
              <a:rPr lang="en-US" sz="2100" dirty="0">
                <a:solidFill>
                  <a:srgbClr val="232A31"/>
                </a:solidFill>
                <a:latin typeface="Calibri" pitchFamily="34" charset="0"/>
                <a:ea typeface="Calibri" pitchFamily="34" charset="-122"/>
                <a:cs typeface="Calibri" pitchFamily="34" charset="-120"/>
              </a:rPr>
              <a:t>Higher precision than sensitivity makes the model conservative.</a:t>
            </a:r>
            <a:endParaRPr lang="en-US" sz="2100" dirty="0"/>
          </a:p>
        </p:txBody>
      </p:sp>
      <p:sp>
        <p:nvSpPr>
          <p:cNvPr id="5" name="Shape 3"/>
          <p:cNvSpPr/>
          <p:nvPr/>
        </p:nvSpPr>
        <p:spPr>
          <a:xfrm>
            <a:off x="6492240" y="1965960"/>
            <a:ext cx="5120640" cy="3657600"/>
          </a:xfrm>
          <a:prstGeom prst="roundRect">
            <a:avLst>
              <a:gd name="adj" fmla="val 2000"/>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pic>
        <p:nvPicPr>
          <p:cNvPr id="6" name="Image 0" descr="/sessions/pensive-beautiful-ramanujan/mnt/outputs/assets/chart_vs_resnet.png">    </p:cNvPr>
          <p:cNvPicPr>
            <a:picLocks noChangeAspect="1"/>
          </p:cNvPicPr>
          <p:nvPr/>
        </p:nvPicPr>
        <p:blipFill>
          <a:blip r:embed="rId1"/>
          <a:srcRect l="0" r="0" t="0" b="0"/>
          <a:stretch/>
        </p:blipFill>
        <p:spPr>
          <a:xfrm>
            <a:off x="6675120" y="2194560"/>
            <a:ext cx="4754880" cy="3200400"/>
          </a:xfrm>
          <a:prstGeom prst="rect">
            <a:avLst/>
          </a:prstGeom>
        </p:spPr>
      </p:pic>
      <p:sp>
        <p:nvSpPr>
          <p:cNvPr id="7" name="Text 4"/>
          <p:cNvSpPr/>
          <p:nvPr/>
        </p:nvSpPr>
        <p:spPr>
          <a:xfrm>
            <a:off x="566928" y="6473952"/>
            <a:ext cx="10149840" cy="274320"/>
          </a:xfrm>
          <a:prstGeom prst="rect">
            <a:avLst/>
          </a:prstGeom>
          <a:noFill/>
          <a:ln/>
        </p:spPr>
        <p:txBody>
          <a:bodyPr wrap="square" lIns="0" tIns="0" rIns="0" bIns="0" rtlCol="0" anchor="ctr"/>
          <a:lstStyle/>
          <a:p>
            <a:pPr indent="0" marL="0">
              <a:buNone/>
            </a:pPr>
            <a:r>
              <a:rPr lang="en-US" sz="1050" i="1" dirty="0">
                <a:solidFill>
                  <a:srgbClr val="8A97A5"/>
                </a:solidFill>
                <a:latin typeface="Calibri" pitchFamily="34" charset="0"/>
                <a:ea typeface="Calibri" pitchFamily="34" charset="-122"/>
                <a:cs typeface="Calibri" pitchFamily="34" charset="-120"/>
              </a:rPr>
              <a:t>Mechanism of Action of Pharmacological Agents: A Deep Learning Prediction Model Using Smooth Muscle Contractility Signals</a:t>
            </a:r>
            <a:endParaRPr lang="en-US" sz="1050" dirty="0"/>
          </a:p>
        </p:txBody>
      </p:sp>
      <p:sp>
        <p:nvSpPr>
          <p:cNvPr id="8" name="Text 5"/>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50" dirty="0">
                <a:solidFill>
                  <a:srgbClr val="8A97A5"/>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0058400" cy="329184"/>
          </a:xfrm>
          <a:prstGeom prst="rect">
            <a:avLst/>
          </a:prstGeom>
          <a:noFill/>
          <a:ln/>
        </p:spPr>
        <p:txBody>
          <a:bodyPr wrap="square" lIns="0" tIns="0" rIns="0" bIns="0" rtlCol="0" anchor="ctr"/>
          <a:lstStyle/>
          <a:p>
            <a:pPr indent="0" marL="0">
              <a:buNone/>
            </a:pPr>
            <a:r>
              <a:rPr lang="en-US" sz="1700" b="1" spc="300" kern="0" dirty="0">
                <a:solidFill>
                  <a:srgbClr val="2E75B6"/>
                </a:solidFill>
                <a:latin typeface="Trebuchet MS" pitchFamily="34" charset="0"/>
                <a:ea typeface="Trebuchet MS" pitchFamily="34" charset="-122"/>
                <a:cs typeface="Trebuchet MS" pitchFamily="34" charset="-120"/>
              </a:rPr>
              <a:t>OUTLOOK</a:t>
            </a:r>
            <a:endParaRPr lang="en-US" sz="1700" dirty="0"/>
          </a:p>
        </p:txBody>
      </p:sp>
      <p:sp>
        <p:nvSpPr>
          <p:cNvPr id="3" name="Text 1"/>
          <p:cNvSpPr/>
          <p:nvPr/>
        </p:nvSpPr>
        <p:spPr>
          <a:xfrm>
            <a:off x="566928" y="731520"/>
            <a:ext cx="11027664" cy="914400"/>
          </a:xfrm>
          <a:prstGeom prst="rect">
            <a:avLst/>
          </a:prstGeom>
          <a:noFill/>
          <a:ln/>
        </p:spPr>
        <p:txBody>
          <a:bodyPr wrap="square" lIns="0" tIns="0" rIns="0" bIns="0" rtlCol="0" anchor="t"/>
          <a:lstStyle/>
          <a:p>
            <a:pPr indent="0" marL="0">
              <a:lnSpc>
                <a:spcPct val="100000"/>
              </a:lnSpc>
              <a:buNone/>
            </a:pPr>
            <a:r>
              <a:rPr lang="en-US" sz="3500" b="1" dirty="0">
                <a:solidFill>
                  <a:srgbClr val="16385C"/>
                </a:solidFill>
                <a:latin typeface="Trebuchet MS" pitchFamily="34" charset="0"/>
                <a:ea typeface="Trebuchet MS" pitchFamily="34" charset="-122"/>
                <a:cs typeface="Trebuchet MS" pitchFamily="34" charset="-120"/>
              </a:rPr>
              <a:t>Limitations &amp; next steps</a:t>
            </a:r>
            <a:endParaRPr lang="en-US" sz="3500" dirty="0"/>
          </a:p>
        </p:txBody>
      </p:sp>
      <p:sp>
        <p:nvSpPr>
          <p:cNvPr id="4" name="Shape 2"/>
          <p:cNvSpPr/>
          <p:nvPr/>
        </p:nvSpPr>
        <p:spPr>
          <a:xfrm>
            <a:off x="566928" y="1965960"/>
            <a:ext cx="5394960" cy="3977640"/>
          </a:xfrm>
          <a:prstGeom prst="roundRect">
            <a:avLst>
              <a:gd name="adj" fmla="val 1839"/>
            </a:avLst>
          </a:prstGeom>
          <a:solidFill>
            <a:srgbClr val="F4F6F8"/>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5" name="Text 3"/>
          <p:cNvSpPr/>
          <p:nvPr/>
        </p:nvSpPr>
        <p:spPr>
          <a:xfrm>
            <a:off x="932688" y="2240280"/>
            <a:ext cx="4663440" cy="548640"/>
          </a:xfrm>
          <a:prstGeom prst="rect">
            <a:avLst/>
          </a:prstGeom>
          <a:noFill/>
          <a:ln/>
        </p:spPr>
        <p:txBody>
          <a:bodyPr wrap="square" lIns="0" tIns="0" rIns="0" bIns="0" rtlCol="0" anchor="ctr"/>
          <a:lstStyle/>
          <a:p>
            <a:pPr indent="0" marL="0">
              <a:buNone/>
            </a:pPr>
            <a:r>
              <a:rPr lang="en-US" sz="2500" b="1" dirty="0">
                <a:solidFill>
                  <a:srgbClr val="16385C"/>
                </a:solidFill>
                <a:latin typeface="Trebuchet MS" pitchFamily="34" charset="0"/>
                <a:ea typeface="Trebuchet MS" pitchFamily="34" charset="-122"/>
                <a:cs typeface="Trebuchet MS" pitchFamily="34" charset="-120"/>
              </a:rPr>
              <a:t>Limitations</a:t>
            </a:r>
            <a:endParaRPr lang="en-US" sz="2500" dirty="0"/>
          </a:p>
        </p:txBody>
      </p:sp>
      <p:sp>
        <p:nvSpPr>
          <p:cNvPr id="6" name="Text 4"/>
          <p:cNvSpPr/>
          <p:nvPr/>
        </p:nvSpPr>
        <p:spPr>
          <a:xfrm>
            <a:off x="932688" y="2971800"/>
            <a:ext cx="4663440" cy="2743200"/>
          </a:xfrm>
          <a:prstGeom prst="rect">
            <a:avLst/>
          </a:prstGeom>
          <a:noFill/>
          <a:ln/>
        </p:spPr>
        <p:txBody>
          <a:bodyPr wrap="square" lIns="0" tIns="0" rIns="0" bIns="0" rtlCol="0" anchor="ctr"/>
          <a:lstStyle/>
          <a:p>
            <a:pPr marL="342900" indent="-342900">
              <a:lnSpc>
                <a:spcPct val="105000"/>
              </a:lnSpc>
              <a:spcAft>
                <a:spcPts val="1500"/>
              </a:spcAft>
              <a:buSzPct val="100000"/>
              <a:buChar char="•"/>
            </a:pPr>
            <a:r>
              <a:rPr lang="en-US" sz="2100" dirty="0">
                <a:solidFill>
                  <a:srgbClr val="232A31"/>
                </a:solidFill>
                <a:latin typeface="Calibri" pitchFamily="34" charset="0"/>
                <a:ea typeface="Calibri" pitchFamily="34" charset="-122"/>
                <a:cs typeface="Calibri" pitchFamily="34" charset="-120"/>
              </a:rPr>
              <a:t>The dataset is still limited in size.</a:t>
            </a:r>
            <a:endParaRPr lang="en-US" sz="2100" dirty="0"/>
          </a:p>
          <a:p>
            <a:pPr marL="342900" indent="-342900">
              <a:lnSpc>
                <a:spcPct val="105000"/>
              </a:lnSpc>
              <a:spcAft>
                <a:spcPts val="1500"/>
              </a:spcAft>
              <a:buSzPct val="100000"/>
              <a:buChar char="•"/>
            </a:pPr>
            <a:r>
              <a:rPr lang="en-US" sz="2100" dirty="0">
                <a:solidFill>
                  <a:srgbClr val="232A31"/>
                </a:solidFill>
                <a:latin typeface="Calibri" pitchFamily="34" charset="0"/>
                <a:ea typeface="Calibri" pitchFamily="34" charset="-122"/>
                <a:cs typeface="Calibri" pitchFamily="34" charset="-120"/>
              </a:rPr>
              <a:t>Only four mechanism classes are covered.</a:t>
            </a:r>
            <a:endParaRPr lang="en-US" sz="2100" dirty="0"/>
          </a:p>
          <a:p>
            <a:pPr marL="342900" indent="-342900">
              <a:lnSpc>
                <a:spcPct val="105000"/>
              </a:lnSpc>
              <a:spcAft>
                <a:spcPts val="1500"/>
              </a:spcAft>
              <a:buSzPct val="100000"/>
              <a:buChar char="•"/>
            </a:pPr>
            <a:r>
              <a:rPr lang="en-US" sz="2100" dirty="0">
                <a:solidFill>
                  <a:srgbClr val="232A31"/>
                </a:solidFill>
                <a:latin typeface="Calibri" pitchFamily="34" charset="0"/>
                <a:ea typeface="Calibri" pitchFamily="34" charset="-122"/>
                <a:cs typeface="Calibri" pitchFamily="34" charset="-120"/>
              </a:rPr>
              <a:t>Class imbalance reduces sensitivity on smaller classes.</a:t>
            </a:r>
            <a:endParaRPr lang="en-US" sz="2100" dirty="0"/>
          </a:p>
        </p:txBody>
      </p:sp>
      <p:sp>
        <p:nvSpPr>
          <p:cNvPr id="7" name="Shape 5"/>
          <p:cNvSpPr/>
          <p:nvPr/>
        </p:nvSpPr>
        <p:spPr>
          <a:xfrm>
            <a:off x="6327648" y="1965960"/>
            <a:ext cx="5394960" cy="3977640"/>
          </a:xfrm>
          <a:prstGeom prst="roundRect">
            <a:avLst>
              <a:gd name="adj" fmla="val 1839"/>
            </a:avLst>
          </a:prstGeom>
          <a:solidFill>
            <a:srgbClr val="FFFFFF"/>
          </a:solidFill>
          <a:ln w="12700">
            <a:solidFill>
              <a:srgbClr val="DCE3EA"/>
            </a:solidFill>
            <a:prstDash val="solid"/>
          </a:ln>
          <a:effectLst>
            <a:outerShdw sx="100000" sy="100000" kx="0" ky="0" algn="bl" rotWithShape="0" blurRad="88900" dist="38100" dir="8100000">
              <a:srgbClr val="8AA0B5">
                <a:alpha val="28000"/>
              </a:srgbClr>
            </a:outerShdw>
          </a:effectLst>
        </p:spPr>
      </p:sp>
      <p:sp>
        <p:nvSpPr>
          <p:cNvPr id="8" name="Text 6"/>
          <p:cNvSpPr/>
          <p:nvPr/>
        </p:nvSpPr>
        <p:spPr>
          <a:xfrm>
            <a:off x="6693408" y="2240280"/>
            <a:ext cx="4663440" cy="548640"/>
          </a:xfrm>
          <a:prstGeom prst="rect">
            <a:avLst/>
          </a:prstGeom>
          <a:noFill/>
          <a:ln/>
        </p:spPr>
        <p:txBody>
          <a:bodyPr wrap="square" lIns="0" tIns="0" rIns="0" bIns="0" rtlCol="0" anchor="ctr"/>
          <a:lstStyle/>
          <a:p>
            <a:pPr indent="0" marL="0">
              <a:buNone/>
            </a:pPr>
            <a:r>
              <a:rPr lang="en-US" sz="2500" b="1" dirty="0">
                <a:solidFill>
                  <a:srgbClr val="C0504D"/>
                </a:solidFill>
                <a:latin typeface="Trebuchet MS" pitchFamily="34" charset="0"/>
                <a:ea typeface="Trebuchet MS" pitchFamily="34" charset="-122"/>
                <a:cs typeface="Trebuchet MS" pitchFamily="34" charset="-120"/>
              </a:rPr>
              <a:t>Future work</a:t>
            </a:r>
            <a:endParaRPr lang="en-US" sz="2500" dirty="0"/>
          </a:p>
        </p:txBody>
      </p:sp>
      <p:sp>
        <p:nvSpPr>
          <p:cNvPr id="9" name="Text 7"/>
          <p:cNvSpPr/>
          <p:nvPr/>
        </p:nvSpPr>
        <p:spPr>
          <a:xfrm>
            <a:off x="6693408" y="2971800"/>
            <a:ext cx="4663440" cy="2743200"/>
          </a:xfrm>
          <a:prstGeom prst="rect">
            <a:avLst/>
          </a:prstGeom>
          <a:noFill/>
          <a:ln/>
        </p:spPr>
        <p:txBody>
          <a:bodyPr wrap="square" lIns="0" tIns="0" rIns="0" bIns="0" rtlCol="0" anchor="ctr"/>
          <a:lstStyle/>
          <a:p>
            <a:pPr marL="342900" indent="-342900">
              <a:lnSpc>
                <a:spcPct val="105000"/>
              </a:lnSpc>
              <a:spcAft>
                <a:spcPts val="1500"/>
              </a:spcAft>
              <a:buSzPct val="100000"/>
              <a:buChar char="•"/>
            </a:pPr>
            <a:r>
              <a:rPr lang="en-US" sz="2100" dirty="0">
                <a:solidFill>
                  <a:srgbClr val="232A31"/>
                </a:solidFill>
                <a:latin typeface="Calibri" pitchFamily="34" charset="0"/>
                <a:ea typeface="Calibri" pitchFamily="34" charset="-122"/>
                <a:cs typeface="Calibri" pitchFamily="34" charset="-120"/>
              </a:rPr>
              <a:t>We will enlarge the dataset and add more mechanism classes.</a:t>
            </a:r>
            <a:endParaRPr lang="en-US" sz="2100" dirty="0"/>
          </a:p>
          <a:p>
            <a:pPr marL="342900" indent="-342900">
              <a:lnSpc>
                <a:spcPct val="105000"/>
              </a:lnSpc>
              <a:spcAft>
                <a:spcPts val="1500"/>
              </a:spcAft>
              <a:buSzPct val="100000"/>
              <a:buChar char="•"/>
            </a:pPr>
            <a:r>
              <a:rPr lang="en-US" sz="2100" dirty="0">
                <a:solidFill>
                  <a:srgbClr val="232A31"/>
                </a:solidFill>
                <a:latin typeface="Calibri" pitchFamily="34" charset="0"/>
                <a:ea typeface="Calibri" pitchFamily="34" charset="-122"/>
                <a:cs typeface="Calibri" pitchFamily="34" charset="-120"/>
              </a:rPr>
              <a:t>We will address class imbalance with data augmentation.</a:t>
            </a:r>
            <a:endParaRPr lang="en-US" sz="2100" dirty="0"/>
          </a:p>
          <a:p>
            <a:pPr marL="342900" indent="-342900">
              <a:lnSpc>
                <a:spcPct val="105000"/>
              </a:lnSpc>
              <a:spcAft>
                <a:spcPts val="1500"/>
              </a:spcAft>
              <a:buSzPct val="100000"/>
              <a:buChar char="•"/>
            </a:pPr>
            <a:r>
              <a:rPr lang="en-US" sz="2100" dirty="0">
                <a:solidFill>
                  <a:srgbClr val="232A31"/>
                </a:solidFill>
                <a:latin typeface="Calibri" pitchFamily="34" charset="0"/>
                <a:ea typeface="Calibri" pitchFamily="34" charset="-122"/>
                <a:cs typeface="Calibri" pitchFamily="34" charset="-120"/>
              </a:rPr>
              <a:t>We will add interpretable attention and real-time scoring.</a:t>
            </a:r>
            <a:endParaRPr lang="en-US" sz="2100" dirty="0"/>
          </a:p>
        </p:txBody>
      </p:sp>
      <p:sp>
        <p:nvSpPr>
          <p:cNvPr id="10" name="Text 8"/>
          <p:cNvSpPr/>
          <p:nvPr/>
        </p:nvSpPr>
        <p:spPr>
          <a:xfrm>
            <a:off x="566928" y="6473952"/>
            <a:ext cx="10149840" cy="274320"/>
          </a:xfrm>
          <a:prstGeom prst="rect">
            <a:avLst/>
          </a:prstGeom>
          <a:noFill/>
          <a:ln/>
        </p:spPr>
        <p:txBody>
          <a:bodyPr wrap="square" lIns="0" tIns="0" rIns="0" bIns="0" rtlCol="0" anchor="ctr"/>
          <a:lstStyle/>
          <a:p>
            <a:pPr indent="0" marL="0">
              <a:buNone/>
            </a:pPr>
            <a:r>
              <a:rPr lang="en-US" sz="1050" i="1" dirty="0">
                <a:solidFill>
                  <a:srgbClr val="8A97A5"/>
                </a:solidFill>
                <a:latin typeface="Calibri" pitchFamily="34" charset="0"/>
                <a:ea typeface="Calibri" pitchFamily="34" charset="-122"/>
                <a:cs typeface="Calibri" pitchFamily="34" charset="-120"/>
              </a:rPr>
              <a:t>Mechanism of Action of Pharmacological Agents: A Deep Learning Prediction Model Using Smooth Muscle Contractility Signals</a:t>
            </a:r>
            <a:endParaRPr lang="en-US" sz="1050" dirty="0"/>
          </a:p>
        </p:txBody>
      </p:sp>
      <p:sp>
        <p:nvSpPr>
          <p:cNvPr id="11" name="Text 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1050" dirty="0">
                <a:solidFill>
                  <a:srgbClr val="8A97A5"/>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385C"/>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6385C"/>
          </a:solidFill>
          <a:ln/>
        </p:spPr>
      </p:sp>
      <p:sp>
        <p:nvSpPr>
          <p:cNvPr id="3" name="Text 1"/>
          <p:cNvSpPr/>
          <p:nvPr/>
        </p:nvSpPr>
        <p:spPr>
          <a:xfrm>
            <a:off x="822960" y="731520"/>
            <a:ext cx="7315200" cy="365760"/>
          </a:xfrm>
          <a:prstGeom prst="rect">
            <a:avLst/>
          </a:prstGeom>
          <a:noFill/>
          <a:ln/>
        </p:spPr>
        <p:txBody>
          <a:bodyPr wrap="square" lIns="0" tIns="0" rIns="0" bIns="0" rtlCol="0" anchor="ctr"/>
          <a:lstStyle/>
          <a:p>
            <a:pPr indent="0" marL="0">
              <a:buNone/>
            </a:pPr>
            <a:r>
              <a:rPr lang="en-US" sz="1700" b="1" spc="400" kern="0" dirty="0">
                <a:solidFill>
                  <a:srgbClr val="CADCFC"/>
                </a:solidFill>
                <a:latin typeface="Trebuchet MS" pitchFamily="34" charset="0"/>
                <a:ea typeface="Trebuchet MS" pitchFamily="34" charset="-122"/>
                <a:cs typeface="Trebuchet MS" pitchFamily="34" charset="-120"/>
              </a:rPr>
              <a:t>CONCLUSION</a:t>
            </a:r>
            <a:endParaRPr lang="en-US" sz="1700" dirty="0"/>
          </a:p>
        </p:txBody>
      </p:sp>
      <p:sp>
        <p:nvSpPr>
          <p:cNvPr id="4" name="Text 2"/>
          <p:cNvSpPr/>
          <p:nvPr/>
        </p:nvSpPr>
        <p:spPr>
          <a:xfrm>
            <a:off x="822960" y="123444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Takeaways</a:t>
            </a:r>
            <a:endParaRPr lang="en-US" sz="3600" dirty="0"/>
          </a:p>
        </p:txBody>
      </p:sp>
      <p:sp>
        <p:nvSpPr>
          <p:cNvPr id="5" name="Shape 3"/>
          <p:cNvSpPr/>
          <p:nvPr/>
        </p:nvSpPr>
        <p:spPr>
          <a:xfrm>
            <a:off x="822960" y="2377440"/>
            <a:ext cx="603504" cy="603504"/>
          </a:xfrm>
          <a:prstGeom prst="ellipse">
            <a:avLst/>
          </a:prstGeom>
          <a:solidFill>
            <a:srgbClr val="C0504D"/>
          </a:solidFill>
          <a:ln/>
        </p:spPr>
      </p:sp>
      <p:sp>
        <p:nvSpPr>
          <p:cNvPr id="6" name="Text 4"/>
          <p:cNvSpPr/>
          <p:nvPr/>
        </p:nvSpPr>
        <p:spPr>
          <a:xfrm>
            <a:off x="822960" y="2377440"/>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1</a:t>
            </a:r>
            <a:endParaRPr lang="en-US" sz="2400" dirty="0"/>
          </a:p>
        </p:txBody>
      </p:sp>
      <p:sp>
        <p:nvSpPr>
          <p:cNvPr id="7" name="Text 5"/>
          <p:cNvSpPr/>
          <p:nvPr/>
        </p:nvSpPr>
        <p:spPr>
          <a:xfrm>
            <a:off x="1645920" y="2194560"/>
            <a:ext cx="9692640" cy="960120"/>
          </a:xfrm>
          <a:prstGeom prst="rect">
            <a:avLst/>
          </a:prstGeom>
          <a:noFill/>
          <a:ln/>
        </p:spPr>
        <p:txBody>
          <a:bodyPr wrap="square" lIns="0" tIns="0" rIns="0" bIns="0" rtlCol="0" anchor="ctr"/>
          <a:lstStyle/>
          <a:p>
            <a:pPr indent="0" marL="0">
              <a:lnSpc>
                <a:spcPct val="103000"/>
              </a:lnSpc>
              <a:buNone/>
            </a:pPr>
            <a:r>
              <a:rPr lang="en-US" sz="2100" dirty="0">
                <a:solidFill>
                  <a:srgbClr val="FFFFFF"/>
                </a:solidFill>
                <a:latin typeface="Calibri" pitchFamily="34" charset="0"/>
                <a:ea typeface="Calibri" pitchFamily="34" charset="-122"/>
                <a:cs typeface="Calibri" pitchFamily="34" charset="-120"/>
              </a:rPr>
              <a:t>Inferring the mechanism of action from contractility signals can be framed as a data-driven classification problem.</a:t>
            </a:r>
            <a:endParaRPr lang="en-US" sz="2100" dirty="0"/>
          </a:p>
        </p:txBody>
      </p:sp>
      <p:sp>
        <p:nvSpPr>
          <p:cNvPr id="8" name="Shape 6"/>
          <p:cNvSpPr/>
          <p:nvPr/>
        </p:nvSpPr>
        <p:spPr>
          <a:xfrm>
            <a:off x="822960" y="3493008"/>
            <a:ext cx="603504" cy="603504"/>
          </a:xfrm>
          <a:prstGeom prst="ellipse">
            <a:avLst/>
          </a:prstGeom>
          <a:solidFill>
            <a:srgbClr val="C0504D"/>
          </a:solidFill>
          <a:ln/>
        </p:spPr>
      </p:sp>
      <p:sp>
        <p:nvSpPr>
          <p:cNvPr id="9" name="Text 7"/>
          <p:cNvSpPr/>
          <p:nvPr/>
        </p:nvSpPr>
        <p:spPr>
          <a:xfrm>
            <a:off x="822960" y="3493008"/>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2</a:t>
            </a:r>
            <a:endParaRPr lang="en-US" sz="2400" dirty="0"/>
          </a:p>
        </p:txBody>
      </p:sp>
      <p:sp>
        <p:nvSpPr>
          <p:cNvPr id="10" name="Text 8"/>
          <p:cNvSpPr/>
          <p:nvPr/>
        </p:nvSpPr>
        <p:spPr>
          <a:xfrm>
            <a:off x="1645920" y="3310128"/>
            <a:ext cx="9692640" cy="960120"/>
          </a:xfrm>
          <a:prstGeom prst="rect">
            <a:avLst/>
          </a:prstGeom>
          <a:noFill/>
          <a:ln/>
        </p:spPr>
        <p:txBody>
          <a:bodyPr wrap="square" lIns="0" tIns="0" rIns="0" bIns="0" rtlCol="0" anchor="ctr"/>
          <a:lstStyle/>
          <a:p>
            <a:pPr indent="0" marL="0">
              <a:lnSpc>
                <a:spcPct val="103000"/>
              </a:lnSpc>
              <a:buNone/>
            </a:pPr>
            <a:r>
              <a:rPr lang="en-US" sz="2100" dirty="0">
                <a:solidFill>
                  <a:srgbClr val="FFFFFF"/>
                </a:solidFill>
                <a:latin typeface="Calibri" pitchFamily="34" charset="0"/>
                <a:ea typeface="Calibri" pitchFamily="34" charset="-122"/>
                <a:cs typeface="Calibri" pitchFamily="34" charset="-120"/>
              </a:rPr>
              <a:t>Our hybrid CNN–Transformer outperforms classical machine learning and modern deep models, reaching 80.5% accuracy and 0.776 F1.</a:t>
            </a:r>
            <a:endParaRPr lang="en-US" sz="2100" dirty="0"/>
          </a:p>
        </p:txBody>
      </p:sp>
      <p:sp>
        <p:nvSpPr>
          <p:cNvPr id="11" name="Shape 9"/>
          <p:cNvSpPr/>
          <p:nvPr/>
        </p:nvSpPr>
        <p:spPr>
          <a:xfrm>
            <a:off x="822960" y="4608576"/>
            <a:ext cx="603504" cy="603504"/>
          </a:xfrm>
          <a:prstGeom prst="ellipse">
            <a:avLst/>
          </a:prstGeom>
          <a:solidFill>
            <a:srgbClr val="C0504D"/>
          </a:solidFill>
          <a:ln/>
        </p:spPr>
      </p:sp>
      <p:sp>
        <p:nvSpPr>
          <p:cNvPr id="12" name="Text 10"/>
          <p:cNvSpPr/>
          <p:nvPr/>
        </p:nvSpPr>
        <p:spPr>
          <a:xfrm>
            <a:off x="822960" y="4608576"/>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Trebuchet MS" pitchFamily="34" charset="0"/>
                <a:ea typeface="Trebuchet MS" pitchFamily="34" charset="-122"/>
                <a:cs typeface="Trebuchet MS" pitchFamily="34" charset="-120"/>
              </a:rPr>
              <a:t>3</a:t>
            </a:r>
            <a:endParaRPr lang="en-US" sz="2400" dirty="0"/>
          </a:p>
        </p:txBody>
      </p:sp>
      <p:sp>
        <p:nvSpPr>
          <p:cNvPr id="13" name="Text 11"/>
          <p:cNvSpPr/>
          <p:nvPr/>
        </p:nvSpPr>
        <p:spPr>
          <a:xfrm>
            <a:off x="1645920" y="4425696"/>
            <a:ext cx="9692640" cy="960120"/>
          </a:xfrm>
          <a:prstGeom prst="rect">
            <a:avLst/>
          </a:prstGeom>
          <a:noFill/>
          <a:ln/>
        </p:spPr>
        <p:txBody>
          <a:bodyPr wrap="square" lIns="0" tIns="0" rIns="0" bIns="0" rtlCol="0" anchor="ctr"/>
          <a:lstStyle/>
          <a:p>
            <a:pPr indent="0" marL="0">
              <a:lnSpc>
                <a:spcPct val="103000"/>
              </a:lnSpc>
              <a:buNone/>
            </a:pPr>
            <a:r>
              <a:rPr lang="en-US" sz="2100" dirty="0">
                <a:solidFill>
                  <a:srgbClr val="FFFFFF"/>
                </a:solidFill>
                <a:latin typeface="Calibri" pitchFamily="34" charset="0"/>
                <a:ea typeface="Calibri" pitchFamily="34" charset="-122"/>
                <a:cs typeface="Calibri" pitchFamily="34" charset="-120"/>
              </a:rPr>
              <a:t>The approach reduces manual work and improves reproducibility, and it can help accelerate preclinical drug discovery.</a:t>
            </a:r>
            <a:endParaRPr lang="en-US" sz="2100" dirty="0"/>
          </a:p>
        </p:txBody>
      </p:sp>
      <p:sp>
        <p:nvSpPr>
          <p:cNvPr id="14" name="Shape 12"/>
          <p:cNvSpPr/>
          <p:nvPr/>
        </p:nvSpPr>
        <p:spPr>
          <a:xfrm>
            <a:off x="822960" y="5806440"/>
            <a:ext cx="10515600" cy="658368"/>
          </a:xfrm>
          <a:prstGeom prst="roundRect">
            <a:avLst>
              <a:gd name="adj" fmla="val 11111"/>
            </a:avLst>
          </a:prstGeom>
          <a:solidFill>
            <a:srgbClr val="1E456F"/>
          </a:solidFill>
          <a:ln/>
        </p:spPr>
      </p:sp>
      <p:sp>
        <p:nvSpPr>
          <p:cNvPr id="15" name="Text 13"/>
          <p:cNvSpPr/>
          <p:nvPr/>
        </p:nvSpPr>
        <p:spPr>
          <a:xfrm>
            <a:off x="1097280" y="5806440"/>
            <a:ext cx="10058400" cy="658368"/>
          </a:xfrm>
          <a:prstGeom prst="rect">
            <a:avLst/>
          </a:prstGeom>
          <a:noFill/>
          <a:ln/>
        </p:spPr>
        <p:txBody>
          <a:bodyPr wrap="square" lIns="0" tIns="0" rIns="0" bIns="0" rtlCol="0" anchor="ctr"/>
          <a:lstStyle/>
          <a:p>
            <a:pPr indent="0" marL="0">
              <a:buNone/>
            </a:pPr>
            <a:r>
              <a:rPr lang="en-US" sz="1500" b="1" dirty="0">
                <a:solidFill>
                  <a:srgbClr val="CADCFC"/>
                </a:solidFill>
                <a:latin typeface="Calibri" pitchFamily="34" charset="0"/>
                <a:ea typeface="Calibri" pitchFamily="34" charset="-122"/>
                <a:cs typeface="Calibri" pitchFamily="34" charset="-120"/>
              </a:rPr>
              <a:t>Dataset:  </a:t>
            </a:r>
            <a:pPr indent="0" marL="0">
              <a:buNone/>
            </a:pPr>
            <a:r>
              <a:rPr lang="en-US" sz="1500" dirty="0">
                <a:solidFill>
                  <a:srgbClr val="FFFFFF"/>
                </a:solidFill>
                <a:latin typeface="Calibri" pitchFamily="34" charset="0"/>
                <a:ea typeface="Calibri" pitchFamily="34" charset="-122"/>
                <a:cs typeface="Calibri" pitchFamily="34" charset="-120"/>
              </a:rPr>
              <a:t>huggingface.co/datasets/pharmaiktu/contractility-signals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385C"/>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6385C"/>
          </a:solidFill>
          <a:ln/>
        </p:spPr>
      </p:sp>
      <p:sp>
        <p:nvSpPr>
          <p:cNvPr id="3" name="Text 1"/>
          <p:cNvSpPr/>
          <p:nvPr/>
        </p:nvSpPr>
        <p:spPr>
          <a:xfrm>
            <a:off x="822960" y="640080"/>
            <a:ext cx="10515600" cy="914400"/>
          </a:xfrm>
          <a:prstGeom prst="rect">
            <a:avLst/>
          </a:prstGeom>
          <a:noFill/>
          <a:ln/>
        </p:spPr>
        <p:txBody>
          <a:bodyPr wrap="square" lIns="0" tIns="0" rIns="0" bIns="0" rtlCol="0" anchor="ctr"/>
          <a:lstStyle/>
          <a:p>
            <a:pPr indent="0" marL="0">
              <a:buNone/>
            </a:pPr>
            <a:r>
              <a:rPr lang="en-US" sz="4200" b="1" dirty="0">
                <a:solidFill>
                  <a:srgbClr val="FFFFFF"/>
                </a:solidFill>
                <a:latin typeface="Trebuchet MS" pitchFamily="34" charset="0"/>
                <a:ea typeface="Trebuchet MS" pitchFamily="34" charset="-122"/>
                <a:cs typeface="Trebuchet MS" pitchFamily="34" charset="-120"/>
              </a:rPr>
              <a:t>Thank you</a:t>
            </a:r>
            <a:endParaRPr lang="en-US" sz="4200" dirty="0"/>
          </a:p>
        </p:txBody>
      </p:sp>
      <p:sp>
        <p:nvSpPr>
          <p:cNvPr id="4" name="Text 2"/>
          <p:cNvSpPr/>
          <p:nvPr/>
        </p:nvSpPr>
        <p:spPr>
          <a:xfrm>
            <a:off x="822960" y="1554480"/>
            <a:ext cx="10515600" cy="457200"/>
          </a:xfrm>
          <a:prstGeom prst="rect">
            <a:avLst/>
          </a:prstGeom>
          <a:noFill/>
          <a:ln/>
        </p:spPr>
        <p:txBody>
          <a:bodyPr wrap="square" lIns="0" tIns="0" rIns="0" bIns="0" rtlCol="0" anchor="ctr"/>
          <a:lstStyle/>
          <a:p>
            <a:pPr indent="0" marL="0">
              <a:buNone/>
            </a:pPr>
            <a:r>
              <a:rPr lang="en-US" sz="2000" i="1" dirty="0">
                <a:solidFill>
                  <a:srgbClr val="CADCFC"/>
                </a:solidFill>
                <a:latin typeface="Calibri" pitchFamily="34" charset="0"/>
                <a:ea typeface="Calibri" pitchFamily="34" charset="-122"/>
                <a:cs typeface="Calibri" pitchFamily="34" charset="-120"/>
              </a:rPr>
              <a:t>Questions &amp; discussion welcome</a:t>
            </a:r>
            <a:endParaRPr lang="en-US" sz="2000" dirty="0"/>
          </a:p>
        </p:txBody>
      </p:sp>
      <p:sp>
        <p:nvSpPr>
          <p:cNvPr id="5" name="Text 3"/>
          <p:cNvSpPr/>
          <p:nvPr/>
        </p:nvSpPr>
        <p:spPr>
          <a:xfrm>
            <a:off x="822960" y="2286000"/>
            <a:ext cx="10515600" cy="365760"/>
          </a:xfrm>
          <a:prstGeom prst="rect">
            <a:avLst/>
          </a:prstGeom>
          <a:noFill/>
          <a:ln/>
        </p:spPr>
        <p:txBody>
          <a:bodyPr wrap="square" lIns="0" tIns="0" rIns="0" bIns="0" rtlCol="0" anchor="ctr"/>
          <a:lstStyle/>
          <a:p>
            <a:pPr indent="0" marL="0">
              <a:buNone/>
            </a:pPr>
            <a:r>
              <a:rPr lang="en-US" sz="1400" b="1" spc="200" kern="0" dirty="0">
                <a:solidFill>
                  <a:srgbClr val="6F9BD1"/>
                </a:solidFill>
                <a:latin typeface="Trebuchet MS" pitchFamily="34" charset="0"/>
                <a:ea typeface="Trebuchet MS" pitchFamily="34" charset="-122"/>
                <a:cs typeface="Trebuchet MS" pitchFamily="34" charset="-120"/>
              </a:rPr>
              <a:t>WITH THANKS TO OUR INSTITUTIONS AND FUNDERS</a:t>
            </a:r>
            <a:endParaRPr lang="en-US" sz="1400" dirty="0"/>
          </a:p>
        </p:txBody>
      </p:sp>
      <p:sp>
        <p:nvSpPr>
          <p:cNvPr id="6" name="Shape 4"/>
          <p:cNvSpPr/>
          <p:nvPr/>
        </p:nvSpPr>
        <p:spPr>
          <a:xfrm>
            <a:off x="822960" y="2788920"/>
            <a:ext cx="2377440" cy="1874520"/>
          </a:xfrm>
          <a:prstGeom prst="roundRect">
            <a:avLst>
              <a:gd name="adj" fmla="val 4878"/>
            </a:avLst>
          </a:prstGeom>
          <a:solidFill>
            <a:srgbClr val="FFFFFF"/>
          </a:solidFill>
          <a:ln/>
          <a:effectLst>
            <a:outerShdw sx="100000" sy="100000" kx="0" ky="0" algn="bl" rotWithShape="0" blurRad="88900" dist="38100" dir="8100000">
              <a:srgbClr val="8AA0B5">
                <a:alpha val="28000"/>
              </a:srgbClr>
            </a:outerShdw>
          </a:effectLst>
        </p:spPr>
      </p:sp>
      <p:sp>
        <p:nvSpPr>
          <p:cNvPr id="7" name="Shape 5"/>
          <p:cNvSpPr/>
          <p:nvPr/>
        </p:nvSpPr>
        <p:spPr>
          <a:xfrm>
            <a:off x="3474720" y="2788920"/>
            <a:ext cx="2377440" cy="1874520"/>
          </a:xfrm>
          <a:prstGeom prst="roundRect">
            <a:avLst>
              <a:gd name="adj" fmla="val 4878"/>
            </a:avLst>
          </a:prstGeom>
          <a:solidFill>
            <a:srgbClr val="FFFFFF"/>
          </a:solidFill>
          <a:ln/>
          <a:effectLst>
            <a:outerShdw sx="100000" sy="100000" kx="0" ky="0" algn="bl" rotWithShape="0" blurRad="88900" dist="38100" dir="8100000">
              <a:srgbClr val="8AA0B5">
                <a:alpha val="28000"/>
              </a:srgbClr>
            </a:outerShdw>
          </a:effectLst>
        </p:spPr>
      </p:sp>
      <p:sp>
        <p:nvSpPr>
          <p:cNvPr id="8" name="Shape 6"/>
          <p:cNvSpPr/>
          <p:nvPr/>
        </p:nvSpPr>
        <p:spPr>
          <a:xfrm>
            <a:off x="6126480" y="2788920"/>
            <a:ext cx="2377440" cy="1874520"/>
          </a:xfrm>
          <a:prstGeom prst="roundRect">
            <a:avLst>
              <a:gd name="adj" fmla="val 4878"/>
            </a:avLst>
          </a:prstGeom>
          <a:solidFill>
            <a:srgbClr val="FFFFFF"/>
          </a:solidFill>
          <a:ln/>
          <a:effectLst>
            <a:outerShdw sx="100000" sy="100000" kx="0" ky="0" algn="bl" rotWithShape="0" blurRad="88900" dist="38100" dir="8100000">
              <a:srgbClr val="8AA0B5">
                <a:alpha val="28000"/>
              </a:srgbClr>
            </a:outerShdw>
          </a:effectLst>
        </p:spPr>
      </p:sp>
      <p:sp>
        <p:nvSpPr>
          <p:cNvPr id="9" name="Shape 7"/>
          <p:cNvSpPr/>
          <p:nvPr/>
        </p:nvSpPr>
        <p:spPr>
          <a:xfrm>
            <a:off x="8778240" y="2788920"/>
            <a:ext cx="2377440" cy="1874520"/>
          </a:xfrm>
          <a:prstGeom prst="roundRect">
            <a:avLst>
              <a:gd name="adj" fmla="val 4878"/>
            </a:avLst>
          </a:prstGeom>
          <a:solidFill>
            <a:srgbClr val="FFFFFF"/>
          </a:solidFill>
          <a:ln/>
          <a:effectLst>
            <a:outerShdw sx="100000" sy="100000" kx="0" ky="0" algn="bl" rotWithShape="0" blurRad="88900" dist="38100" dir="8100000">
              <a:srgbClr val="8AA0B5">
                <a:alpha val="28000"/>
              </a:srgbClr>
            </a:outerShdw>
          </a:effectLst>
        </p:spPr>
      </p:sp>
      <p:sp>
        <p:nvSpPr>
          <p:cNvPr id="10" name="Text 8"/>
          <p:cNvSpPr/>
          <p:nvPr/>
        </p:nvSpPr>
        <p:spPr>
          <a:xfrm>
            <a:off x="960120" y="3063240"/>
            <a:ext cx="2103120" cy="1005840"/>
          </a:xfrm>
          <a:prstGeom prst="rect">
            <a:avLst/>
          </a:prstGeom>
          <a:noFill/>
          <a:ln/>
        </p:spPr>
        <p:txBody>
          <a:bodyPr wrap="square" lIns="0" tIns="0" rIns="0" bIns="0" rtlCol="0" anchor="ctr"/>
          <a:lstStyle/>
          <a:p>
            <a:pPr algn="ctr" indent="0" marL="0">
              <a:lnSpc>
                <a:spcPct val="102000"/>
              </a:lnSpc>
              <a:buNone/>
            </a:pPr>
            <a:r>
              <a:rPr lang="en-US" sz="1700" b="1" dirty="0">
                <a:solidFill>
                  <a:srgbClr val="16385C"/>
                </a:solidFill>
                <a:latin typeface="Trebuchet MS" pitchFamily="34" charset="0"/>
                <a:ea typeface="Trebuchet MS" pitchFamily="34" charset="-122"/>
                <a:cs typeface="Trebuchet MS" pitchFamily="34" charset="-120"/>
              </a:rPr>
              <a:t>Karadeniz Technical University</a:t>
            </a:r>
            <a:endParaRPr lang="en-US" sz="1700" dirty="0"/>
          </a:p>
        </p:txBody>
      </p:sp>
      <p:sp>
        <p:nvSpPr>
          <p:cNvPr id="11" name="Text 9"/>
          <p:cNvSpPr/>
          <p:nvPr/>
        </p:nvSpPr>
        <p:spPr>
          <a:xfrm>
            <a:off x="960120" y="4206240"/>
            <a:ext cx="2103120" cy="320040"/>
          </a:xfrm>
          <a:prstGeom prst="rect">
            <a:avLst/>
          </a:prstGeom>
          <a:noFill/>
          <a:ln/>
        </p:spPr>
        <p:txBody>
          <a:bodyPr wrap="square" lIns="0" tIns="0" rIns="0" bIns="0" rtlCol="0" anchor="ctr"/>
          <a:lstStyle/>
          <a:p>
            <a:pPr algn="ctr" indent="0" marL="0">
              <a:buNone/>
            </a:pPr>
            <a:r>
              <a:rPr lang="en-US" sz="1300" dirty="0">
                <a:solidFill>
                  <a:srgbClr val="8A97A5"/>
                </a:solidFill>
                <a:latin typeface="Calibri" pitchFamily="34" charset="0"/>
                <a:ea typeface="Calibri" pitchFamily="34" charset="-122"/>
                <a:cs typeface="Calibri" pitchFamily="34" charset="-120"/>
              </a:rPr>
              <a:t>Trabzon, Türkiye</a:t>
            </a:r>
            <a:endParaRPr lang="en-US" sz="1300" dirty="0"/>
          </a:p>
        </p:txBody>
      </p:sp>
      <p:sp>
        <p:nvSpPr>
          <p:cNvPr id="12" name="Text 10"/>
          <p:cNvSpPr/>
          <p:nvPr/>
        </p:nvSpPr>
        <p:spPr>
          <a:xfrm>
            <a:off x="3611880" y="3063240"/>
            <a:ext cx="2103120" cy="1005840"/>
          </a:xfrm>
          <a:prstGeom prst="rect">
            <a:avLst/>
          </a:prstGeom>
          <a:noFill/>
          <a:ln/>
        </p:spPr>
        <p:txBody>
          <a:bodyPr wrap="square" lIns="0" tIns="0" rIns="0" bIns="0" rtlCol="0" anchor="ctr"/>
          <a:lstStyle/>
          <a:p>
            <a:pPr algn="ctr" indent="0" marL="0">
              <a:buNone/>
            </a:pPr>
            <a:r>
              <a:rPr lang="en-US" sz="1700" b="1" dirty="0">
                <a:solidFill>
                  <a:srgbClr val="16385C"/>
                </a:solidFill>
                <a:latin typeface="Trebuchet MS" pitchFamily="34" charset="0"/>
                <a:ea typeface="Trebuchet MS" pitchFamily="34" charset="-122"/>
                <a:cs typeface="Trebuchet MS" pitchFamily="34" charset="-120"/>
              </a:rPr>
              <a:t>Trabzon University</a:t>
            </a:r>
            <a:endParaRPr lang="en-US" sz="1700" dirty="0"/>
          </a:p>
        </p:txBody>
      </p:sp>
      <p:sp>
        <p:nvSpPr>
          <p:cNvPr id="13" name="Text 11"/>
          <p:cNvSpPr/>
          <p:nvPr/>
        </p:nvSpPr>
        <p:spPr>
          <a:xfrm>
            <a:off x="3611880" y="4206240"/>
            <a:ext cx="2103120" cy="320040"/>
          </a:xfrm>
          <a:prstGeom prst="rect">
            <a:avLst/>
          </a:prstGeom>
          <a:noFill/>
          <a:ln/>
        </p:spPr>
        <p:txBody>
          <a:bodyPr wrap="square" lIns="0" tIns="0" rIns="0" bIns="0" rtlCol="0" anchor="ctr"/>
          <a:lstStyle/>
          <a:p>
            <a:pPr algn="ctr" indent="0" marL="0">
              <a:buNone/>
            </a:pPr>
            <a:r>
              <a:rPr lang="en-US" sz="1300" dirty="0">
                <a:solidFill>
                  <a:srgbClr val="8A97A5"/>
                </a:solidFill>
                <a:latin typeface="Calibri" pitchFamily="34" charset="0"/>
                <a:ea typeface="Calibri" pitchFamily="34" charset="-122"/>
                <a:cs typeface="Calibri" pitchFamily="34" charset="-120"/>
              </a:rPr>
              <a:t>Trabzon, Türkiye</a:t>
            </a:r>
            <a:endParaRPr lang="en-US" sz="1300" dirty="0"/>
          </a:p>
        </p:txBody>
      </p:sp>
      <p:pic>
        <p:nvPicPr>
          <p:cNvPr id="14" name="Image 0" descr="/sessions/pensive-beautiful-ramanujan/mnt/outputs/assets/logo_tubitak.png">    </p:cNvPr>
          <p:cNvPicPr>
            <a:picLocks noChangeAspect="1"/>
          </p:cNvPicPr>
          <p:nvPr/>
        </p:nvPicPr>
        <p:blipFill>
          <a:blip r:embed="rId1"/>
          <a:srcRect l="0" r="0" t="0" b="0"/>
          <a:stretch/>
        </p:blipFill>
        <p:spPr>
          <a:xfrm>
            <a:off x="6400800" y="2953512"/>
            <a:ext cx="1828800" cy="1051560"/>
          </a:xfrm>
          <a:prstGeom prst="rect">
            <a:avLst/>
          </a:prstGeom>
        </p:spPr>
      </p:pic>
      <p:sp>
        <p:nvSpPr>
          <p:cNvPr id="15" name="Text 12"/>
          <p:cNvSpPr/>
          <p:nvPr/>
        </p:nvSpPr>
        <p:spPr>
          <a:xfrm>
            <a:off x="6263640" y="4160520"/>
            <a:ext cx="2103120" cy="320040"/>
          </a:xfrm>
          <a:prstGeom prst="rect">
            <a:avLst/>
          </a:prstGeom>
          <a:noFill/>
          <a:ln/>
        </p:spPr>
        <p:txBody>
          <a:bodyPr wrap="square" lIns="0" tIns="0" rIns="0" bIns="0" rtlCol="0" anchor="ctr"/>
          <a:lstStyle/>
          <a:p>
            <a:pPr algn="ctr" indent="0" marL="0">
              <a:buNone/>
            </a:pPr>
            <a:r>
              <a:rPr lang="en-US" sz="1300" dirty="0">
                <a:solidFill>
                  <a:srgbClr val="8A97A5"/>
                </a:solidFill>
                <a:latin typeface="Calibri" pitchFamily="34" charset="0"/>
                <a:ea typeface="Calibri" pitchFamily="34" charset="-122"/>
                <a:cs typeface="Calibri" pitchFamily="34" charset="-120"/>
              </a:rPr>
              <a:t>Project 125E093</a:t>
            </a:r>
            <a:endParaRPr lang="en-US" sz="1300" dirty="0"/>
          </a:p>
        </p:txBody>
      </p:sp>
      <p:pic>
        <p:nvPicPr>
          <p:cNvPr id="16" name="Image 1" descr="/sessions/pensive-beautiful-ramanujan/mnt/outputs/assets/logo_tuseb.png">    </p:cNvPr>
          <p:cNvPicPr>
            <a:picLocks noChangeAspect="1"/>
          </p:cNvPicPr>
          <p:nvPr/>
        </p:nvPicPr>
        <p:blipFill>
          <a:blip r:embed="rId2"/>
          <a:srcRect l="0" r="0" t="0" b="0"/>
          <a:stretch/>
        </p:blipFill>
        <p:spPr>
          <a:xfrm>
            <a:off x="9189720" y="2935224"/>
            <a:ext cx="1554480" cy="1097280"/>
          </a:xfrm>
          <a:prstGeom prst="rect">
            <a:avLst/>
          </a:prstGeom>
        </p:spPr>
      </p:pic>
      <p:sp>
        <p:nvSpPr>
          <p:cNvPr id="17" name="Text 13"/>
          <p:cNvSpPr/>
          <p:nvPr/>
        </p:nvSpPr>
        <p:spPr>
          <a:xfrm>
            <a:off x="8915400" y="4160520"/>
            <a:ext cx="2103120" cy="320040"/>
          </a:xfrm>
          <a:prstGeom prst="rect">
            <a:avLst/>
          </a:prstGeom>
          <a:noFill/>
          <a:ln/>
        </p:spPr>
        <p:txBody>
          <a:bodyPr wrap="square" lIns="0" tIns="0" rIns="0" bIns="0" rtlCol="0" anchor="ctr"/>
          <a:lstStyle/>
          <a:p>
            <a:pPr algn="ctr" indent="0" marL="0">
              <a:buNone/>
            </a:pPr>
            <a:r>
              <a:rPr lang="en-US" sz="1300" dirty="0">
                <a:solidFill>
                  <a:srgbClr val="8A97A5"/>
                </a:solidFill>
                <a:latin typeface="Calibri" pitchFamily="34" charset="0"/>
                <a:ea typeface="Calibri" pitchFamily="34" charset="-122"/>
                <a:cs typeface="Calibri" pitchFamily="34" charset="-120"/>
              </a:rPr>
              <a:t>Project 35726</a:t>
            </a:r>
            <a:endParaRPr lang="en-US" sz="1300" dirty="0"/>
          </a:p>
        </p:txBody>
      </p:sp>
      <p:sp>
        <p:nvSpPr>
          <p:cNvPr id="18" name="Text 14"/>
          <p:cNvSpPr/>
          <p:nvPr/>
        </p:nvSpPr>
        <p:spPr>
          <a:xfrm>
            <a:off x="822960" y="4983480"/>
            <a:ext cx="10515600" cy="914400"/>
          </a:xfrm>
          <a:prstGeom prst="rect">
            <a:avLst/>
          </a:prstGeom>
          <a:noFill/>
          <a:ln/>
        </p:spPr>
        <p:txBody>
          <a:bodyPr wrap="square" lIns="0" tIns="0" rIns="0" bIns="0" rtlCol="0" anchor="ctr"/>
          <a:lstStyle/>
          <a:p>
            <a:pPr indent="0" marL="0">
              <a:lnSpc>
                <a:spcPct val="115000"/>
              </a:lnSpc>
              <a:spcAft>
                <a:spcPts val="800"/>
              </a:spcAft>
              <a:buNone/>
            </a:pPr>
            <a:r>
              <a:rPr lang="en-US" sz="1500" dirty="0">
                <a:solidFill>
                  <a:srgbClr val="CADCFC"/>
                </a:solidFill>
                <a:latin typeface="Calibri" pitchFamily="34" charset="0"/>
                <a:ea typeface="Calibri" pitchFamily="34" charset="-122"/>
                <a:cs typeface="Calibri" pitchFamily="34" charset="-120"/>
              </a:rPr>
              <a:t>Funding:  TÜSEB (Project 35726)   ·   TÜBİTAK (Project 125E093)</a:t>
            </a:r>
            <a:endParaRPr lang="en-US" sz="1500" dirty="0"/>
          </a:p>
          <a:p>
            <a:pPr indent="0" marL="0">
              <a:lnSpc>
                <a:spcPct val="115000"/>
              </a:lnSpc>
              <a:spcAft>
                <a:spcPts val="800"/>
              </a:spcAft>
              <a:buNone/>
            </a:pPr>
            <a:r>
              <a:rPr lang="en-US" sz="1500" dirty="0">
                <a:solidFill>
                  <a:srgbClr val="FFFFFF"/>
                </a:solidFill>
                <a:latin typeface="Calibri" pitchFamily="34" charset="0"/>
                <a:ea typeface="Calibri" pitchFamily="34" charset="-122"/>
                <a:cs typeface="Calibri" pitchFamily="34" charset="-120"/>
              </a:rPr>
              <a:t>Dataset:  huggingface.co/datasets/pharmaiktu/contractility-signals</a:t>
            </a:r>
            <a:endParaRPr lang="en-US" sz="1500" dirty="0"/>
          </a:p>
        </p:txBody>
      </p:sp>
      <p:sp>
        <p:nvSpPr>
          <p:cNvPr id="19" name="Text 15"/>
          <p:cNvSpPr/>
          <p:nvPr/>
        </p:nvSpPr>
        <p:spPr>
          <a:xfrm>
            <a:off x="822960" y="6080760"/>
            <a:ext cx="10515600" cy="365760"/>
          </a:xfrm>
          <a:prstGeom prst="rect">
            <a:avLst/>
          </a:prstGeom>
          <a:noFill/>
          <a:ln/>
        </p:spPr>
        <p:txBody>
          <a:bodyPr wrap="square" lIns="0" tIns="0" rIns="0" bIns="0" rtlCol="0" anchor="ctr"/>
          <a:lstStyle/>
          <a:p>
            <a:pPr indent="0" marL="0">
              <a:buNone/>
            </a:pPr>
            <a:r>
              <a:rPr lang="en-US" sz="1350" i="1" dirty="0">
                <a:solidFill>
                  <a:srgbClr val="6F9BD1"/>
                </a:solidFill>
                <a:latin typeface="Calibri" pitchFamily="34" charset="0"/>
                <a:ea typeface="Calibri" pitchFamily="34" charset="-122"/>
                <a:cs typeface="Calibri" pitchFamily="34" charset="-120"/>
              </a:rPr>
              <a:t>PharmAI · Karadeniz Technical University &amp; Trabzon University</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